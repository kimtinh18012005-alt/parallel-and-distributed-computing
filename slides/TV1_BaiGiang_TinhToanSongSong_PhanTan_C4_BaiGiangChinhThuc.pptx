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0081260" cy="755904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[GIÁO ÁN GIẢNG DẠY CỦA GIẢNG VIÊN / THUYẾT TRÌNH VIÊN]:</a:t>
            </a:r>
          </a:p>
          <a:p>
            <a:r>
              <a:t>Chào cả lớp. Hôm nay chúng ta bước vào một trong những chương quan trọng và thực chiến nhất của học phần Tính toán song song và phân tán: Chương 4 - Tính toán bất đồng bộ trong Python. Trước khi học cú pháp của bất kỳ thư viện nào như asyncio, threadpool hay processpool, bài học mở đầu hôm nay sẽ giúp các em xây dựng một nền tảng tư duy vững chắc, phân biệt rạch ròi bản chất vận hành ở tầng hệ điều hành để không bao giờ bị nhầm lẫn khi thiết kế hệ thống.</a:t>
            </a:r>
          </a:p>
          <a:p/>
          <a:p>
            <a:r>
              <a:t>[CÂU HỎI TƯƠNG TÁC VỚI SINH VIÊN &amp; CHUYỂN TIẾP CHỦ ĐỀ]:</a:t>
            </a:r>
          </a:p>
          <a:p>
            <a:r>
              <a:t>➔ "Tại sao trong thời đại CPU có tới hàng chục nhân xử lý, các chương trình phần mềm của chúng ta vẫn thường xuyên bị nghẽn và phản hồi chậm chạp?"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[GIÁO ÁN GIẢNG DẠY CỦA GIẢNG VIÊN / THUYẾT TRÌNH VIÊN]:</a:t>
            </a:r>
          </a:p>
          <a:p>
            <a:r>
              <a:t>Thầy/cô muốn nhấn mạnh với các em: Lập trình viên giỏi khác lập trình viên trung bình ở chỗ họ hiểu điều gì đang thực sự xảy ra bên dưới kernel khi một dòng lệnh được thực thi. Sau bài học này, các em sẽ tự tin trả lời bất kỳ câu hỏi phỏng vấn nào về Concurrency và Async.</a:t>
            </a:r>
          </a:p>
          <a:p/>
          <a:p>
            <a:r>
              <a:t>[CÂU HỎI TƯƠNG TÁC VỚI SINH VIÊN &amp; CHUYỂN TIẾP CHỦ ĐỀ]:</a:t>
            </a:r>
          </a:p>
          <a:p>
            <a:r>
              <a:t>➔ "Để bắt đầu, chúng ta hãy cùng khảo sát một bài toán thực tế mà bất kỳ kỹ sư phần mềm nào cũng sẽ gặp phải: Bài toán quan trắc trạm cảm biến môi trường!"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[GIÁO ÁN GIẢNG DẠY CỦA GIẢNG VIÊN / THUYẾT TRÌNH VIÊN]:</a:t>
            </a:r>
          </a:p>
          <a:p>
            <a:r>
              <a:t>Hãy nhìn lên biểu đồ timeline trên màn hình: Trong tổng số 1.20 giây xử lý, các khối màu xanh dương biểu thị CPU tính toán chỉ chiếm vỏn vẹn 0.24 giây. Còn lại tới 0.96 giây (chiếm đến 80% thời gian - các khối màu cam gạch chéo), nhân CPU hoàn toàn không làm gì cả, chỉ ngồi chờ gói tin từ mạng internet quay về. Đây chính là hiện tượng 'CPU đói dữ liệu'.</a:t>
            </a:r>
          </a:p>
          <a:p/>
          <a:p>
            <a:r>
              <a:t>[CÂU HỎI TƯƠNG TÁC VỚI SINH VIÊN &amp; CHUYỂN TIẾP CHỦ ĐỀ]:</a:t>
            </a:r>
          </a:p>
          <a:p>
            <a:r>
              <a:t>➔ "Tại sao một cỗ máy tính hiện đại có xung nhịp hàng tỷ chu kỳ mỗi giây lại chấp nhận ngồi yên chờ đợi như vậy? Hãy nhìn vào kiến trúc Call Stack và cơ chế thực thi tuần tự!"</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[GIÁO ÁN GIẢNG DẠY CỦA GIẢNG VIÊN / THUYẾT TRÌNH VIÊN]:</a:t>
            </a:r>
          </a:p>
          <a:p>
            <a:r>
              <a:t>Số liệu 3 tỷ chu kỳ lãng phí là một con số giật mình. Nếu chúng ta có thể tận dụng khoảng thời gian 80% nhàn rỗi này để CPU chuyển sang xử lý phân tích dữ liệu cho trạm khác thì hiệu năng hệ thống sẽ tăng vọt mà không cần tốn thêm một đồng nâng cấp phần cứng nào.</a:t>
            </a:r>
          </a:p>
          <a:p/>
          <a:p>
            <a:r>
              <a:t>[CÂU HỎI TƯƠNG TÁC VỚI SINH VIÊN &amp; CHUYỂN TIẾP CHỦ ĐỀ]:</a:t>
            </a:r>
          </a:p>
          <a:p>
            <a:r>
              <a:t>➔ "Ý tưởng này dẫn chúng ta đến một khái niệm kinh điển trong khoa học máy tính: Tính toán đồng thời (Concurrency)!"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[GIÁO ÁN GIẢNG DẠY CỦA GIẢNG VIÊN / THUYẾT TRÌNH VIÊN]:</a:t>
            </a:r>
          </a:p>
          <a:p>
            <a:r>
              <a:t>Thầy/cô muốn các em ghi nhớ thật kỹ: Concurrency KHÔNG ĐỒNG NGHĨA với việc chạy cùng một lúc. Nó là nghệ thuật sắp xếp công việc để lấp đầy những khoảng thời gian nhàn rỗi chết. Concurrency hoàn toàn có thể chạy mượt mà trên một chiếc máy tính cổ lỗ sĩ chỉ có 1 nhân CPU duy nhất.</a:t>
            </a:r>
          </a:p>
          <a:p/>
          <a:p>
            <a:r>
              <a:t>[CÂU HỎI TƯƠNG TÁC VỚI SINH VIÊN &amp; CHUYỂN TIẾP CHỦ ĐỀ]:</a:t>
            </a:r>
          </a:p>
          <a:p>
            <a:r>
              <a:t>➔ "Vậy khi máy tính của chúng ta có nhiều nhân CPU vật lý thực sự, điều gì sẽ xảy ra? Đó chính là Tính toán song song (Parallelism)!"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[GIÁO ÁN GIẢNG DẠY CỦA GIẢNG VIÊN / THUYẾT TRÌNH VIÊN]:</a:t>
            </a:r>
          </a:p>
          <a:p>
            <a:r>
              <a:t>Quan sát 3 biểu đồ timeline trên màn hình: Ở chế độ 2 (Concurrency trên 1 Core), tổng thời gian có thể tương đương hoặc chỉ rút ngắn nếu có I/O overlap, nhưng hệ thống vẫn phản hồi nhịp nhàng. Trong khi ở chế độ 3 (Parallelism trên 4 Cores), tổng thời gian được co ngắn lại tới 4 lần vì 4 nhân vật lý cùng gánh tải độc lập tại thời điểm t0.</a:t>
            </a:r>
          </a:p>
          <a:p/>
          <a:p>
            <a:r>
              <a:t>[CÂU HỎI TƯƠNG TÁC VỚI SINH VIÊN &amp; CHUYỂN TIẾP CHỦ ĐỀ]:</a:t>
            </a:r>
          </a:p>
          <a:p>
            <a:r>
              <a:t>➔ "Trong các hệ thống thực tế quy mô lớn, mối quan hệ giữa Concurrency, Parallelism và Hệ phân tán được phân tầng như thế nào?"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[GIÁO ÁN GIẢNG DẠY CỦA GIẢNG VIÊN / THUYẾT TRÌNH VIÊN]:</a:t>
            </a:r>
          </a:p>
          <a:p>
            <a:r>
              <a:t>Một sai lầm rất phổ biến của sinh viên khi làm đồ án là gọi một chương trình Python dùng asyncio trên laptop của mình là 'hệ phân tán'. Hãy nhớ: Khi nào hệ thống của các em chạy trên nhiều máy chủ độc lập không chung thanh RAM và phải giao tiếp qua mạng internet thì mới là hệ phân tán.</a:t>
            </a:r>
          </a:p>
          <a:p/>
          <a:p>
            <a:r>
              <a:t>[CÂU HỎI TƯƠNG TÁC VỚI SINH VIÊN &amp; CHUYỂN TIẾP CHỦ ĐỀ]:</a:t>
            </a:r>
          </a:p>
          <a:p>
            <a:r>
              <a:t>➔ "Bây giờ, chúng ta bước sang cặp khái niệm thường xuyên gây tranh cãi và nhầm lẫn nhất: Synchronous/Asynchronous và Blocking/Non-blocking!"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[GIÁO ÁN GIẢNG DẠY CỦA GIẢNG VIÊN / THUYẾT TRÌNH VIÊN]:</a:t>
            </a:r>
          </a:p>
          <a:p>
            <a:r>
              <a:t>Các em hãy đặc biệt chú ý góc phần tư màu đỏ bên dưới: ASYNC - BLOCKING. Đây chính là 'bẫy tử thần' khiến rất nhiều lập trình viên dở khóc dở cười: Họ viết hàm với từ khóa async def nhưng bên trong lại gọi time.sleep() hoặc thư viện requests. Hậu quả là toàn bộ hệ thống bị đóng băng mà họ không hiểu vì sao.</a:t>
            </a:r>
          </a:p>
          <a:p/>
          <a:p>
            <a:r>
              <a:t>[CÂU HỎI TƯƠNG TÁC VỚI SINH VIÊN &amp; CHUYỂN TIẾP CHỦ ĐỀ]:</a:t>
            </a:r>
          </a:p>
          <a:p>
            <a:r>
              <a:t>➔ "Vậy lệnh 'await' trong Python thực chất hoạt động như thế nào bên dưới nắp ca-pô?"</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[GIÁO ÁN GIẢNG DẠY CỦA GIẢNG VIÊN / THUYẾT TRÌNH VIÊN]:</a:t>
            </a:r>
          </a:p>
          <a:p>
            <a:r>
              <a:t>Thầy/cô muốn các em khắc cốt ghi tâm: Từ khóa 'await' không có nghĩa là ngồi đợi thụ động. 'await' là lời đề nghị lịch sự: 'Tôi đang đợi dữ liệu mạng, nhường sân khấu lại cho Event Loop để bạn khác chạy đi, khi nào có hàng thì gọi tôi'.</a:t>
            </a:r>
          </a:p>
          <a:p/>
          <a:p>
            <a:r>
              <a:t>[CÂU HỎI TƯƠNG TÁC VỚI SINH VIÊN &amp; CHUYỂN TIẾP CHỦ ĐỀ]:</a:t>
            </a:r>
          </a:p>
          <a:p>
            <a:r>
              <a:t>➔ "Ai là đơn vị thực thi những tác vụ này và chúng sử dụng bộ nhớ ra sao? Chúng ta cùng bước sang ba đơn vị thực thi nền tảng: Process, Thread và Coroutine!"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[GIÁO ÁN GIẢNG DẠY CỦA GIẢNG VIÊN / THUYẾT TRÌNH VIÊN]:</a:t>
            </a:r>
          </a:p>
          <a:p>
            <a:r>
              <a:t>Hãy nhìn vào sơ đồ phân tầng bộ nhớ: Process 1 và Process 2 là hai pháo đài cô lập. Muốn gửi dữ liệu qua lại, chúng bắt buộc phải thông qua đường ống IPC và chịu phí chuyển đổi nhị phân (Pickle). Trong khi đó, các Thread trong Process 1 dùng chung một vùng nhớ Heap nên giao tiếp cực nhanh, nhưng lại có nguy cơ tranh chấp dữ liệu (Race Condition).</a:t>
            </a:r>
          </a:p>
          <a:p/>
          <a:p>
            <a:r>
              <a:t>[CÂU HỎI TƯƠNG TÁC VỚI SINH VIÊN &amp; CHUYỂN TIẾP CHỦ ĐỀ]:</a:t>
            </a:r>
          </a:p>
          <a:p>
            <a:r>
              <a:t>➔ "Hệ điều hành và Python Runtime quyết định lúc nào các đơn vị này được chạy dựa trên cơ chế lập lịch nào?"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[GIÁO ÁN GIẢNG DẠY CỦA GIẢNG VIÊN / THUYẾT TRÌNH VIÊN]:</a:t>
            </a:r>
          </a:p>
          <a:p>
            <a:r>
              <a:t>Đây là điểm mấu chốt: Với lập lịch hợp tác trong asyncio, nếu các em không chủ động nhường quyền (await), không một ai có thể giành quyền chạy từ tay coroutine của các em. Sự tự do này đem lại tốc độ siêu phàm nhưng đòi hỏi người viết mã phải cực kỳ kỷ luật.</a:t>
            </a:r>
          </a:p>
          <a:p/>
          <a:p>
            <a:r>
              <a:t>[CÂU HỎI TƯƠNG TÁC VỚI SINH VIÊN &amp; CHUYỂN TIẾP CHỦ ĐỀ]:</a:t>
            </a:r>
          </a:p>
          <a:p>
            <a:r>
              <a:t>➔ "Để lượng hóa sự khác biệt tài nguyên giữa ba đơn vị này, chúng ta hãy cùng khảo sát bảng số liệu kỹ thuật chi tiết!"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[GIÁO ÁN GIẢNG DẠY CỦA GIẢNG VIÊN / THUYẾT TRÌNH VIÊN]:</a:t>
            </a:r>
          </a:p>
          <a:p>
            <a:r>
              <a:t>Bảng số liệu này giải thích vì sao asyncio là vua của các ứng dụng mạng I/O: 100.000 coroutines chỉ ngốn khoảng 150 MB RAM, trong khi 100.000 threads sẽ đánh sập máy chủ ngay lập tức do cạn kiệt bộ nhớ ảo.</a:t>
            </a:r>
          </a:p>
          <a:p/>
          <a:p>
            <a:r>
              <a:t>[CÂU HỎI TƯƠNG TÁC VỚI SINH VIÊN &amp; CHUYỂN TIẾP CHỦ ĐỀ]:</a:t>
            </a:r>
          </a:p>
          <a:p>
            <a:r>
              <a:t>➔ "Vậy khi đối mặt với một bài toán thực tế, làm sao chúng ta nhận biết bài toán đó thuộc loại Workload nào để chọn đúng công cụ?"</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[GIÁO ÁN GIẢNG DẠY CỦA GIẢNG VIÊN / THUYẾT TRÌNH VIÊN]:</a:t>
            </a:r>
          </a:p>
          <a:p>
            <a:r>
              <a:t>Các em hãy lưu ý từ 'Ứng viên'. Không có một công thức tuyệt đối nào cả. Ví dụ: Với các thư viện tính toán viết bằng mã C như NumPy, OpenCV hay TensorFlow, chúng tự động nhả khóa GIL bên trong mã C, nên lúc đó ThreadPool vẫn có thể chạy tính toán song song đa nhân mà không cần dùng đến ProcessPool!</a:t>
            </a:r>
          </a:p>
          <a:p/>
          <a:p>
            <a:r>
              <a:t>[CÂU HỎI TƯƠNG TÁC VỚI SINH VIÊN &amp; CHUYỂN TIẾP CHỦ ĐỀ]:</a:t>
            </a:r>
          </a:p>
          <a:p>
            <a:r>
              <a:t>➔ "Làm thế nào để hệ thống của chúng ta đạt hiệu năng cao nhất khi đối mặt với bài toán hỗn hợp? Hãy cùng tìm hiểu Mô hình Kiến trúc Lai!"</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[GIÁO ÁN GIẢNG DẠY CỦA GIẢNG VIÊN / THUYẾT TRÌNH VIÊN]:</a:t>
            </a:r>
          </a:p>
          <a:p>
            <a:r>
              <a:t>Đây chính là kiến trúc thực chiến mà các framework lớn hiện nay như FastAPI, Celery hay các hệ thống microservice xử lý dữ liệu lớn áp dụng: Chia để trị, I/O giao cho cơ chế hướng sự kiện, tính toán giao cho worker pool chuyên dụng.</a:t>
            </a:r>
          </a:p>
          <a:p/>
          <a:p>
            <a:r>
              <a:t>[CÂU HỎI TƯƠNG TÁC VỚI SINH VIÊN &amp; CHUYỂN TIẾP CHỦ ĐỀ]:</a:t>
            </a:r>
          </a:p>
          <a:p>
            <a:r>
              <a:t>➔ "Nhưng làm sao chúng ta chứng minh được một giải pháp mới thực sự chạy nhanh hơn giải pháp cũ? Hãy đến với phương pháp luận đo lường hiệu năng!"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[GIÁO ÁN GIẢNG DẠY CỦA GIẢNG VIÊN / THUYẾT TRÌNH VIÊN]:</a:t>
            </a:r>
          </a:p>
          <a:p>
            <a:r>
              <a:t>Thầy/cô muốn nhấn mạnh: Đừng bao giờ vội vàng khoe con số tăng tốc 5x hay 10x nếu các em chưa kiểm tra xem kết quả đầu ra có trùng khớp với bản tuần tự ban đầu hay không. Kết quả sai mà chạy nhanh thì chỉ làm hỏng hệ thống nhanh hơn mà thôi.</a:t>
            </a:r>
          </a:p>
          <a:p/>
          <a:p>
            <a:r>
              <a:t>[CÂU HỎI TƯƠNG TÁC VỚI SINH VIÊN &amp; CHUYỂN TIẾP CHỦ ĐỀ]:</a:t>
            </a:r>
          </a:p>
          <a:p>
            <a:r>
              <a:t>➔ "Để đảm bảo các con số đo được không bị nhiễu loạn bởi môi trường, chúng ta cần tuân thủ giao thức Benchmark nào?"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[GIÁO ÁN GIẢNG DẠY CỦA GIẢNG VIÊN / THUYẾT TRÌNH VIÊN]:</a:t>
            </a:r>
          </a:p>
          <a:p>
            <a:r>
              <a:t>Một sai lầm rất ngây thơ là nghĩ rằng: 'Tôi có 1 tác vụ mất 1 giây, tôi chia nhỏ ra 1.000 phần cho 1.000 luồng chạy thì sẽ mất 1 mili-giây'. Thực tế chi phí khởi tạo và tranh chấp của 1.000 luồng đó sẽ mất tới vài giây, khiến chương trình chậm hơn gấp nhiều lần so với chạy tuần tự đơn giản!</a:t>
            </a:r>
          </a:p>
          <a:p/>
          <a:p>
            <a:r>
              <a:t>[CÂU HỎI TƯƠNG TÁC VỚI SINH VIÊN &amp; CHUYỂN TIẾP CHỦ ĐỀ]:</a:t>
            </a:r>
          </a:p>
          <a:p>
            <a:r>
              <a:t>➔ "Nếu chúng ta có vô hạn worker thì chương trình có chạy nhanh vô hạn được không? Hãy cùng đến với Định luật Amdahl!"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[GIÁO ÁN GIẢNG DẠY CỦA GIẢNG VIÊN / THUYẾT TRÌNH VIÊN]:</a:t>
            </a:r>
          </a:p>
          <a:p>
            <a:r>
              <a:t>Nhìn vào đồ thị bên phải: Đường cong màu đỏ biểu thị thực tế có overhead. Khi các em tăng số worker từ 1 lên 4, tốc độ tăng rất đẹp. Nhưng khi tăng từ 16 lên 32 worker trên một máy chỉ có 8 nhân, tốc độ bắt đầu rơi tự do! Đó là bài học xương máu: 'Càng nhiều worker càng nhanh' là một ngộ nhận chết người.</a:t>
            </a:r>
          </a:p>
          <a:p/>
          <a:p>
            <a:r>
              <a:t>[CÂU HỎI TƯƠNG TÁC VỚI SINH VIÊN &amp; CHUYỂN TIẾP CHỦ ĐỀ]:</a:t>
            </a:r>
          </a:p>
          <a:p>
            <a:r>
              <a:t>➔ "Những ngộ nhận phổ biến nào khác mà các kỹ sư phần mềm thường mắc phải?"</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[GIÁO ÁN GIẢNG DẠY CỦA GIẢNG VIÊN / THUYẾT TRÌNH VIÊN]:</a:t>
            </a:r>
          </a:p>
          <a:p>
            <a:r>
              <a:t>Đặc biệt lưu ý Ngộ nhận 3: Rất nhiều bạn sinh viên nghĩ rằng asyncio chạy 1 luồng thì không bao giờ bị Race Condition. Hoàn toàn sai! Nếu hai coroutine cùng rút tiền từ một tài khoản ngân hàng, coroutine 1 đọc số dư xong rồi gặp lệnh await (bị tạm dừng), coroutine 2 chen vào rút tiền, khi coroutine 1 quay lại số dư đã bị sai lệch hoàn toàn. Đó chính là Race Condition tầng ứng dụng.</a:t>
            </a:r>
          </a:p>
          <a:p/>
          <a:p>
            <a:r>
              <a:t>[CÂU HỎI TƯƠNG TÁC VỚI SINH VIÊN &amp; CHUYỂN TIẾP CHỦ ĐỀ]:</a:t>
            </a:r>
          </a:p>
          <a:p>
            <a:r>
              <a:t>➔ "Làm thế nào để xây dựng một bộ dữ liệu chuẩn mực để toàn bộ lớp cùng thực nghiệm kiểm chứng? Hãy đến với Slide 19: Thực nghiệm mẫu!"</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[GIÁO ÁN GIẢNG DẠY CỦA GIẢNG VIÊN / THUYẾT TRÌNH VIÊN]:</a:t>
            </a:r>
          </a:p>
          <a:p>
            <a:r>
              <a:t>Với bản kết quả thực nghiệm mẫu này, chúng ta đã có một 'thước đo chân lý'. Từ bài sau, khi học sang ThreadPool hay Asyncio, nếu bạn nào nộp bài báo cáo chạy rất nhanh nhưng mã băm SHA-256 không khớp với giá trị này thì bài nộp đó bị tính là sai kết quả.</a:t>
            </a:r>
          </a:p>
          <a:p/>
          <a:p>
            <a:r>
              <a:t>[CÂU HỎI TƯƠNG TÁC VỚI SINH VIÊN &amp; CHUYỂN TIẾP CHỦ ĐỀ]:</a:t>
            </a:r>
          </a:p>
          <a:p>
            <a:r>
              <a:t>➔ "Từ nền móng lý thuyết này, toàn bộ chương 4 của chúng ta sẽ được triển khai theo lộ trình nào?"</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[GIÁO ÁN GIẢNG DẠY CỦA GIẢNG VIÊN / THUYẾT TRÌNH VIÊN]:</a:t>
            </a:r>
          </a:p>
          <a:p>
            <a:r>
              <a:t>Các em thấy đấy: Toàn bộ chương 4 là một câu chuyện liền mạch. Mỗi bài giảng giải quyết đúng một nút thắt của bài giảng trước để đưa chúng ta từ một chương trình chạy chậm 1.2s đến một hệ thống xử lý hàng trăm nghìn trạm cảm biến trong chớp mắt.</a:t>
            </a:r>
          </a:p>
          <a:p/>
          <a:p>
            <a:r>
              <a:t>[CÂU HỎI TƯƠNG TÁC VỚI SINH VIÊN &amp; CHUYỂN TIẾP CHỦ ĐỀ]:</a:t>
            </a:r>
          </a:p>
          <a:p>
            <a:r>
              <a:t>➔ "Để tiện cho việc ôn tập và tra cứu, bài giảng có 3 phần phụ lục chuyên sâu: P01, P02 và P03!"</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[GIÁO ÁN GIẢNG DẠY CỦA GIẢNG VIÊN / THUYẾT TRÌNH VIÊN]:</a:t>
            </a:r>
          </a:p>
          <a:p>
            <a:r>
              <a:t>Phụ lục P01 là bảng tra cứu nhanh khi làm bài tập hoặc phỏng vấn. Các em chỉ cần xác định rõ: Ta đang nói về Hợp đồng gọi hàm hay nói về Trạng thái của luồng hệ điều hành?</a:t>
            </a:r>
          </a:p>
          <a:p/>
          <a:p>
            <a:r>
              <a:t>[CÂU HỎI TƯƠNG TÁC VỚI SINH VIÊN &amp; CHUYỂN TIẾP CHỦ ĐỀ]:</a:t>
            </a:r>
          </a:p>
          <a:p>
            <a:r>
              <a:t>➔ "Tiếp theo, chúng ta cùng xem chứng minh toán học của Định luật Amdahl trong Phụ lục P02!"</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[GIÁO ÁN GIẢNG DẠY CỦA GIẢNG VIÊN / THUYẾT TRÌNH VIÊN]:</a:t>
            </a:r>
          </a:p>
          <a:p>
            <a:r>
              <a:t>Đây là một bài toán kinh tế phần mềm rất sâu sắc: Đổ tiền mua CPU 64 nhân hay 128 nhân không giúp hệ thống nhanh hơn nếu các em không tối ưu phần tuần tự 20%.</a:t>
            </a:r>
          </a:p>
          <a:p/>
          <a:p>
            <a:r>
              <a:t>[CÂU HỎI TƯƠNG TÁC VỚI SINH VIÊN &amp; CHUYỂN TIẾP CHỦ ĐỀ]:</a:t>
            </a:r>
          </a:p>
          <a:p>
            <a:r>
              <a:t>➔ "Tiếp theo là Phụ lục P03: Bộ checklist 10 tiêu chí Benchmark bắt buộc!"</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[GIÁO ÁN GIẢNG DẠY CỦA GIẢNG VIÊN / THUYẾT TRÌNH VIÊN]:</a:t>
            </a:r>
          </a:p>
          <a:p>
            <a:r>
              <a:t>Checklist này là tiêu chuẩn đánh giá chấm điểm đồ án: Báo cáo nào thiếu kiểm tra SHA-256 Digest hoặc dùng time.time() để đo thời gian sẽ bị trừ điểm phương pháp luận.</a:t>
            </a:r>
          </a:p>
          <a:p/>
          <a:p>
            <a:r>
              <a:t>[CÂU HỎI TƯƠNG TÁC VỚI SINH VIÊN &amp; CHUYỂN TIẾP CHỦ ĐỀ]:</a:t>
            </a:r>
          </a:p>
          <a:p>
            <a:r>
              <a:t>➔ "Cuối cùng, chúng ta hãy cùng thảo luận 10 câu hỏi cốt lõi để khắc sâu kiến thức buổi học hôm nay!"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[GIÁO ÁN GIẢNG DẠY CỦA GIẢNG VIÊN / THUYẾT TRÌNH VIÊN]:</a:t>
            </a:r>
          </a:p>
          <a:p>
            <a:r>
              <a:t>Bài giảng Chuyên đề 1 hôm nay xin kết thúc tại đây. Cảm ơn sự chú ý lắng nghe và thảo luận sôi nổi của các em. Về nhà các em hãy xem lại bảng ma trận P01 và chạy thử mã nguồn sensor_baseline.py để kiểm chứng mã băm SHA-256 Digest trước khi chúng ta bước sang Chuyên đề 2 về ThreadPoolExecutor vào tuần sau!</a:t>
            </a:r>
          </a:p>
          <a:p/>
          <a:p>
            <a:r>
              <a:t>[CÂU HỎI TƯƠNG TÁC VỚI SINH VIÊN &amp; CHUYỂN TIẾP CHỦ ĐỀ]:</a:t>
            </a:r>
          </a:p>
          <a:p>
            <a:r>
              <a:t>➔ "Xin chào và hẹn gặp lại các em ở Bài giảng Chuyên đề 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59918" y="571500"/>
            <a:ext cx="9334500" cy="825500"/>
          </a:xfrm>
          <a:prstGeom prst="rect">
            <a:avLst/>
          </a:prstGeom>
          <a:noFill/>
        </p:spPr>
        <p:txBody>
          <a:bodyPr wrap="none">
            <a:spAutoFit/>
          </a:bodyPr>
          <a:lstStyle/>
          <a:p>
            <a:pPr>
              <a:defRPr sz="1400" b="1">
                <a:solidFill>
                  <a:srgbClr val="2C3E50"/>
                </a:solidFill>
                <a:latin typeface="Arial"/>
              </a:defRPr>
            </a:pPr>
            <a:r>
              <a:t>TRƯỜNG ĐẠI HỌC KỸ THUẬT - CÔNG NGHỆ CẦN THƠ (CTUET)</a:t>
            </a:r>
          </a:p>
          <a:p>
            <a:pPr>
              <a:defRPr sz="1150">
                <a:solidFill>
                  <a:srgbClr val="BDC3C7"/>
                </a:solidFill>
                <a:latin typeface="Arial"/>
              </a:defRPr>
            </a:pPr>
            <a:r>
              <a:t>KHOA CÔNG NGHỆ THÔNG TIN — HỌC PHẦN: TÍNH TOÁN SONG SONG VÀ PHÂN TÁN</a:t>
            </a:r>
          </a:p>
        </p:txBody>
      </p:sp>
      <p:sp>
        <p:nvSpPr>
          <p:cNvPr id="3" name="Rectangle 2"/>
          <p:cNvSpPr/>
          <p:nvPr/>
        </p:nvSpPr>
        <p:spPr>
          <a:xfrm>
            <a:off x="0" y="2984500"/>
            <a:ext cx="9720072" cy="158750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lIns="359918"/>
          <a:lstStyle/>
          <a:p>
            <a:pPr algn="ctr">
              <a:defRPr sz="2600" b="1">
                <a:solidFill>
                  <a:srgbClr val="FFFFFF"/>
                </a:solidFill>
                <a:latin typeface="Arial"/>
              </a:defRPr>
            </a:pPr>
            <a:r>
              <a:t>CHƯƠNG  4:</a:t>
            </a:r>
          </a:p>
          <a:p>
            <a:pPr>
              <a:defRPr sz="3000" b="1">
                <a:solidFill>
                  <a:srgbClr val="FFFFFF"/>
                </a:solidFill>
                <a:latin typeface="Arial"/>
              </a:defRPr>
            </a:pPr>
            <a:r>
              <a:t>TÍNH TOÁN BẤT ĐỒNG BỘ TRONG PYTHON</a:t>
            </a:r>
          </a:p>
        </p:txBody>
      </p:sp>
      <p:sp>
        <p:nvSpPr>
          <p:cNvPr id="4" name="TextBox 3"/>
          <p:cNvSpPr txBox="1"/>
          <p:nvPr/>
        </p:nvSpPr>
        <p:spPr>
          <a:xfrm>
            <a:off x="359918" y="4889500"/>
            <a:ext cx="9334500" cy="1778000"/>
          </a:xfrm>
          <a:prstGeom prst="rect">
            <a:avLst/>
          </a:prstGeom>
          <a:noFill/>
        </p:spPr>
        <p:txBody>
          <a:bodyPr wrap="none">
            <a:spAutoFit/>
          </a:bodyPr>
          <a:lstStyle/>
          <a:p>
            <a:pPr>
              <a:defRPr sz="1350" b="1">
                <a:solidFill>
                  <a:srgbClr val="2C3E50"/>
                </a:solidFill>
                <a:latin typeface="Arial"/>
              </a:defRPr>
            </a:pPr>
            <a:r>
              <a:t>BÀI GIẢNG CHUYÊN ĐỀ 1: NỀN TẢNG LÝ THUYẾT &amp; BẢN ĐỒ TƯ DUY TÍNH TOÁN HIỆU NĂNG CAO</a:t>
            </a:r>
          </a:p>
          <a:p>
            <a:pPr>
              <a:defRPr sz="1200" b="1">
                <a:solidFill>
                  <a:srgbClr val="E67E22"/>
                </a:solidFill>
                <a:latin typeface="Arial"/>
              </a:defRPr>
            </a:pPr>
            <a:r>
              <a:t>Phân định 7 Khái niệm Cốt lõi, Mô hình Hóa Workload, Giới hạn Tăng tốc Amdahl &amp; Sequential Oracle</a:t>
            </a:r>
          </a:p>
          <a:p>
            <a:pPr>
              <a:defRPr sz="1050">
                <a:solidFill>
                  <a:srgbClr val="212F3D"/>
                </a:solidFill>
                <a:latin typeface="Arial"/>
              </a:defRPr>
            </a:pPr>
            <a:r>
              <a:t>Giảng viên phụ trách: ThS. Lê Anh Nhã Uyên (lanuyen@ctuet.edu.vn)</a:t>
            </a:r>
            <a:br/>
            <a:r>
              <a:t>Nhóm biên soạn &amp; Báo cáo: Thành viên 1 (Nền tảng &amp; Oracle) — Hỗ trợ kỹ thuật: Thành viên 4 (Asyncio Runtime)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79832"/>
            <a:ext cx="9720072" cy="126034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wrap="square" lIns="359918"/>
          <a:lstStyle/>
          <a:p>
            <a:pPr algn="ctr">
              <a:defRPr sz="2500" b="1">
                <a:solidFill>
                  <a:srgbClr val="FFFFFF"/>
                </a:solidFill>
                <a:latin typeface="Arial"/>
              </a:defRPr>
            </a:pPr>
            <a:r>
              <a:t>TỔNG QUAN BÀI HỌC</a:t>
            </a:r>
          </a:p>
        </p:txBody>
      </p:sp>
      <p:sp>
        <p:nvSpPr>
          <p:cNvPr id="3" name="Rectangle 2"/>
          <p:cNvSpPr/>
          <p:nvPr/>
        </p:nvSpPr>
        <p:spPr>
          <a:xfrm>
            <a:off x="179832" y="6839711"/>
            <a:ext cx="539496"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rial"/>
              </a:defRPr>
            </a:pPr>
            <a:r>
              <a:t>2</a:t>
            </a:r>
          </a:p>
        </p:txBody>
      </p:sp>
      <p:sp>
        <p:nvSpPr>
          <p:cNvPr id="4" name="Rectangle 3"/>
          <p:cNvSpPr/>
          <p:nvPr/>
        </p:nvSpPr>
        <p:spPr>
          <a:xfrm>
            <a:off x="900684" y="6839711"/>
            <a:ext cx="6480048" cy="541020"/>
          </a:xfrm>
          <a:prstGeom prst="rect">
            <a:avLst/>
          </a:prstGeom>
          <a:solidFill>
            <a:srgbClr val="BDC3C7"/>
          </a:solidFill>
          <a:ln>
            <a:noFill/>
          </a:ln>
        </p:spPr>
        <p:style>
          <a:lnRef idx="1">
            <a:schemeClr val="accent1"/>
          </a:lnRef>
          <a:fillRef idx="3">
            <a:schemeClr val="accent1"/>
          </a:fillRef>
          <a:effectRef idx="2">
            <a:schemeClr val="accent1"/>
          </a:effectRef>
          <a:fontRef idx="minor">
            <a:schemeClr val="lt1"/>
          </a:fontRef>
        </p:style>
        <p:txBody>
          <a:bodyPr rtlCol="0" anchor="ctr" lIns="190500"/>
          <a:lstStyle/>
          <a:p>
            <a:pPr algn="ctr">
              <a:defRPr sz="1200">
                <a:solidFill>
                  <a:srgbClr val="2C3E50"/>
                </a:solidFill>
                <a:latin typeface="Arial"/>
              </a:defRPr>
            </a:pPr>
            <a:r>
              <a:t>Mục tiêu Học tập &amp; Bản đồ Kiến thức Chuyên đề</a:t>
            </a:r>
          </a:p>
        </p:txBody>
      </p:sp>
      <p:sp>
        <p:nvSpPr>
          <p:cNvPr id="5" name="Rectangle 4"/>
          <p:cNvSpPr/>
          <p:nvPr/>
        </p:nvSpPr>
        <p:spPr>
          <a:xfrm>
            <a:off x="7560564" y="6839711"/>
            <a:ext cx="2519172"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01 - 2026</a:t>
            </a:r>
          </a:p>
        </p:txBody>
      </p:sp>
      <p:sp>
        <p:nvSpPr>
          <p:cNvPr id="6" name="TextBox 5"/>
          <p:cNvSpPr txBox="1"/>
          <p:nvPr/>
        </p:nvSpPr>
        <p:spPr>
          <a:xfrm>
            <a:off x="359918" y="1549400"/>
            <a:ext cx="9334500" cy="406400"/>
          </a:xfrm>
          <a:prstGeom prst="rect">
            <a:avLst/>
          </a:prstGeom>
          <a:noFill/>
        </p:spPr>
        <p:txBody>
          <a:bodyPr wrap="square" tIns="0" lIns="0">
            <a:spAutoFit/>
          </a:bodyPr>
          <a:lstStyle/>
          <a:p>
            <a:pPr>
              <a:defRPr sz="1700" b="1">
                <a:solidFill>
                  <a:srgbClr val="2C3E50"/>
                </a:solidFill>
                <a:latin typeface="Arial"/>
              </a:defRPr>
            </a:pPr>
            <a:r>
              <a:t>➢ Những giá trị học thuật và kỹ năng kỹ thuật người học sẽ làm chủ</a:t>
            </a:r>
          </a:p>
        </p:txBody>
      </p:sp>
      <p:sp>
        <p:nvSpPr>
          <p:cNvPr id="7" name="TextBox 6"/>
          <p:cNvSpPr txBox="1"/>
          <p:nvPr/>
        </p:nvSpPr>
        <p:spPr>
          <a:xfrm>
            <a:off x="359918" y="1905000"/>
            <a:ext cx="9334500" cy="2159000"/>
          </a:xfrm>
          <a:prstGeom prst="rect">
            <a:avLst/>
          </a:prstGeom>
          <a:noFill/>
        </p:spPr>
        <p:txBody>
          <a:bodyPr wrap="square" tIns="0" lIns="0">
            <a:spAutoFit/>
          </a:bodyPr>
          <a:lstStyle/>
          <a:p>
            <a:pPr>
              <a:spcBef>
                <a:spcPts val="200"/>
              </a:spcBef>
              <a:spcAft>
                <a:spcPts val="500"/>
              </a:spcAft>
            </a:pPr>
            <a:r>
              <a:rPr sz="1150" b="1">
                <a:solidFill>
                  <a:srgbClr val="2C3E50"/>
                </a:solidFill>
                <a:latin typeface="Arial"/>
              </a:rPr>
              <a:t>□ Nắm vững bản chất kiến trúc: </a:t>
            </a:r>
            <a:r>
              <a:rPr sz="1150">
                <a:solidFill>
                  <a:srgbClr val="212F3D"/>
                </a:solidFill>
                <a:latin typeface="Arial"/>
              </a:rPr>
              <a:t>Phân biệt chính xác tuyệt đối 7 khái niệm cốt lõi: Tuần tự, Đồng thời, Song song, Đồng bộ, Bất đồng bộ, Blocking và Non-blocking.</a:t>
            </a:r>
          </a:p>
          <a:p>
            <a:pPr>
              <a:spcBef>
                <a:spcPts val="200"/>
              </a:spcBef>
              <a:spcAft>
                <a:spcPts val="500"/>
              </a:spcAft>
            </a:pPr>
            <a:r>
              <a:rPr sz="1150" b="1">
                <a:solidFill>
                  <a:srgbClr val="2C3E50"/>
                </a:solidFill>
                <a:latin typeface="Arial"/>
              </a:rPr>
              <a:t>□ Hiểu sâu cơ chế hệ điều hành: </a:t>
            </a:r>
            <a:r>
              <a:rPr sz="1150">
                <a:solidFill>
                  <a:srgbClr val="212F3D"/>
                </a:solidFill>
                <a:latin typeface="Arial"/>
              </a:rPr>
              <a:t>Làm chủ kiến trúc bộ nhớ và cơ chế lập lịch: Tranh đoạt (Preemptive) vs Hợp tác (Cooperative), Context Switch, Yield point và rào cản CPython GIL.</a:t>
            </a:r>
          </a:p>
          <a:p>
            <a:pPr>
              <a:spcBef>
                <a:spcPts val="200"/>
              </a:spcBef>
              <a:spcAft>
                <a:spcPts val="500"/>
              </a:spcAft>
            </a:pPr>
            <a:r>
              <a:rPr sz="1150" b="1">
                <a:solidFill>
                  <a:srgbClr val="2C3E50"/>
                </a:solidFill>
                <a:latin typeface="Arial"/>
              </a:rPr>
              <a:t>□ Định lượng và Ra quyết định: </a:t>
            </a:r>
            <a:r>
              <a:rPr sz="1150">
                <a:solidFill>
                  <a:srgbClr val="212F3D"/>
                </a:solidFill>
                <a:latin typeface="Arial"/>
              </a:rPr>
              <a:t>Nhận diện bản chất Workload (I/O-bound vs CPU-bound); áp dụng Định luật Amdahl để tính toán trần tăng tốc lý thuyết và dự báo suy thoái do Overhead.</a:t>
            </a:r>
          </a:p>
          <a:p>
            <a:pPr>
              <a:spcBef>
                <a:spcPts val="200"/>
              </a:spcBef>
              <a:spcAft>
                <a:spcPts val="500"/>
              </a:spcAft>
            </a:pPr>
            <a:r>
              <a:rPr sz="1150" b="1">
                <a:solidFill>
                  <a:srgbClr val="2C3E50"/>
                </a:solidFill>
                <a:latin typeface="Arial"/>
              </a:rPr>
              <a:t>□ Chuẩn mực kỹ thuật công nghiệp: </a:t>
            </a:r>
            <a:r>
              <a:rPr sz="1150">
                <a:solidFill>
                  <a:srgbClr val="212F3D"/>
                </a:solidFill>
                <a:latin typeface="Arial"/>
              </a:rPr>
              <a:t>Thiết lập phương pháp luận kiểm chuẩn khoa học (Correctness First) và quy trình đo lường hiệu năng công bằng với mốc chân lý Sequential Baseline Oracle.</a:t>
            </a:r>
          </a:p>
        </p:txBody>
      </p:sp>
      <p:sp>
        <p:nvSpPr>
          <p:cNvPr id="8" name="Rounded Rectangle 7"/>
          <p:cNvSpPr/>
          <p:nvPr/>
        </p:nvSpPr>
        <p:spPr>
          <a:xfrm>
            <a:off x="359918" y="4254500"/>
            <a:ext cx="4508500" cy="2286000"/>
          </a:xfrm>
          <a:prstGeom prst="roundRect">
            <a:avLst/>
          </a:prstGeom>
          <a:solidFill>
            <a:srgbClr val="F8F9FA"/>
          </a:solidFill>
          <a:ln w="15240">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wrap="square" tIns="101600" lIns="152400" rIns="152400" bIns="101600"/>
          <a:lstStyle/>
          <a:p>
            <a:pPr algn="ctr">
              <a:spcAft>
                <a:spcPts val="400"/>
              </a:spcAft>
              <a:defRPr sz="1150" b="1">
                <a:solidFill>
                  <a:srgbClr val="2C3E50"/>
                </a:solidFill>
                <a:latin typeface="Arial"/>
              </a:defRPr>
            </a:pPr>
            <a:r>
              <a:t>TRỤ CỘT LÝ THUYẾT HỆ THỐNG</a:t>
            </a:r>
          </a:p>
          <a:p>
            <a:pPr>
              <a:spcAft>
                <a:spcPts val="300"/>
              </a:spcAft>
              <a:defRPr sz="1000">
                <a:solidFill>
                  <a:srgbClr val="212F3D"/>
                </a:solidFill>
                <a:latin typeface="Arial"/>
              </a:defRPr>
            </a:pPr>
            <a:r>
              <a:rPr b="1">
                <a:solidFill>
                  <a:srgbClr val="2C3E50"/>
                </a:solidFill>
              </a:rPr>
              <a:t>• Vòng đời tác vụ (Task Lifecycle): </a:t>
            </a:r>
            <a:r>
              <a:rPr>
                <a:solidFill>
                  <a:srgbClr val="212F3D"/>
                </a:solidFill>
              </a:rPr>
              <a:t>Từ trạng thái Ready, Running đến Blocked/Suspended.</a:t>
            </a:r>
          </a:p>
          <a:p>
            <a:pPr>
              <a:spcAft>
                <a:spcPts val="300"/>
              </a:spcAft>
              <a:defRPr sz="1000">
                <a:solidFill>
                  <a:srgbClr val="212F3D"/>
                </a:solidFill>
                <a:latin typeface="Arial"/>
              </a:defRPr>
            </a:pPr>
            <a:r>
              <a:rPr b="1">
                <a:solidFill>
                  <a:srgbClr val="2C3E50"/>
                </a:solidFill>
              </a:rPr>
              <a:t>• Không gian địa chỉ (Address Space): </a:t>
            </a:r>
            <a:r>
              <a:rPr>
                <a:solidFill>
                  <a:srgbClr val="212F3D"/>
                </a:solidFill>
              </a:rPr>
              <a:t>Phân biệt Virtual Address Space cô lập vs Shared Heap.</a:t>
            </a:r>
          </a:p>
          <a:p>
            <a:pPr>
              <a:spcAft>
                <a:spcPts val="300"/>
              </a:spcAft>
              <a:defRPr sz="1000">
                <a:solidFill>
                  <a:srgbClr val="212F3D"/>
                </a:solidFill>
                <a:latin typeface="Arial"/>
              </a:defRPr>
            </a:pPr>
            <a:r>
              <a:rPr b="1">
                <a:solidFill>
                  <a:srgbClr val="2C3E50"/>
                </a:solidFill>
              </a:rPr>
              <a:t>• Giới hạn toán học (Amdahl's Law): </a:t>
            </a:r>
            <a:r>
              <a:rPr>
                <a:solidFill>
                  <a:srgbClr val="212F3D"/>
                </a:solidFill>
              </a:rPr>
              <a:t>Chứng minh vì sao thêm worker không đồng nghĩa nhanh hơn.</a:t>
            </a:r>
          </a:p>
        </p:txBody>
      </p:sp>
      <p:sp>
        <p:nvSpPr>
          <p:cNvPr id="9" name="Rounded Rectangle 8"/>
          <p:cNvSpPr/>
          <p:nvPr/>
        </p:nvSpPr>
        <p:spPr>
          <a:xfrm>
            <a:off x="5181600" y="4254500"/>
            <a:ext cx="4508500" cy="2286000"/>
          </a:xfrm>
          <a:prstGeom prst="roundRect">
            <a:avLst/>
          </a:prstGeom>
          <a:solidFill>
            <a:srgbClr val="F8F9FA"/>
          </a:solidFill>
          <a:ln w="1524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tIns="101600" lIns="152400" rIns="152400" bIns="101600"/>
          <a:lstStyle/>
          <a:p>
            <a:pPr algn="ctr">
              <a:spcAft>
                <a:spcPts val="400"/>
              </a:spcAft>
              <a:defRPr sz="1150" b="1">
                <a:solidFill>
                  <a:srgbClr val="2C3E50"/>
                </a:solidFill>
                <a:latin typeface="Arial"/>
              </a:defRPr>
            </a:pPr>
            <a:r>
              <a:t>KỸ NĂNG THỰC HÀNH KỸ SƯ</a:t>
            </a:r>
          </a:p>
          <a:p>
            <a:pPr>
              <a:spcAft>
                <a:spcPts val="300"/>
              </a:spcAft>
              <a:defRPr sz="1000">
                <a:solidFill>
                  <a:srgbClr val="212F3D"/>
                </a:solidFill>
                <a:latin typeface="Arial"/>
              </a:defRPr>
            </a:pPr>
            <a:r>
              <a:rPr b="1">
                <a:solidFill>
                  <a:srgbClr val="2C3E50"/>
                </a:solidFill>
              </a:rPr>
              <a:t>• Xây dựng Data Contract: </a:t>
            </a:r>
            <a:r>
              <a:rPr>
                <a:solidFill>
                  <a:srgbClr val="212F3D"/>
                </a:solidFill>
              </a:rPr>
              <a:t>Thiết kế cấu trúc dữ liệu chuẩn hóa và seed xác định.</a:t>
            </a:r>
          </a:p>
          <a:p>
            <a:pPr>
              <a:spcAft>
                <a:spcPts val="300"/>
              </a:spcAft>
              <a:defRPr sz="1000">
                <a:solidFill>
                  <a:srgbClr val="212F3D"/>
                </a:solidFill>
                <a:latin typeface="Arial"/>
              </a:defRPr>
            </a:pPr>
            <a:r>
              <a:rPr b="1">
                <a:solidFill>
                  <a:srgbClr val="2C3E50"/>
                </a:solidFill>
              </a:rPr>
              <a:t>• Chống bẫy Anti-Pattern: </a:t>
            </a:r>
            <a:r>
              <a:rPr>
                <a:solidFill>
                  <a:srgbClr val="212F3D"/>
                </a:solidFill>
              </a:rPr>
              <a:t>Phát hiện và loại bỏ triệt để lệnh blocking trong luồng async.</a:t>
            </a:r>
          </a:p>
          <a:p>
            <a:pPr>
              <a:spcAft>
                <a:spcPts val="300"/>
              </a:spcAft>
              <a:defRPr sz="1000">
                <a:solidFill>
                  <a:srgbClr val="212F3D"/>
                </a:solidFill>
                <a:latin typeface="Arial"/>
              </a:defRPr>
            </a:pPr>
            <a:r>
              <a:rPr b="1">
                <a:solidFill>
                  <a:srgbClr val="2C3E50"/>
                </a:solidFill>
              </a:rPr>
              <a:t>• Thẩm định Benchmark: </a:t>
            </a:r>
            <a:r>
              <a:rPr>
                <a:solidFill>
                  <a:srgbClr val="212F3D"/>
                </a:solidFill>
              </a:rPr>
              <a:t>Sử dụng đồng hồ độ phân giải cao và mã băm SHA-256 Digest.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79832"/>
            <a:ext cx="9720072" cy="126034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wrap="square" lIns="359918"/>
          <a:lstStyle/>
          <a:p>
            <a:pPr algn="ctr">
              <a:defRPr sz="2500" b="1">
                <a:solidFill>
                  <a:srgbClr val="FFFFFF"/>
                </a:solidFill>
                <a:latin typeface="Arial"/>
              </a:defRPr>
            </a:pPr>
            <a:r>
              <a:t>NGHIÊN CỨU TÌNH HUỐNG</a:t>
            </a:r>
          </a:p>
        </p:txBody>
      </p:sp>
      <p:sp>
        <p:nvSpPr>
          <p:cNvPr id="3" name="Rectangle 2"/>
          <p:cNvSpPr/>
          <p:nvPr/>
        </p:nvSpPr>
        <p:spPr>
          <a:xfrm>
            <a:off x="179832" y="6839711"/>
            <a:ext cx="539496"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rial"/>
              </a:defRPr>
            </a:pPr>
            <a:r>
              <a:t>3</a:t>
            </a:r>
          </a:p>
        </p:txBody>
      </p:sp>
      <p:sp>
        <p:nvSpPr>
          <p:cNvPr id="4" name="Rectangle 3"/>
          <p:cNvSpPr/>
          <p:nvPr/>
        </p:nvSpPr>
        <p:spPr>
          <a:xfrm>
            <a:off x="900684" y="6839711"/>
            <a:ext cx="6480048" cy="541020"/>
          </a:xfrm>
          <a:prstGeom prst="rect">
            <a:avLst/>
          </a:prstGeom>
          <a:solidFill>
            <a:srgbClr val="BDC3C7"/>
          </a:solidFill>
          <a:ln>
            <a:noFill/>
          </a:ln>
        </p:spPr>
        <p:style>
          <a:lnRef idx="1">
            <a:schemeClr val="accent1"/>
          </a:lnRef>
          <a:fillRef idx="3">
            <a:schemeClr val="accent1"/>
          </a:fillRef>
          <a:effectRef idx="2">
            <a:schemeClr val="accent1"/>
          </a:effectRef>
          <a:fontRef idx="minor">
            <a:schemeClr val="lt1"/>
          </a:fontRef>
        </p:style>
        <p:txBody>
          <a:bodyPr rtlCol="0" anchor="ctr" lIns="190500"/>
          <a:lstStyle/>
          <a:p>
            <a:pPr algn="ctr">
              <a:defRPr sz="1200">
                <a:solidFill>
                  <a:srgbClr val="2C3E50"/>
                </a:solidFill>
                <a:latin typeface="Arial"/>
              </a:defRPr>
            </a:pPr>
            <a:r>
              <a:t>Bài toán Quan trắc Trạm Cảm biến Môi trường</a:t>
            </a:r>
          </a:p>
        </p:txBody>
      </p:sp>
      <p:sp>
        <p:nvSpPr>
          <p:cNvPr id="5" name="Rectangle 4"/>
          <p:cNvSpPr/>
          <p:nvPr/>
        </p:nvSpPr>
        <p:spPr>
          <a:xfrm>
            <a:off x="7560564" y="6839711"/>
            <a:ext cx="2519172"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01 - 2026</a:t>
            </a:r>
          </a:p>
        </p:txBody>
      </p:sp>
      <p:sp>
        <p:nvSpPr>
          <p:cNvPr id="6" name="TextBox 5"/>
          <p:cNvSpPr txBox="1"/>
          <p:nvPr/>
        </p:nvSpPr>
        <p:spPr>
          <a:xfrm>
            <a:off x="359918" y="1549400"/>
            <a:ext cx="9334500" cy="406400"/>
          </a:xfrm>
          <a:prstGeom prst="rect">
            <a:avLst/>
          </a:prstGeom>
          <a:noFill/>
        </p:spPr>
        <p:txBody>
          <a:bodyPr wrap="square" tIns="0" lIns="0">
            <a:spAutoFit/>
          </a:bodyPr>
          <a:lstStyle/>
          <a:p>
            <a:pPr>
              <a:defRPr sz="1700" b="1">
                <a:solidFill>
                  <a:srgbClr val="2C3E50"/>
                </a:solidFill>
                <a:latin typeface="Arial"/>
              </a:defRPr>
            </a:pPr>
            <a:r>
              <a:t>➢ Khảo sát hệ thống thu thập dữ liệu quan trắc 8 trạm cảm biến</a:t>
            </a:r>
          </a:p>
        </p:txBody>
      </p:sp>
      <p:sp>
        <p:nvSpPr>
          <p:cNvPr id="7" name="TextBox 6"/>
          <p:cNvSpPr txBox="1"/>
          <p:nvPr/>
        </p:nvSpPr>
        <p:spPr>
          <a:xfrm>
            <a:off x="359918" y="1905000"/>
            <a:ext cx="9334500" cy="2032000"/>
          </a:xfrm>
          <a:prstGeom prst="rect">
            <a:avLst/>
          </a:prstGeom>
          <a:noFill/>
        </p:spPr>
        <p:txBody>
          <a:bodyPr wrap="square" tIns="0" lIns="0">
            <a:spAutoFit/>
          </a:bodyPr>
          <a:lstStyle/>
          <a:p>
            <a:pPr>
              <a:spcBef>
                <a:spcPts val="200"/>
              </a:spcBef>
              <a:spcAft>
                <a:spcPts val="500"/>
              </a:spcAft>
            </a:pPr>
            <a:r>
              <a:rPr sz="1150" b="1">
                <a:solidFill>
                  <a:srgbClr val="2C3E50"/>
                </a:solidFill>
                <a:latin typeface="Arial"/>
              </a:rPr>
              <a:t>□ Bối cảnh kỹ thuật: </a:t>
            </a:r>
            <a:r>
              <a:rPr sz="1150">
                <a:solidFill>
                  <a:srgbClr val="212F3D"/>
                </a:solidFill>
                <a:latin typeface="Arial"/>
              </a:rPr>
              <a:t>Hệ thống giám sát chất lượng không khí thu thập dữ liệu từ 8 trạm cảm biến qua mạng; mỗi trạm mất khoảng 0.12s trễ I/O truyền gói tin, sau đó CPU mất 0.03s để tính chỉ số ô nhiễm AQI.</a:t>
            </a:r>
          </a:p>
          <a:p>
            <a:pPr>
              <a:spcBef>
                <a:spcPts val="200"/>
              </a:spcBef>
              <a:spcAft>
                <a:spcPts val="500"/>
              </a:spcAft>
            </a:pPr>
            <a:r>
              <a:rPr sz="1150" b="1">
                <a:solidFill>
                  <a:srgbClr val="2C3E50"/>
                </a:solidFill>
                <a:latin typeface="Arial"/>
              </a:rPr>
              <a:t>□ Thực thi tuần tự truyền thống: </a:t>
            </a:r>
            <a:r>
              <a:rPr sz="1150">
                <a:solidFill>
                  <a:srgbClr val="212F3D"/>
                </a:solidFill>
                <a:latin typeface="Arial"/>
              </a:rPr>
              <a:t>Các trạm được truy vấn lần lượt nối tiếp nhau trong một vòng lặp; tổng thời gian xử lý toàn bộ hệ thống là tổng của từng trạm riêng lẻ: T_total = SUM(T_i) ≈ 1.20 giây.</a:t>
            </a:r>
          </a:p>
          <a:p>
            <a:pPr>
              <a:spcBef>
                <a:spcPts val="200"/>
              </a:spcBef>
              <a:spcAft>
                <a:spcPts val="500"/>
              </a:spcAft>
            </a:pPr>
            <a:r>
              <a:rPr sz="1150" b="1">
                <a:solidFill>
                  <a:srgbClr val="2C3E50"/>
                </a:solidFill>
                <a:latin typeface="Arial"/>
              </a:rPr>
              <a:t>□ Ba câu hỏi hóc búa đặt ra: </a:t>
            </a:r>
            <a:r>
              <a:rPr sz="1150">
                <a:solidFill>
                  <a:srgbClr val="212F3D"/>
                </a:solidFill>
                <a:latin typeface="Arial"/>
              </a:rPr>
              <a:t>1) Khoảng thời gian chờ mạng của các trạm có thể chồng lấp (overlap) lên nhau không? 2) Phần tính toán số học có thể chạy song song không? 3) Chi phí đánh đổi để tối ưu là bao nhiêu?</a:t>
            </a:r>
          </a:p>
        </p:txBody>
      </p:sp>
      <p:pic>
        <p:nvPicPr>
          <p:cNvPr id="8" name="Picture 7" descr="diag_s1_timeline_8stations.png"/>
          <p:cNvPicPr>
            <a:picLocks noChangeAspect="1"/>
          </p:cNvPicPr>
          <p:nvPr/>
        </p:nvPicPr>
        <p:blipFill>
          <a:blip r:embed="rId2"/>
          <a:stretch>
            <a:fillRect/>
          </a:stretch>
        </p:blipFill>
        <p:spPr>
          <a:xfrm>
            <a:off x="359918" y="4127500"/>
            <a:ext cx="9334500" cy="24765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79832"/>
            <a:ext cx="9720072" cy="126034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wrap="square" lIns="359918"/>
          <a:lstStyle/>
          <a:p>
            <a:pPr algn="ctr">
              <a:defRPr sz="2500" b="1">
                <a:solidFill>
                  <a:srgbClr val="FFFFFF"/>
                </a:solidFill>
                <a:latin typeface="Arial"/>
              </a:defRPr>
            </a:pPr>
            <a:r>
              <a:t>BẢN CHẤT PHẦN CỨNG</a:t>
            </a:r>
          </a:p>
        </p:txBody>
      </p:sp>
      <p:sp>
        <p:nvSpPr>
          <p:cNvPr id="3" name="Rectangle 2"/>
          <p:cNvSpPr/>
          <p:nvPr/>
        </p:nvSpPr>
        <p:spPr>
          <a:xfrm>
            <a:off x="179832" y="6839711"/>
            <a:ext cx="539496"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rial"/>
              </a:defRPr>
            </a:pPr>
            <a:r>
              <a:t>4</a:t>
            </a:r>
          </a:p>
        </p:txBody>
      </p:sp>
      <p:sp>
        <p:nvSpPr>
          <p:cNvPr id="4" name="Rectangle 3"/>
          <p:cNvSpPr/>
          <p:nvPr/>
        </p:nvSpPr>
        <p:spPr>
          <a:xfrm>
            <a:off x="900684" y="6839711"/>
            <a:ext cx="6480048" cy="541020"/>
          </a:xfrm>
          <a:prstGeom prst="rect">
            <a:avLst/>
          </a:prstGeom>
          <a:solidFill>
            <a:srgbClr val="BDC3C7"/>
          </a:solidFill>
          <a:ln>
            <a:noFill/>
          </a:ln>
        </p:spPr>
        <p:style>
          <a:lnRef idx="1">
            <a:schemeClr val="accent1"/>
          </a:lnRef>
          <a:fillRef idx="3">
            <a:schemeClr val="accent1"/>
          </a:fillRef>
          <a:effectRef idx="2">
            <a:schemeClr val="accent1"/>
          </a:effectRef>
          <a:fontRef idx="minor">
            <a:schemeClr val="lt1"/>
          </a:fontRef>
        </p:style>
        <p:txBody>
          <a:bodyPr rtlCol="0" anchor="ctr" lIns="190500"/>
          <a:lstStyle/>
          <a:p>
            <a:pPr algn="ctr">
              <a:defRPr sz="1200">
                <a:solidFill>
                  <a:srgbClr val="2C3E50"/>
                </a:solidFill>
                <a:latin typeface="Arial"/>
              </a:defRPr>
            </a:pPr>
            <a:r>
              <a:t>Call Stack, Program Counter &amp; Lãng phí Chu kỳ CPU</a:t>
            </a:r>
          </a:p>
        </p:txBody>
      </p:sp>
      <p:sp>
        <p:nvSpPr>
          <p:cNvPr id="5" name="Rectangle 4"/>
          <p:cNvSpPr/>
          <p:nvPr/>
        </p:nvSpPr>
        <p:spPr>
          <a:xfrm>
            <a:off x="7560564" y="6839711"/>
            <a:ext cx="2519172"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01 - 2026</a:t>
            </a:r>
          </a:p>
        </p:txBody>
      </p:sp>
      <p:sp>
        <p:nvSpPr>
          <p:cNvPr id="6" name="TextBox 5"/>
          <p:cNvSpPr txBox="1"/>
          <p:nvPr/>
        </p:nvSpPr>
        <p:spPr>
          <a:xfrm>
            <a:off x="359918" y="1549400"/>
            <a:ext cx="9334500" cy="406400"/>
          </a:xfrm>
          <a:prstGeom prst="rect">
            <a:avLst/>
          </a:prstGeom>
          <a:noFill/>
        </p:spPr>
        <p:txBody>
          <a:bodyPr wrap="square" tIns="0" lIns="0">
            <a:spAutoFit/>
          </a:bodyPr>
          <a:lstStyle/>
          <a:p>
            <a:pPr>
              <a:defRPr sz="1700" b="1">
                <a:solidFill>
                  <a:srgbClr val="2C3E50"/>
                </a:solidFill>
                <a:latin typeface="Arial"/>
              </a:defRPr>
            </a:pPr>
            <a:r>
              <a:t>➢ Vì sao mô hình tuần tự gây lãng phí hàng tỷ chu kỳ tính toán?</a:t>
            </a:r>
          </a:p>
        </p:txBody>
      </p:sp>
      <p:sp>
        <p:nvSpPr>
          <p:cNvPr id="7" name="TextBox 6"/>
          <p:cNvSpPr txBox="1"/>
          <p:nvPr/>
        </p:nvSpPr>
        <p:spPr>
          <a:xfrm>
            <a:off x="359918" y="1905000"/>
            <a:ext cx="9334500" cy="2032000"/>
          </a:xfrm>
          <a:prstGeom prst="rect">
            <a:avLst/>
          </a:prstGeom>
          <a:noFill/>
        </p:spPr>
        <p:txBody>
          <a:bodyPr wrap="square" tIns="0" lIns="0">
            <a:spAutoFit/>
          </a:bodyPr>
          <a:lstStyle/>
          <a:p>
            <a:pPr>
              <a:spcBef>
                <a:spcPts val="200"/>
              </a:spcBef>
              <a:spcAft>
                <a:spcPts val="500"/>
              </a:spcAft>
            </a:pPr>
            <a:r>
              <a:rPr sz="1150" b="1">
                <a:solidFill>
                  <a:srgbClr val="2C3E50"/>
                </a:solidFill>
                <a:latin typeface="Arial"/>
              </a:rPr>
              <a:t>□ Con trỏ lệnh đơn (Program Counter - PC): </a:t>
            </a:r>
            <a:r>
              <a:rPr sz="1150">
                <a:solidFill>
                  <a:srgbClr val="212F3D"/>
                </a:solidFill>
                <a:latin typeface="Arial"/>
              </a:rPr>
              <a:t>Trong mô hình tuần tự đơn luồng, CPU chỉ duy trì duy nhất một Call Stack và một con trỏ lệnh PC trỏ tuần tự đến từng lệnh máy tiếp theo.</a:t>
            </a:r>
          </a:p>
          <a:p>
            <a:pPr>
              <a:spcBef>
                <a:spcPts val="200"/>
              </a:spcBef>
              <a:spcAft>
                <a:spcPts val="500"/>
              </a:spcAft>
            </a:pPr>
            <a:r>
              <a:rPr sz="1150" b="1">
                <a:solidFill>
                  <a:srgbClr val="2C3E50"/>
                </a:solidFill>
                <a:latin typeface="Arial"/>
              </a:rPr>
              <a:t>□ Trạng thái luồng bị khóa (Blocked State): </a:t>
            </a:r>
            <a:r>
              <a:rPr sz="1150">
                <a:solidFill>
                  <a:srgbClr val="212F3D"/>
                </a:solidFill>
                <a:latin typeface="Arial"/>
              </a:rPr>
              <a:t>Khi chương trình thực thi lời gọi hệ thống đọc dữ liệu mạng (socket.recv), OS Kernel nhận thấy chưa có gói tin và lập tức chuyển luồng từ trạng thái RUNNING sang BLOCKED.</a:t>
            </a:r>
          </a:p>
          <a:p>
            <a:pPr>
              <a:spcBef>
                <a:spcPts val="200"/>
              </a:spcBef>
              <a:spcAft>
                <a:spcPts val="500"/>
              </a:spcAft>
            </a:pPr>
            <a:r>
              <a:rPr sz="1150" b="1">
                <a:solidFill>
                  <a:srgbClr val="2C3E50"/>
                </a:solidFill>
                <a:latin typeface="Arial"/>
              </a:rPr>
              <a:t>□ Lãng phí hàng tỷ chu kỳ lệnh: </a:t>
            </a:r>
            <a:r>
              <a:rPr sz="1150">
                <a:solidFill>
                  <a:srgbClr val="212F3D"/>
                </a:solidFill>
                <a:latin typeface="Arial"/>
              </a:rPr>
              <a:t>Một CPU 3.0 GHz xử lý được 3 tỷ chu kỳ lệnh/giây. Việc luồng bị dừng 100ms chờ mạng tương đương với việc CPU bỏ phí 300 triệu cơ hội tính toán.</a:t>
            </a:r>
          </a:p>
          <a:p>
            <a:pPr>
              <a:spcBef>
                <a:spcPts val="200"/>
              </a:spcBef>
              <a:spcAft>
                <a:spcPts val="500"/>
              </a:spcAft>
            </a:pPr>
            <a:r>
              <a:rPr sz="1150" b="1">
                <a:solidFill>
                  <a:srgbClr val="2C3E50"/>
                </a:solidFill>
                <a:latin typeface="Arial"/>
              </a:rPr>
              <a:t>□ Nhận định quan trọng: </a:t>
            </a:r>
            <a:r>
              <a:rPr sz="1150">
                <a:solidFill>
                  <a:srgbClr val="212F3D"/>
                </a:solidFill>
                <a:latin typeface="Arial"/>
              </a:rPr>
              <a:t>Nút thắt cổ chai ở đây là NGHẼN I/O (I/O Bottleneck), hoàn toàn không phải do CPU bị yếu hay thuật toán tính AQI bị chậm!</a:t>
            </a:r>
          </a:p>
        </p:txBody>
      </p:sp>
      <p:graphicFrame>
        <p:nvGraphicFramePr>
          <p:cNvPr id="8" name="Table 7"/>
          <p:cNvGraphicFramePr>
            <a:graphicFrameLocks noGrp="1"/>
          </p:cNvGraphicFramePr>
          <p:nvPr/>
        </p:nvGraphicFramePr>
        <p:xfrm>
          <a:off x="359918" y="4191000"/>
          <a:ext cx="9334500" cy="2349500"/>
        </p:xfrm>
        <a:graphic>
          <a:graphicData uri="http://schemas.openxmlformats.org/drawingml/2006/table">
            <a:tbl>
              <a:tblPr firstRow="1" bandRow="1">
                <a:tableStyleId>{5C22544A-7EE6-4342-B048-85BDC9FD1C3A}</a:tableStyleId>
              </a:tblPr>
              <a:tblGrid>
                <a:gridCol w="1778000"/>
                <a:gridCol w="1905000"/>
                <a:gridCol w="1778000"/>
                <a:gridCol w="1841500"/>
                <a:gridCol w="2032000"/>
              </a:tblGrid>
              <a:tr h="469900">
                <a:tc>
                  <a:txBody>
                    <a:bodyPr/>
                    <a:lstStyle/>
                    <a:p>
                      <a:pPr algn="ctr">
                        <a:defRPr sz="1050" b="1">
                          <a:solidFill>
                            <a:srgbClr val="FFFFFF"/>
                          </a:solidFill>
                          <a:latin typeface="Arial"/>
                        </a:defRPr>
                      </a:pPr>
                      <a:r>
                        <a:t>Trạm quan trắc</a:t>
                      </a:r>
                    </a:p>
                  </a:txBody>
                  <a:tcPr anchor="ctr">
                    <a:solidFill>
                      <a:srgbClr val="E74C3C"/>
                    </a:solidFill>
                  </a:tcPr>
                </a:tc>
                <a:tc>
                  <a:txBody>
                    <a:bodyPr/>
                    <a:lstStyle/>
                    <a:p>
                      <a:pPr algn="ctr">
                        <a:defRPr sz="1050" b="1">
                          <a:solidFill>
                            <a:srgbClr val="FFFFFF"/>
                          </a:solidFill>
                          <a:latin typeface="Arial"/>
                        </a:defRPr>
                      </a:pPr>
                      <a:r>
                        <a:t>Thời gian chờ mạng (I/O Wait)</a:t>
                      </a:r>
                    </a:p>
                  </a:txBody>
                  <a:tcPr anchor="ctr">
                    <a:solidFill>
                      <a:srgbClr val="E74C3C"/>
                    </a:solidFill>
                  </a:tcPr>
                </a:tc>
                <a:tc>
                  <a:txBody>
                    <a:bodyPr/>
                    <a:lstStyle/>
                    <a:p>
                      <a:pPr algn="ctr">
                        <a:defRPr sz="1050" b="1">
                          <a:solidFill>
                            <a:srgbClr val="FFFFFF"/>
                          </a:solidFill>
                          <a:latin typeface="Arial"/>
                        </a:defRPr>
                      </a:pPr>
                      <a:r>
                        <a:t>Thời gian CPU xử lý</a:t>
                      </a:r>
                    </a:p>
                  </a:txBody>
                  <a:tcPr anchor="ctr">
                    <a:solidFill>
                      <a:srgbClr val="E74C3C"/>
                    </a:solidFill>
                  </a:tcPr>
                </a:tc>
                <a:tc>
                  <a:txBody>
                    <a:bodyPr/>
                    <a:lstStyle/>
                    <a:p>
                      <a:pPr algn="ctr">
                        <a:defRPr sz="1050" b="1">
                          <a:solidFill>
                            <a:srgbClr val="FFFFFF"/>
                          </a:solidFill>
                          <a:latin typeface="Arial"/>
                        </a:defRPr>
                      </a:pPr>
                      <a:r>
                        <a:t>Trạng thái luồng OS</a:t>
                      </a:r>
                    </a:p>
                  </a:txBody>
                  <a:tcPr anchor="ctr">
                    <a:solidFill>
                      <a:srgbClr val="E74C3C"/>
                    </a:solidFill>
                  </a:tcPr>
                </a:tc>
                <a:tc>
                  <a:txBody>
                    <a:bodyPr/>
                    <a:lstStyle/>
                    <a:p>
                      <a:pPr algn="ctr">
                        <a:defRPr sz="1050" b="1">
                          <a:solidFill>
                            <a:srgbClr val="FFFFFF"/>
                          </a:solidFill>
                          <a:latin typeface="Arial"/>
                        </a:defRPr>
                      </a:pPr>
                      <a:r>
                        <a:t>Chu kỳ lệnh bị bỏ phí</a:t>
                      </a:r>
                    </a:p>
                  </a:txBody>
                  <a:tcPr anchor="ctr">
                    <a:solidFill>
                      <a:srgbClr val="E74C3C"/>
                    </a:solidFill>
                  </a:tcPr>
                </a:tc>
              </a:tr>
              <a:tr h="469900">
                <a:tc>
                  <a:txBody>
                    <a:bodyPr/>
                    <a:lstStyle/>
                    <a:p>
                      <a:pPr>
                        <a:defRPr sz="950">
                          <a:solidFill>
                            <a:srgbClr val="212F3D"/>
                          </a:solidFill>
                          <a:latin typeface="Arial"/>
                        </a:defRPr>
                      </a:pPr>
                      <a:r>
                        <a:t>STA-001 (Ninh Kiều)</a:t>
                      </a:r>
                    </a:p>
                  </a:txBody>
                  <a:tcPr anchor="ctr">
                    <a:solidFill>
                      <a:srgbClr val="FFFFFF"/>
                    </a:solidFill>
                  </a:tcPr>
                </a:tc>
                <a:tc>
                  <a:txBody>
                    <a:bodyPr/>
                    <a:lstStyle/>
                    <a:p>
                      <a:pPr>
                        <a:defRPr sz="950">
                          <a:solidFill>
                            <a:srgbClr val="212F3D"/>
                          </a:solidFill>
                          <a:latin typeface="Arial"/>
                        </a:defRPr>
                      </a:pPr>
                      <a:r>
                        <a:t>0.12 giây (Chờ gói tin mạng)</a:t>
                      </a:r>
                    </a:p>
                  </a:txBody>
                  <a:tcPr anchor="ctr">
                    <a:solidFill>
                      <a:srgbClr val="FFFFFF"/>
                    </a:solidFill>
                  </a:tcPr>
                </a:tc>
                <a:tc>
                  <a:txBody>
                    <a:bodyPr/>
                    <a:lstStyle/>
                    <a:p>
                      <a:pPr>
                        <a:defRPr sz="950">
                          <a:solidFill>
                            <a:srgbClr val="212F3D"/>
                          </a:solidFill>
                          <a:latin typeface="Arial"/>
                        </a:defRPr>
                      </a:pPr>
                      <a:r>
                        <a:t>0.03 giây (Tính AQI)</a:t>
                      </a:r>
                    </a:p>
                  </a:txBody>
                  <a:tcPr anchor="ctr">
                    <a:solidFill>
                      <a:srgbClr val="FFFFFF"/>
                    </a:solidFill>
                  </a:tcPr>
                </a:tc>
                <a:tc>
                  <a:txBody>
                    <a:bodyPr/>
                    <a:lstStyle/>
                    <a:p>
                      <a:pPr>
                        <a:defRPr sz="950">
                          <a:solidFill>
                            <a:srgbClr val="212F3D"/>
                          </a:solidFill>
                          <a:latin typeface="Arial"/>
                        </a:defRPr>
                      </a:pPr>
                      <a:r>
                        <a:t>BLOCKED ➔ RUNNING</a:t>
                      </a:r>
                    </a:p>
                  </a:txBody>
                  <a:tcPr anchor="ctr">
                    <a:solidFill>
                      <a:srgbClr val="FFFFFF"/>
                    </a:solidFill>
                  </a:tcPr>
                </a:tc>
                <a:tc>
                  <a:txBody>
                    <a:bodyPr/>
                    <a:lstStyle/>
                    <a:p>
                      <a:pPr>
                        <a:defRPr sz="950">
                          <a:solidFill>
                            <a:srgbClr val="212F3D"/>
                          </a:solidFill>
                          <a:latin typeface="Arial"/>
                        </a:defRPr>
                      </a:pPr>
                      <a:r>
                        <a:t>~ 360.000.000 chu kỳ</a:t>
                      </a:r>
                    </a:p>
                  </a:txBody>
                  <a:tcPr anchor="ctr">
                    <a:solidFill>
                      <a:srgbClr val="FFFFFF"/>
                    </a:solidFill>
                  </a:tcPr>
                </a:tc>
              </a:tr>
              <a:tr h="469900">
                <a:tc>
                  <a:txBody>
                    <a:bodyPr/>
                    <a:lstStyle/>
                    <a:p>
                      <a:pPr>
                        <a:defRPr sz="950">
                          <a:solidFill>
                            <a:srgbClr val="212F3D"/>
                          </a:solidFill>
                          <a:latin typeface="Arial"/>
                        </a:defRPr>
                      </a:pPr>
                      <a:r>
                        <a:t>STA-002 (Cái Răng)</a:t>
                      </a:r>
                    </a:p>
                  </a:txBody>
                  <a:tcPr anchor="ctr">
                    <a:solidFill>
                      <a:srgbClr val="F8F9FA"/>
                    </a:solidFill>
                  </a:tcPr>
                </a:tc>
                <a:tc>
                  <a:txBody>
                    <a:bodyPr/>
                    <a:lstStyle/>
                    <a:p>
                      <a:pPr>
                        <a:defRPr sz="950">
                          <a:solidFill>
                            <a:srgbClr val="212F3D"/>
                          </a:solidFill>
                          <a:latin typeface="Arial"/>
                        </a:defRPr>
                      </a:pPr>
                      <a:r>
                        <a:t>0.12 giây (Chờ gói tin mạng)</a:t>
                      </a:r>
                    </a:p>
                  </a:txBody>
                  <a:tcPr anchor="ctr">
                    <a:solidFill>
                      <a:srgbClr val="F8F9FA"/>
                    </a:solidFill>
                  </a:tcPr>
                </a:tc>
                <a:tc>
                  <a:txBody>
                    <a:bodyPr/>
                    <a:lstStyle/>
                    <a:p>
                      <a:pPr>
                        <a:defRPr sz="950">
                          <a:solidFill>
                            <a:srgbClr val="212F3D"/>
                          </a:solidFill>
                          <a:latin typeface="Arial"/>
                        </a:defRPr>
                      </a:pPr>
                      <a:r>
                        <a:t>0.03 giây (Tính AQI)</a:t>
                      </a:r>
                    </a:p>
                  </a:txBody>
                  <a:tcPr anchor="ctr">
                    <a:solidFill>
                      <a:srgbClr val="F8F9FA"/>
                    </a:solidFill>
                  </a:tcPr>
                </a:tc>
                <a:tc>
                  <a:txBody>
                    <a:bodyPr/>
                    <a:lstStyle/>
                    <a:p>
                      <a:pPr>
                        <a:defRPr sz="950">
                          <a:solidFill>
                            <a:srgbClr val="212F3D"/>
                          </a:solidFill>
                          <a:latin typeface="Arial"/>
                        </a:defRPr>
                      </a:pPr>
                      <a:r>
                        <a:t>BLOCKED ➔ RUNNING</a:t>
                      </a:r>
                    </a:p>
                  </a:txBody>
                  <a:tcPr anchor="ctr">
                    <a:solidFill>
                      <a:srgbClr val="F8F9FA"/>
                    </a:solidFill>
                  </a:tcPr>
                </a:tc>
                <a:tc>
                  <a:txBody>
                    <a:bodyPr/>
                    <a:lstStyle/>
                    <a:p>
                      <a:pPr>
                        <a:defRPr sz="950">
                          <a:solidFill>
                            <a:srgbClr val="212F3D"/>
                          </a:solidFill>
                          <a:latin typeface="Arial"/>
                        </a:defRPr>
                      </a:pPr>
                      <a:r>
                        <a:t>~ 360.000.000 chu kỳ</a:t>
                      </a:r>
                    </a:p>
                  </a:txBody>
                  <a:tcPr anchor="ctr">
                    <a:solidFill>
                      <a:srgbClr val="F8F9FA"/>
                    </a:solidFill>
                  </a:tcPr>
                </a:tc>
              </a:tr>
              <a:tr h="469900">
                <a:tc>
                  <a:txBody>
                    <a:bodyPr/>
                    <a:lstStyle/>
                    <a:p>
                      <a:pPr>
                        <a:defRPr sz="950">
                          <a:solidFill>
                            <a:srgbClr val="212F3D"/>
                          </a:solidFill>
                          <a:latin typeface="Arial"/>
                        </a:defRPr>
                      </a:pPr>
                      <a:r>
                        <a:t>STA-003 (Bình Thủy)</a:t>
                      </a:r>
                    </a:p>
                  </a:txBody>
                  <a:tcPr anchor="ctr">
                    <a:solidFill>
                      <a:srgbClr val="FFFFFF"/>
                    </a:solidFill>
                  </a:tcPr>
                </a:tc>
                <a:tc>
                  <a:txBody>
                    <a:bodyPr/>
                    <a:lstStyle/>
                    <a:p>
                      <a:pPr>
                        <a:defRPr sz="950">
                          <a:solidFill>
                            <a:srgbClr val="212F3D"/>
                          </a:solidFill>
                          <a:latin typeface="Arial"/>
                        </a:defRPr>
                      </a:pPr>
                      <a:r>
                        <a:t>0.12 giây (Chờ gói tin mạng)</a:t>
                      </a:r>
                    </a:p>
                  </a:txBody>
                  <a:tcPr anchor="ctr">
                    <a:solidFill>
                      <a:srgbClr val="FFFFFF"/>
                    </a:solidFill>
                  </a:tcPr>
                </a:tc>
                <a:tc>
                  <a:txBody>
                    <a:bodyPr/>
                    <a:lstStyle/>
                    <a:p>
                      <a:pPr>
                        <a:defRPr sz="950">
                          <a:solidFill>
                            <a:srgbClr val="212F3D"/>
                          </a:solidFill>
                          <a:latin typeface="Arial"/>
                        </a:defRPr>
                      </a:pPr>
                      <a:r>
                        <a:t>0.03 giây (Tính AQI)</a:t>
                      </a:r>
                    </a:p>
                  </a:txBody>
                  <a:tcPr anchor="ctr">
                    <a:solidFill>
                      <a:srgbClr val="FFFFFF"/>
                    </a:solidFill>
                  </a:tcPr>
                </a:tc>
                <a:tc>
                  <a:txBody>
                    <a:bodyPr/>
                    <a:lstStyle/>
                    <a:p>
                      <a:pPr>
                        <a:defRPr sz="950">
                          <a:solidFill>
                            <a:srgbClr val="212F3D"/>
                          </a:solidFill>
                          <a:latin typeface="Arial"/>
                        </a:defRPr>
                      </a:pPr>
                      <a:r>
                        <a:t>BLOCKED ➔ RUNNING</a:t>
                      </a:r>
                    </a:p>
                  </a:txBody>
                  <a:tcPr anchor="ctr">
                    <a:solidFill>
                      <a:srgbClr val="FFFFFF"/>
                    </a:solidFill>
                  </a:tcPr>
                </a:tc>
                <a:tc>
                  <a:txBody>
                    <a:bodyPr/>
                    <a:lstStyle/>
                    <a:p>
                      <a:pPr>
                        <a:defRPr sz="950">
                          <a:solidFill>
                            <a:srgbClr val="212F3D"/>
                          </a:solidFill>
                          <a:latin typeface="Arial"/>
                        </a:defRPr>
                      </a:pPr>
                      <a:r>
                        <a:t>~ 360.000.000 chu kỳ</a:t>
                      </a:r>
                    </a:p>
                  </a:txBody>
                  <a:tcPr anchor="ctr">
                    <a:solidFill>
                      <a:srgbClr val="FFFFFF"/>
                    </a:solidFill>
                  </a:tcPr>
                </a:tc>
              </a:tr>
              <a:tr h="469900">
                <a:tc>
                  <a:txBody>
                    <a:bodyPr/>
                    <a:lstStyle/>
                    <a:p>
                      <a:pPr>
                        <a:defRPr sz="950">
                          <a:solidFill>
                            <a:srgbClr val="212F3D"/>
                          </a:solidFill>
                          <a:latin typeface="Arial"/>
                        </a:defRPr>
                      </a:pPr>
                      <a:r>
                        <a:t>Tổng cộng 8 trạm</a:t>
                      </a:r>
                    </a:p>
                  </a:txBody>
                  <a:tcPr anchor="ctr">
                    <a:solidFill>
                      <a:srgbClr val="F8F9FA"/>
                    </a:solidFill>
                  </a:tcPr>
                </a:tc>
                <a:tc>
                  <a:txBody>
                    <a:bodyPr/>
                    <a:lstStyle/>
                    <a:p>
                      <a:pPr>
                        <a:defRPr sz="950">
                          <a:solidFill>
                            <a:srgbClr val="212F3D"/>
                          </a:solidFill>
                          <a:latin typeface="Arial"/>
                        </a:defRPr>
                      </a:pPr>
                      <a:r>
                        <a:t>0.96 giây (Chiếm 80.0%)</a:t>
                      </a:r>
                    </a:p>
                  </a:txBody>
                  <a:tcPr anchor="ctr">
                    <a:solidFill>
                      <a:srgbClr val="F8F9FA"/>
                    </a:solidFill>
                  </a:tcPr>
                </a:tc>
                <a:tc>
                  <a:txBody>
                    <a:bodyPr/>
                    <a:lstStyle/>
                    <a:p>
                      <a:pPr>
                        <a:defRPr sz="950">
                          <a:solidFill>
                            <a:srgbClr val="212F3D"/>
                          </a:solidFill>
                          <a:latin typeface="Arial"/>
                        </a:defRPr>
                      </a:pPr>
                      <a:r>
                        <a:t>0.24 giây (Chiếm 20.0%)</a:t>
                      </a:r>
                    </a:p>
                  </a:txBody>
                  <a:tcPr anchor="ctr">
                    <a:solidFill>
                      <a:srgbClr val="F8F9FA"/>
                    </a:solidFill>
                  </a:tcPr>
                </a:tc>
                <a:tc>
                  <a:txBody>
                    <a:bodyPr/>
                    <a:lstStyle/>
                    <a:p>
                      <a:pPr>
                        <a:defRPr sz="950">
                          <a:solidFill>
                            <a:srgbClr val="212F3D"/>
                          </a:solidFill>
                          <a:latin typeface="Arial"/>
                        </a:defRPr>
                      </a:pPr>
                      <a:r>
                        <a:t>Tổng thời gian: 1.20s</a:t>
                      </a:r>
                    </a:p>
                  </a:txBody>
                  <a:tcPr anchor="ctr">
                    <a:solidFill>
                      <a:srgbClr val="F8F9FA"/>
                    </a:solidFill>
                  </a:tcPr>
                </a:tc>
                <a:tc>
                  <a:txBody>
                    <a:bodyPr/>
                    <a:lstStyle/>
                    <a:p>
                      <a:pPr>
                        <a:defRPr sz="950">
                          <a:solidFill>
                            <a:srgbClr val="212F3D"/>
                          </a:solidFill>
                          <a:latin typeface="Arial"/>
                        </a:defRPr>
                      </a:pPr>
                      <a:r>
                        <a:t>Gần 3 TỶ CHU KỲ LÃNG PHÍ!</a:t>
                      </a:r>
                    </a:p>
                  </a:txBody>
                  <a:tcPr anchor="ctr">
                    <a:solidFill>
                      <a:srgbClr val="F8F9FA"/>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79832"/>
            <a:ext cx="9720072" cy="126034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wrap="square" lIns="359918"/>
          <a:lstStyle/>
          <a:p>
            <a:pPr algn="ctr">
              <a:defRPr sz="2500" b="1">
                <a:solidFill>
                  <a:srgbClr val="FFFFFF"/>
                </a:solidFill>
                <a:latin typeface="Arial"/>
              </a:defRPr>
            </a:pPr>
            <a:r>
              <a:t>NGHỆ THUẬT ĐIỀU PHỐI</a:t>
            </a:r>
          </a:p>
        </p:txBody>
      </p:sp>
      <p:sp>
        <p:nvSpPr>
          <p:cNvPr id="3" name="Rectangle 2"/>
          <p:cNvSpPr/>
          <p:nvPr/>
        </p:nvSpPr>
        <p:spPr>
          <a:xfrm>
            <a:off x="179832" y="6839711"/>
            <a:ext cx="539496"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rial"/>
              </a:defRPr>
            </a:pPr>
            <a:r>
              <a:t>5</a:t>
            </a:r>
          </a:p>
        </p:txBody>
      </p:sp>
      <p:sp>
        <p:nvSpPr>
          <p:cNvPr id="4" name="Rectangle 3"/>
          <p:cNvSpPr/>
          <p:nvPr/>
        </p:nvSpPr>
        <p:spPr>
          <a:xfrm>
            <a:off x="900684" y="6839711"/>
            <a:ext cx="6480048" cy="541020"/>
          </a:xfrm>
          <a:prstGeom prst="rect">
            <a:avLst/>
          </a:prstGeom>
          <a:solidFill>
            <a:srgbClr val="BDC3C7"/>
          </a:solidFill>
          <a:ln>
            <a:noFill/>
          </a:ln>
        </p:spPr>
        <p:style>
          <a:lnRef idx="1">
            <a:schemeClr val="accent1"/>
          </a:lnRef>
          <a:fillRef idx="3">
            <a:schemeClr val="accent1"/>
          </a:fillRef>
          <a:effectRef idx="2">
            <a:schemeClr val="accent1"/>
          </a:effectRef>
          <a:fontRef idx="minor">
            <a:schemeClr val="lt1"/>
          </a:fontRef>
        </p:style>
        <p:txBody>
          <a:bodyPr rtlCol="0" anchor="ctr" lIns="190500"/>
          <a:lstStyle/>
          <a:p>
            <a:pPr algn="ctr">
              <a:defRPr sz="1200">
                <a:solidFill>
                  <a:srgbClr val="2C3E50"/>
                </a:solidFill>
                <a:latin typeface="Arial"/>
              </a:defRPr>
            </a:pPr>
            <a:r>
              <a:t>Tính toán Đồng thời (Concurrency) &amp; Sự Tiến triển</a:t>
            </a:r>
          </a:p>
        </p:txBody>
      </p:sp>
      <p:sp>
        <p:nvSpPr>
          <p:cNvPr id="5" name="Rectangle 4"/>
          <p:cNvSpPr/>
          <p:nvPr/>
        </p:nvSpPr>
        <p:spPr>
          <a:xfrm>
            <a:off x="7560564" y="6839711"/>
            <a:ext cx="2519172"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01 - 2026</a:t>
            </a:r>
          </a:p>
        </p:txBody>
      </p:sp>
      <p:sp>
        <p:nvSpPr>
          <p:cNvPr id="6" name="TextBox 5"/>
          <p:cNvSpPr txBox="1"/>
          <p:nvPr/>
        </p:nvSpPr>
        <p:spPr>
          <a:xfrm>
            <a:off x="359918" y="1549400"/>
            <a:ext cx="9334500" cy="406400"/>
          </a:xfrm>
          <a:prstGeom prst="rect">
            <a:avLst/>
          </a:prstGeom>
          <a:noFill/>
        </p:spPr>
        <p:txBody>
          <a:bodyPr wrap="square" tIns="0" lIns="0">
            <a:spAutoFit/>
          </a:bodyPr>
          <a:lstStyle/>
          <a:p>
            <a:pPr>
              <a:defRPr sz="1700" b="1">
                <a:solidFill>
                  <a:srgbClr val="2C3E50"/>
                </a:solidFill>
                <a:latin typeface="Arial"/>
              </a:defRPr>
            </a:pPr>
            <a:r>
              <a:t>➢ Quản lý nhiều tác vụ cùng có tiến triển trên tài nguyên hạn chế</a:t>
            </a:r>
          </a:p>
        </p:txBody>
      </p:sp>
      <p:sp>
        <p:nvSpPr>
          <p:cNvPr id="7" name="TextBox 6"/>
          <p:cNvSpPr txBox="1"/>
          <p:nvPr/>
        </p:nvSpPr>
        <p:spPr>
          <a:xfrm>
            <a:off x="359918" y="1905000"/>
            <a:ext cx="9334500" cy="2095500"/>
          </a:xfrm>
          <a:prstGeom prst="rect">
            <a:avLst/>
          </a:prstGeom>
          <a:noFill/>
        </p:spPr>
        <p:txBody>
          <a:bodyPr wrap="square" tIns="0" lIns="0">
            <a:spAutoFit/>
          </a:bodyPr>
          <a:lstStyle/>
          <a:p>
            <a:pPr>
              <a:spcBef>
                <a:spcPts val="200"/>
              </a:spcBef>
              <a:spcAft>
                <a:spcPts val="500"/>
              </a:spcAft>
            </a:pPr>
            <a:r>
              <a:rPr sz="1150" b="1">
                <a:solidFill>
                  <a:srgbClr val="2C3E50"/>
                </a:solidFill>
                <a:latin typeface="Arial"/>
              </a:rPr>
              <a:t>□ Định nghĩa học thuật chuẩn xác: </a:t>
            </a:r>
            <a:r>
              <a:rPr sz="1150">
                <a:solidFill>
                  <a:srgbClr val="212F3D"/>
                </a:solidFill>
                <a:latin typeface="Arial"/>
              </a:rPr>
              <a:t>Concurrency là khả năng của một hệ thống trong việc cấu trúc, phân chia và điều phối nhiều tác vụ độc lập sao cho chúng CÙNG CÓ TIẾN TRIỂN (making progress) trong một khoảng thời gian.</a:t>
            </a:r>
          </a:p>
          <a:p>
            <a:pPr>
              <a:spcBef>
                <a:spcPts val="200"/>
              </a:spcBef>
              <a:spcAft>
                <a:spcPts val="500"/>
              </a:spcAft>
            </a:pPr>
            <a:r>
              <a:rPr sz="1150" b="1">
                <a:solidFill>
                  <a:srgbClr val="2C3E50"/>
                </a:solidFill>
                <a:latin typeface="Arial"/>
              </a:rPr>
              <a:t>□ Phát biểu kinh điển của Rob Pike: </a:t>
            </a:r>
            <a:r>
              <a:rPr sz="1150">
                <a:solidFill>
                  <a:srgbClr val="212F3D"/>
                </a:solidFill>
                <a:latin typeface="Arial"/>
              </a:rPr>
              <a:t>"Concurrency is about DEALING with lots of things at once. Parallelism is about DOING lots of things at once." — Concurrency là cách tổ chức cấu trúc của chương trình, không phải là thuộc tính phần cứng!</a:t>
            </a:r>
          </a:p>
          <a:p>
            <a:pPr>
              <a:spcBef>
                <a:spcPts val="200"/>
              </a:spcBef>
              <a:spcAft>
                <a:spcPts val="500"/>
              </a:spcAft>
            </a:pPr>
            <a:r>
              <a:rPr sz="1150" b="1">
                <a:solidFill>
                  <a:srgbClr val="2C3E50"/>
                </a:solidFill>
                <a:latin typeface="Arial"/>
              </a:rPr>
              <a:t>□ Ẩn dụ thực tế: Người đầu bếp một bếp: </a:t>
            </a:r>
            <a:r>
              <a:rPr sz="1150">
                <a:solidFill>
                  <a:srgbClr val="212F3D"/>
                </a:solidFill>
                <a:latin typeface="Arial"/>
              </a:rPr>
              <a:t>Một đầu bếp phục vụ 4 món ăn bằng cách: đặt ấm nước lên đun (I/O wait), trong lúc chờ nước sôi quay sang thái thịt (CPU), rồi chuyển sang xào rau. Tại mỗi thời điểm vi mô đầu bếp chỉ làm 1 việc, nhưng cả 4 món đều đang tiến triển!</a:t>
            </a:r>
          </a:p>
        </p:txBody>
      </p:sp>
      <p:sp>
        <p:nvSpPr>
          <p:cNvPr id="8" name="Rounded Rectangle 7"/>
          <p:cNvSpPr/>
          <p:nvPr/>
        </p:nvSpPr>
        <p:spPr>
          <a:xfrm>
            <a:off x="359918" y="4254500"/>
            <a:ext cx="9334500" cy="2286000"/>
          </a:xfrm>
          <a:prstGeom prst="roundRect">
            <a:avLst/>
          </a:prstGeom>
          <a:solidFill>
            <a:srgbClr val="F8F9FA"/>
          </a:solidFill>
          <a:ln w="15240">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wrap="square" tIns="101600" lIns="152400" rIns="152400" bIns="101600"/>
          <a:lstStyle/>
          <a:p>
            <a:pPr algn="ctr">
              <a:spcAft>
                <a:spcPts val="400"/>
              </a:spcAft>
              <a:defRPr sz="1150" b="1">
                <a:solidFill>
                  <a:srgbClr val="2C3E50"/>
                </a:solidFill>
                <a:latin typeface="Arial"/>
              </a:defRPr>
            </a:pPr>
            <a:r>
              <a:t>CƠ CHẾ LẬP LỊCH XEN KẼ (INTERLEAVING / TIME-SLICING)</a:t>
            </a:r>
          </a:p>
          <a:p>
            <a:pPr>
              <a:spcAft>
                <a:spcPts val="300"/>
              </a:spcAft>
              <a:defRPr sz="1000">
                <a:solidFill>
                  <a:srgbClr val="212F3D"/>
                </a:solidFill>
                <a:latin typeface="Arial"/>
              </a:defRPr>
            </a:pPr>
            <a:r>
              <a:rPr b="1">
                <a:solidFill>
                  <a:srgbClr val="2C3E50"/>
                </a:solidFill>
              </a:rPr>
              <a:t>• Chia nhỏ lát thời gian: </a:t>
            </a:r>
            <a:r>
              <a:rPr>
                <a:solidFill>
                  <a:srgbClr val="212F3D"/>
                </a:solidFill>
              </a:rPr>
              <a:t>Hệ thống băm nhỏ công việc thành nhiều lát thời gian (Time slices) cực ngắn cỡ mili-giây.</a:t>
            </a:r>
          </a:p>
          <a:p>
            <a:pPr>
              <a:spcAft>
                <a:spcPts val="300"/>
              </a:spcAft>
              <a:defRPr sz="1000">
                <a:solidFill>
                  <a:srgbClr val="212F3D"/>
                </a:solidFill>
                <a:latin typeface="Arial"/>
              </a:defRPr>
            </a:pPr>
            <a:r>
              <a:rPr b="1">
                <a:solidFill>
                  <a:srgbClr val="2C3E50"/>
                </a:solidFill>
              </a:rPr>
              <a:t>• Tận dụng khoảng chờ: </a:t>
            </a:r>
            <a:r>
              <a:rPr>
                <a:solidFill>
                  <a:srgbClr val="212F3D"/>
                </a:solidFill>
              </a:rPr>
              <a:t>Ngay khi Trạm 1 chờ gói tin mạng, CPU lập tức chuyển ngữ cảnh sang xử lý tính toán cho Trạm 2.</a:t>
            </a:r>
          </a:p>
          <a:p>
            <a:pPr>
              <a:spcAft>
                <a:spcPts val="300"/>
              </a:spcAft>
              <a:defRPr sz="1000">
                <a:solidFill>
                  <a:srgbClr val="212F3D"/>
                </a:solidFill>
                <a:latin typeface="Arial"/>
              </a:defRPr>
            </a:pPr>
            <a:r>
              <a:rPr b="1">
                <a:solidFill>
                  <a:srgbClr val="2C3E50"/>
                </a:solidFill>
              </a:rPr>
              <a:t>• Quy tắc vật lý vi mô: </a:t>
            </a:r>
            <a:r>
              <a:rPr>
                <a:solidFill>
                  <a:srgbClr val="212F3D"/>
                </a:solidFill>
              </a:rPr>
              <a:t>Trên một nhân CPU đơn lẻ tại một thời điểm vi mô, CPU vẫn chỉ thực thi chỉ thị của duy nhất 1 tác vụ!</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79832"/>
            <a:ext cx="9720072" cy="126034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wrap="square" lIns="359918"/>
          <a:lstStyle/>
          <a:p>
            <a:pPr algn="ctr">
              <a:defRPr sz="2500" b="1">
                <a:solidFill>
                  <a:srgbClr val="FFFFFF"/>
                </a:solidFill>
                <a:latin typeface="Arial"/>
              </a:defRPr>
            </a:pPr>
            <a:r>
              <a:t>THỰC THI ĐA NHÂN</a:t>
            </a:r>
          </a:p>
        </p:txBody>
      </p:sp>
      <p:sp>
        <p:nvSpPr>
          <p:cNvPr id="3" name="Rectangle 2"/>
          <p:cNvSpPr/>
          <p:nvPr/>
        </p:nvSpPr>
        <p:spPr>
          <a:xfrm>
            <a:off x="179832" y="6839711"/>
            <a:ext cx="539496"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rial"/>
              </a:defRPr>
            </a:pPr>
            <a:r>
              <a:t>6</a:t>
            </a:r>
          </a:p>
        </p:txBody>
      </p:sp>
      <p:sp>
        <p:nvSpPr>
          <p:cNvPr id="4" name="Rectangle 3"/>
          <p:cNvSpPr/>
          <p:nvPr/>
        </p:nvSpPr>
        <p:spPr>
          <a:xfrm>
            <a:off x="900684" y="6839711"/>
            <a:ext cx="6480048" cy="541020"/>
          </a:xfrm>
          <a:prstGeom prst="rect">
            <a:avLst/>
          </a:prstGeom>
          <a:solidFill>
            <a:srgbClr val="BDC3C7"/>
          </a:solidFill>
          <a:ln>
            <a:noFill/>
          </a:ln>
        </p:spPr>
        <p:style>
          <a:lnRef idx="1">
            <a:schemeClr val="accent1"/>
          </a:lnRef>
          <a:fillRef idx="3">
            <a:schemeClr val="accent1"/>
          </a:fillRef>
          <a:effectRef idx="2">
            <a:schemeClr val="accent1"/>
          </a:effectRef>
          <a:fontRef idx="minor">
            <a:schemeClr val="lt1"/>
          </a:fontRef>
        </p:style>
        <p:txBody>
          <a:bodyPr rtlCol="0" anchor="ctr" lIns="190500"/>
          <a:lstStyle/>
          <a:p>
            <a:pPr algn="ctr">
              <a:defRPr sz="1200">
                <a:solidFill>
                  <a:srgbClr val="2C3E50"/>
                </a:solidFill>
                <a:latin typeface="Arial"/>
              </a:defRPr>
            </a:pPr>
            <a:r>
              <a:t>Tính toán Song song (Parallelism): Sức mạnh Đa lõi</a:t>
            </a:r>
          </a:p>
        </p:txBody>
      </p:sp>
      <p:sp>
        <p:nvSpPr>
          <p:cNvPr id="5" name="Rectangle 4"/>
          <p:cNvSpPr/>
          <p:nvPr/>
        </p:nvSpPr>
        <p:spPr>
          <a:xfrm>
            <a:off x="7560564" y="6839711"/>
            <a:ext cx="2519172"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01 - 2026</a:t>
            </a:r>
          </a:p>
        </p:txBody>
      </p:sp>
      <p:sp>
        <p:nvSpPr>
          <p:cNvPr id="6" name="TextBox 5"/>
          <p:cNvSpPr txBox="1"/>
          <p:nvPr/>
        </p:nvSpPr>
        <p:spPr>
          <a:xfrm>
            <a:off x="359918" y="1549400"/>
            <a:ext cx="9334500" cy="406400"/>
          </a:xfrm>
          <a:prstGeom prst="rect">
            <a:avLst/>
          </a:prstGeom>
          <a:noFill/>
        </p:spPr>
        <p:txBody>
          <a:bodyPr wrap="square" tIns="0" lIns="0">
            <a:spAutoFit/>
          </a:bodyPr>
          <a:lstStyle/>
          <a:p>
            <a:pPr>
              <a:defRPr sz="1700" b="1">
                <a:solidFill>
                  <a:srgbClr val="2C3E50"/>
                </a:solidFill>
                <a:latin typeface="Arial"/>
              </a:defRPr>
            </a:pPr>
            <a:r>
              <a:t>➢ Thực thi đồng thời vật lý tại cùng thời điểm trên nhiều nhân phần cứng</a:t>
            </a:r>
          </a:p>
        </p:txBody>
      </p:sp>
      <p:sp>
        <p:nvSpPr>
          <p:cNvPr id="7" name="TextBox 6"/>
          <p:cNvSpPr txBox="1"/>
          <p:nvPr/>
        </p:nvSpPr>
        <p:spPr>
          <a:xfrm>
            <a:off x="359918" y="1905000"/>
            <a:ext cx="9334500" cy="1841500"/>
          </a:xfrm>
          <a:prstGeom prst="rect">
            <a:avLst/>
          </a:prstGeom>
          <a:noFill/>
        </p:spPr>
        <p:txBody>
          <a:bodyPr wrap="square" tIns="0" lIns="0">
            <a:spAutoFit/>
          </a:bodyPr>
          <a:lstStyle/>
          <a:p>
            <a:pPr>
              <a:spcBef>
                <a:spcPts val="200"/>
              </a:spcBef>
              <a:spcAft>
                <a:spcPts val="500"/>
              </a:spcAft>
            </a:pPr>
            <a:r>
              <a:rPr sz="1150" b="1">
                <a:solidFill>
                  <a:srgbClr val="2C3E50"/>
                </a:solidFill>
                <a:latin typeface="Arial"/>
              </a:rPr>
              <a:t>□ Định nghĩa học thuật chuẩn xác: </a:t>
            </a:r>
            <a:r>
              <a:rPr sz="1150">
                <a:solidFill>
                  <a:srgbClr val="212F3D"/>
                </a:solidFill>
                <a:latin typeface="Arial"/>
              </a:rPr>
              <a:t>Parallelism là trạng thái mà nhiều lệnh hoặc tác vụ khác nhau được thi hành ĐỒNG THỜI VẬT LÝ tại CÙNG MỘT THỜI ĐIỂM (physically simultaneous execution) trên các đơn vị phần cứng độc lập.</a:t>
            </a:r>
          </a:p>
          <a:p>
            <a:pPr>
              <a:spcBef>
                <a:spcPts val="200"/>
              </a:spcBef>
              <a:spcAft>
                <a:spcPts val="500"/>
              </a:spcAft>
            </a:pPr>
            <a:r>
              <a:rPr sz="1150" b="1">
                <a:solidFill>
                  <a:srgbClr val="2C3E50"/>
                </a:solidFill>
                <a:latin typeface="Arial"/>
              </a:rPr>
              <a:t>□ Điều kiện phần cứng bắt buộc: </a:t>
            </a:r>
            <a:r>
              <a:rPr sz="1150">
                <a:solidFill>
                  <a:srgbClr val="212F3D"/>
                </a:solidFill>
                <a:latin typeface="Arial"/>
              </a:rPr>
              <a:t>Chỉ có thể đạt được khi hệ thống sở hữu nhiều nhân CPU vật lý (Multi-core), nhiều socket vi xử lý, hoặc hàng nghìn lõi tính toán GPU.</a:t>
            </a:r>
          </a:p>
          <a:p>
            <a:pPr>
              <a:spcBef>
                <a:spcPts val="200"/>
              </a:spcBef>
              <a:spcAft>
                <a:spcPts val="500"/>
              </a:spcAft>
            </a:pPr>
            <a:r>
              <a:rPr sz="1150" b="1">
                <a:solidFill>
                  <a:srgbClr val="2C3E50"/>
                </a:solidFill>
                <a:latin typeface="Arial"/>
              </a:rPr>
              <a:t>□ So sánh trực quan 4 tác vụ A–D: </a:t>
            </a:r>
            <a:r>
              <a:rPr sz="1150">
                <a:solidFill>
                  <a:srgbClr val="212F3D"/>
                </a:solidFill>
                <a:latin typeface="Arial"/>
              </a:rPr>
              <a:t>Tuần tự: 1 nhân làm lần lượt A➔B➔C➔D | Đồng thời: 1 nhân xen kẽ các lát của A, B, C, D | Song song: 4 nhân riêng biệt chạy A, B, C, D cùng lúc t0.</a:t>
            </a:r>
          </a:p>
        </p:txBody>
      </p:sp>
      <p:pic>
        <p:nvPicPr>
          <p:cNvPr id="8" name="Picture 7" descr="diag_s2_compare_3_timelines.png"/>
          <p:cNvPicPr>
            <a:picLocks noChangeAspect="1"/>
          </p:cNvPicPr>
          <p:nvPr/>
        </p:nvPicPr>
        <p:blipFill>
          <a:blip r:embed="rId2"/>
          <a:stretch>
            <a:fillRect/>
          </a:stretch>
        </p:blipFill>
        <p:spPr>
          <a:xfrm>
            <a:off x="359918" y="3873500"/>
            <a:ext cx="9334500" cy="27305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79832"/>
            <a:ext cx="9720072" cy="126034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wrap="square" lIns="359918"/>
          <a:lstStyle/>
          <a:p>
            <a:pPr algn="ctr">
              <a:defRPr sz="2500" b="1">
                <a:solidFill>
                  <a:srgbClr val="FFFFFF"/>
                </a:solidFill>
                <a:latin typeface="Arial"/>
              </a:defRPr>
            </a:pPr>
            <a:r>
              <a:t>GÓC NHÌN HỆ THỐNG</a:t>
            </a:r>
          </a:p>
        </p:txBody>
      </p:sp>
      <p:sp>
        <p:nvSpPr>
          <p:cNvPr id="3" name="Rectangle 2"/>
          <p:cNvSpPr/>
          <p:nvPr/>
        </p:nvSpPr>
        <p:spPr>
          <a:xfrm>
            <a:off x="179832" y="6839711"/>
            <a:ext cx="539496"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rial"/>
              </a:defRPr>
            </a:pPr>
            <a:r>
              <a:t>7</a:t>
            </a:r>
          </a:p>
        </p:txBody>
      </p:sp>
      <p:sp>
        <p:nvSpPr>
          <p:cNvPr id="4" name="Rectangle 3"/>
          <p:cNvSpPr/>
          <p:nvPr/>
        </p:nvSpPr>
        <p:spPr>
          <a:xfrm>
            <a:off x="900684" y="6839711"/>
            <a:ext cx="6480048" cy="541020"/>
          </a:xfrm>
          <a:prstGeom prst="rect">
            <a:avLst/>
          </a:prstGeom>
          <a:solidFill>
            <a:srgbClr val="BDC3C7"/>
          </a:solidFill>
          <a:ln>
            <a:noFill/>
          </a:ln>
        </p:spPr>
        <p:style>
          <a:lnRef idx="1">
            <a:schemeClr val="accent1"/>
          </a:lnRef>
          <a:fillRef idx="3">
            <a:schemeClr val="accent1"/>
          </a:fillRef>
          <a:effectRef idx="2">
            <a:schemeClr val="accent1"/>
          </a:effectRef>
          <a:fontRef idx="minor">
            <a:schemeClr val="lt1"/>
          </a:fontRef>
        </p:style>
        <p:txBody>
          <a:bodyPr rtlCol="0" anchor="ctr" lIns="190500"/>
          <a:lstStyle/>
          <a:p>
            <a:pPr algn="ctr">
              <a:defRPr sz="1200">
                <a:solidFill>
                  <a:srgbClr val="2C3E50"/>
                </a:solidFill>
                <a:latin typeface="Arial"/>
              </a:defRPr>
            </a:pPr>
            <a:r>
              <a:t>Đa nhân Song song vs Hệ thống Phân tán (Distributed)</a:t>
            </a:r>
          </a:p>
        </p:txBody>
      </p:sp>
      <p:sp>
        <p:nvSpPr>
          <p:cNvPr id="5" name="Rectangle 4"/>
          <p:cNvSpPr/>
          <p:nvPr/>
        </p:nvSpPr>
        <p:spPr>
          <a:xfrm>
            <a:off x="7560564" y="6839711"/>
            <a:ext cx="2519172"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01 - 2026</a:t>
            </a:r>
          </a:p>
        </p:txBody>
      </p:sp>
      <p:sp>
        <p:nvSpPr>
          <p:cNvPr id="6" name="TextBox 5"/>
          <p:cNvSpPr txBox="1"/>
          <p:nvPr/>
        </p:nvSpPr>
        <p:spPr>
          <a:xfrm>
            <a:off x="359918" y="1549400"/>
            <a:ext cx="9334500" cy="406400"/>
          </a:xfrm>
          <a:prstGeom prst="rect">
            <a:avLst/>
          </a:prstGeom>
          <a:noFill/>
        </p:spPr>
        <p:txBody>
          <a:bodyPr wrap="square" tIns="0" lIns="0">
            <a:spAutoFit/>
          </a:bodyPr>
          <a:lstStyle/>
          <a:p>
            <a:pPr>
              <a:defRPr sz="1700" b="1">
                <a:solidFill>
                  <a:srgbClr val="2C3E50"/>
                </a:solidFill>
                <a:latin typeface="Arial"/>
              </a:defRPr>
            </a:pPr>
            <a:r>
              <a:t>➢ Phân tầng kiến trúc: Từ một vi xử lý đến cụm máy chủ phân tán</a:t>
            </a:r>
          </a:p>
        </p:txBody>
      </p:sp>
      <p:sp>
        <p:nvSpPr>
          <p:cNvPr id="7" name="TextBox 6"/>
          <p:cNvSpPr txBox="1"/>
          <p:nvPr/>
        </p:nvSpPr>
        <p:spPr>
          <a:xfrm>
            <a:off x="359918" y="1905000"/>
            <a:ext cx="9334500" cy="1524000"/>
          </a:xfrm>
          <a:prstGeom prst="rect">
            <a:avLst/>
          </a:prstGeom>
          <a:noFill/>
        </p:spPr>
        <p:txBody>
          <a:bodyPr wrap="square" tIns="0" lIns="0">
            <a:spAutoFit/>
          </a:bodyPr>
          <a:lstStyle/>
          <a:p>
            <a:pPr>
              <a:spcBef>
                <a:spcPts val="200"/>
              </a:spcBef>
              <a:spcAft>
                <a:spcPts val="500"/>
              </a:spcAft>
            </a:pPr>
            <a:r>
              <a:rPr sz="1150" b="1">
                <a:solidFill>
                  <a:srgbClr val="2C3E50"/>
                </a:solidFill>
                <a:latin typeface="Arial"/>
              </a:rPr>
              <a:t>□ Mô hình kết hợp trong thực tế: </a:t>
            </a:r>
            <a:r>
              <a:rPr sz="1150">
                <a:solidFill>
                  <a:srgbClr val="212F3D"/>
                </a:solidFill>
                <a:latin typeface="Arial"/>
              </a:rPr>
              <a:t>Một hệ điều hành hiện đại chạy trên CPU 16 nhân: Giữa các nhân với nhau diễn ra quá trình tính toán SONG SONG (Parallel); nhưng trên mỗi nhân đơn lẻ, OS vẫn liên tục LẬP LỊCH ĐỒNG THỜI (Concurrent) hàng trăm tiến trình nền!</a:t>
            </a:r>
          </a:p>
          <a:p>
            <a:pPr>
              <a:spcBef>
                <a:spcPts val="200"/>
              </a:spcBef>
              <a:spcAft>
                <a:spcPts val="500"/>
              </a:spcAft>
            </a:pPr>
            <a:r>
              <a:rPr sz="1150" b="1">
                <a:solidFill>
                  <a:srgbClr val="2C3E50"/>
                </a:solidFill>
                <a:latin typeface="Arial"/>
              </a:rPr>
              <a:t>□ Sự khác biệt cốt tử với Hệ phân tán: </a:t>
            </a:r>
            <a:r>
              <a:rPr sz="1150">
                <a:solidFill>
                  <a:srgbClr val="212F3D"/>
                </a:solidFill>
                <a:latin typeface="Arial"/>
              </a:rPr>
              <a:t>Tính toán đơn máy (dù song song đa nhân) CHIA SẺ CHUNG BỘ NHỚ RAM VẬT LÝ và chịu sự quản lý của 1 OS Kernel. Hệ phân tán kết nối nhiều máy tính qua mạng, KHÔNG chung RAM, chịu trễ mạng và sai lệch đồng hồ.</a:t>
            </a:r>
          </a:p>
        </p:txBody>
      </p:sp>
      <p:graphicFrame>
        <p:nvGraphicFramePr>
          <p:cNvPr id="8" name="Table 7"/>
          <p:cNvGraphicFramePr>
            <a:graphicFrameLocks noGrp="1"/>
          </p:cNvGraphicFramePr>
          <p:nvPr/>
        </p:nvGraphicFramePr>
        <p:xfrm>
          <a:off x="359918" y="3556000"/>
          <a:ext cx="9334500" cy="2984500"/>
        </p:xfrm>
        <a:graphic>
          <a:graphicData uri="http://schemas.openxmlformats.org/drawingml/2006/table">
            <a:tbl>
              <a:tblPr firstRow="1" bandRow="1">
                <a:tableStyleId>{5C22544A-7EE6-4342-B048-85BDC9FD1C3A}</a:tableStyleId>
              </a:tblPr>
              <a:tblGrid>
                <a:gridCol w="1778000"/>
                <a:gridCol w="2476500"/>
                <a:gridCol w="2476500"/>
                <a:gridCol w="2603500"/>
              </a:tblGrid>
              <a:tr h="497416">
                <a:tc>
                  <a:txBody>
                    <a:bodyPr/>
                    <a:lstStyle/>
                    <a:p>
                      <a:pPr algn="ctr">
                        <a:defRPr sz="1050" b="1">
                          <a:solidFill>
                            <a:srgbClr val="FFFFFF"/>
                          </a:solidFill>
                          <a:latin typeface="Arial"/>
                        </a:defRPr>
                      </a:pPr>
                      <a:r>
                        <a:t>Tiêu chí phân định</a:t>
                      </a:r>
                    </a:p>
                  </a:txBody>
                  <a:tcPr anchor="ctr">
                    <a:solidFill>
                      <a:srgbClr val="E74C3C"/>
                    </a:solidFill>
                  </a:tcPr>
                </a:tc>
                <a:tc>
                  <a:txBody>
                    <a:bodyPr/>
                    <a:lstStyle/>
                    <a:p>
                      <a:pPr algn="ctr">
                        <a:defRPr sz="1050" b="1">
                          <a:solidFill>
                            <a:srgbClr val="FFFFFF"/>
                          </a:solidFill>
                          <a:latin typeface="Arial"/>
                        </a:defRPr>
                      </a:pPr>
                      <a:r>
                        <a:t>Đồng thời đơn nhân (Concurrent)</a:t>
                      </a:r>
                    </a:p>
                  </a:txBody>
                  <a:tcPr anchor="ctr">
                    <a:solidFill>
                      <a:srgbClr val="E74C3C"/>
                    </a:solidFill>
                  </a:tcPr>
                </a:tc>
                <a:tc>
                  <a:txBody>
                    <a:bodyPr/>
                    <a:lstStyle/>
                    <a:p>
                      <a:pPr algn="ctr">
                        <a:defRPr sz="1050" b="1">
                          <a:solidFill>
                            <a:srgbClr val="FFFFFF"/>
                          </a:solidFill>
                          <a:latin typeface="Arial"/>
                        </a:defRPr>
                      </a:pPr>
                      <a:r>
                        <a:t>Song song đa nhân (Parallel)</a:t>
                      </a:r>
                    </a:p>
                  </a:txBody>
                  <a:tcPr anchor="ctr">
                    <a:solidFill>
                      <a:srgbClr val="E74C3C"/>
                    </a:solidFill>
                  </a:tcPr>
                </a:tc>
                <a:tc>
                  <a:txBody>
                    <a:bodyPr/>
                    <a:lstStyle/>
                    <a:p>
                      <a:pPr algn="ctr">
                        <a:defRPr sz="1050" b="1">
                          <a:solidFill>
                            <a:srgbClr val="FFFFFF"/>
                          </a:solidFill>
                          <a:latin typeface="Arial"/>
                        </a:defRPr>
                      </a:pPr>
                      <a:r>
                        <a:t>Hệ thống Phân tán (Distributed)</a:t>
                      </a:r>
                    </a:p>
                  </a:txBody>
                  <a:tcPr anchor="ctr">
                    <a:solidFill>
                      <a:srgbClr val="E74C3C"/>
                    </a:solidFill>
                  </a:tcPr>
                </a:tc>
              </a:tr>
              <a:tr h="497416">
                <a:tc>
                  <a:txBody>
                    <a:bodyPr/>
                    <a:lstStyle/>
                    <a:p>
                      <a:pPr>
                        <a:defRPr sz="950">
                          <a:solidFill>
                            <a:srgbClr val="212F3D"/>
                          </a:solidFill>
                          <a:latin typeface="Arial"/>
                        </a:defRPr>
                      </a:pPr>
                      <a:r>
                        <a:t>Phần cứng tối thiểu</a:t>
                      </a:r>
                    </a:p>
                  </a:txBody>
                  <a:tcPr anchor="ctr">
                    <a:solidFill>
                      <a:srgbClr val="FFFFFF"/>
                    </a:solidFill>
                  </a:tcPr>
                </a:tc>
                <a:tc>
                  <a:txBody>
                    <a:bodyPr/>
                    <a:lstStyle/>
                    <a:p>
                      <a:pPr>
                        <a:defRPr sz="950">
                          <a:solidFill>
                            <a:srgbClr val="212F3D"/>
                          </a:solidFill>
                          <a:latin typeface="Arial"/>
                        </a:defRPr>
                      </a:pPr>
                      <a:r>
                        <a:t>1 Core CPU vật lý</a:t>
                      </a:r>
                    </a:p>
                  </a:txBody>
                  <a:tcPr anchor="ctr">
                    <a:solidFill>
                      <a:srgbClr val="FFFFFF"/>
                    </a:solidFill>
                  </a:tcPr>
                </a:tc>
                <a:tc>
                  <a:txBody>
                    <a:bodyPr/>
                    <a:lstStyle/>
                    <a:p>
                      <a:pPr>
                        <a:defRPr sz="950">
                          <a:solidFill>
                            <a:srgbClr val="212F3D"/>
                          </a:solidFill>
                          <a:latin typeface="Arial"/>
                        </a:defRPr>
                      </a:pPr>
                      <a:r>
                        <a:t>Nhiều Core CPU / Đa socket / GPU</a:t>
                      </a:r>
                    </a:p>
                  </a:txBody>
                  <a:tcPr anchor="ctr">
                    <a:solidFill>
                      <a:srgbClr val="FFFFFF"/>
                    </a:solidFill>
                  </a:tcPr>
                </a:tc>
                <a:tc>
                  <a:txBody>
                    <a:bodyPr/>
                    <a:lstStyle/>
                    <a:p>
                      <a:pPr>
                        <a:defRPr sz="950">
                          <a:solidFill>
                            <a:srgbClr val="212F3D"/>
                          </a:solidFill>
                          <a:latin typeface="Arial"/>
                        </a:defRPr>
                      </a:pPr>
                      <a:r>
                        <a:t>Nhiều máy chủ (Cluster / Nodes)</a:t>
                      </a:r>
                    </a:p>
                  </a:txBody>
                  <a:tcPr anchor="ctr">
                    <a:solidFill>
                      <a:srgbClr val="FFFFFF"/>
                    </a:solidFill>
                  </a:tcPr>
                </a:tc>
              </a:tr>
              <a:tr h="497416">
                <a:tc>
                  <a:txBody>
                    <a:bodyPr/>
                    <a:lstStyle/>
                    <a:p>
                      <a:pPr>
                        <a:defRPr sz="950">
                          <a:solidFill>
                            <a:srgbClr val="212F3D"/>
                          </a:solidFill>
                          <a:latin typeface="Arial"/>
                        </a:defRPr>
                      </a:pPr>
                      <a:r>
                        <a:t>Không gian bộ nhớ</a:t>
                      </a:r>
                    </a:p>
                  </a:txBody>
                  <a:tcPr anchor="ctr">
                    <a:solidFill>
                      <a:srgbClr val="F8F9FA"/>
                    </a:solidFill>
                  </a:tcPr>
                </a:tc>
                <a:tc>
                  <a:txBody>
                    <a:bodyPr/>
                    <a:lstStyle/>
                    <a:p>
                      <a:pPr>
                        <a:defRPr sz="950">
                          <a:solidFill>
                            <a:srgbClr val="212F3D"/>
                          </a:solidFill>
                          <a:latin typeface="Arial"/>
                        </a:defRPr>
                      </a:pPr>
                      <a:r>
                        <a:t>Chung RAM vật lý</a:t>
                      </a:r>
                    </a:p>
                  </a:txBody>
                  <a:tcPr anchor="ctr">
                    <a:solidFill>
                      <a:srgbClr val="F8F9FA"/>
                    </a:solidFill>
                  </a:tcPr>
                </a:tc>
                <a:tc>
                  <a:txBody>
                    <a:bodyPr/>
                    <a:lstStyle/>
                    <a:p>
                      <a:pPr>
                        <a:defRPr sz="950">
                          <a:solidFill>
                            <a:srgbClr val="212F3D"/>
                          </a:solidFill>
                          <a:latin typeface="Arial"/>
                        </a:defRPr>
                      </a:pPr>
                      <a:r>
                        <a:t>Chung RAM vật lý (Shared Memory)</a:t>
                      </a:r>
                    </a:p>
                  </a:txBody>
                  <a:tcPr anchor="ctr">
                    <a:solidFill>
                      <a:srgbClr val="F8F9FA"/>
                    </a:solidFill>
                  </a:tcPr>
                </a:tc>
                <a:tc>
                  <a:txBody>
                    <a:bodyPr/>
                    <a:lstStyle/>
                    <a:p>
                      <a:pPr>
                        <a:defRPr sz="950">
                          <a:solidFill>
                            <a:srgbClr val="212F3D"/>
                          </a:solidFill>
                          <a:latin typeface="Arial"/>
                        </a:defRPr>
                      </a:pPr>
                      <a:r>
                        <a:t>Bộ nhớ phân tán (Distributed Memory)</a:t>
                      </a:r>
                    </a:p>
                  </a:txBody>
                  <a:tcPr anchor="ctr">
                    <a:solidFill>
                      <a:srgbClr val="F8F9FA"/>
                    </a:solidFill>
                  </a:tcPr>
                </a:tc>
              </a:tr>
              <a:tr h="497416">
                <a:tc>
                  <a:txBody>
                    <a:bodyPr/>
                    <a:lstStyle/>
                    <a:p>
                      <a:pPr>
                        <a:defRPr sz="950">
                          <a:solidFill>
                            <a:srgbClr val="212F3D"/>
                          </a:solidFill>
                          <a:latin typeface="Arial"/>
                        </a:defRPr>
                      </a:pPr>
                      <a:r>
                        <a:t>Cơ chế truyền thông</a:t>
                      </a:r>
                    </a:p>
                  </a:txBody>
                  <a:tcPr anchor="ctr">
                    <a:solidFill>
                      <a:srgbClr val="FFFFFF"/>
                    </a:solidFill>
                  </a:tcPr>
                </a:tc>
                <a:tc>
                  <a:txBody>
                    <a:bodyPr/>
                    <a:lstStyle/>
                    <a:p>
                      <a:pPr>
                        <a:defRPr sz="950">
                          <a:solidFill>
                            <a:srgbClr val="212F3D"/>
                          </a:solidFill>
                          <a:latin typeface="Arial"/>
                        </a:defRPr>
                      </a:pPr>
                      <a:r>
                        <a:t>Biến bộ nhớ, Queue, Context switch</a:t>
                      </a:r>
                    </a:p>
                  </a:txBody>
                  <a:tcPr anchor="ctr">
                    <a:solidFill>
                      <a:srgbClr val="FFFFFF"/>
                    </a:solidFill>
                  </a:tcPr>
                </a:tc>
                <a:tc>
                  <a:txBody>
                    <a:bodyPr/>
                    <a:lstStyle/>
                    <a:p>
                      <a:pPr>
                        <a:defRPr sz="950">
                          <a:solidFill>
                            <a:srgbClr val="212F3D"/>
                          </a:solidFill>
                          <a:latin typeface="Arial"/>
                        </a:defRPr>
                      </a:pPr>
                      <a:r>
                        <a:t>Bộ nhớ chia sẻ, Khóa nguyên tử CAS</a:t>
                      </a:r>
                    </a:p>
                  </a:txBody>
                  <a:tcPr anchor="ctr">
                    <a:solidFill>
                      <a:srgbClr val="FFFFFF"/>
                    </a:solidFill>
                  </a:tcPr>
                </a:tc>
                <a:tc>
                  <a:txBody>
                    <a:bodyPr/>
                    <a:lstStyle/>
                    <a:p>
                      <a:pPr>
                        <a:defRPr sz="950">
                          <a:solidFill>
                            <a:srgbClr val="212F3D"/>
                          </a:solidFill>
                          <a:latin typeface="Arial"/>
                        </a:defRPr>
                      </a:pPr>
                      <a:r>
                        <a:t>Truyền thông điệp mạng (RPC / REST / MQ)</a:t>
                      </a:r>
                    </a:p>
                  </a:txBody>
                  <a:tcPr anchor="ctr">
                    <a:solidFill>
                      <a:srgbClr val="FFFFFF"/>
                    </a:solidFill>
                  </a:tcPr>
                </a:tc>
              </a:tr>
              <a:tr h="497416">
                <a:tc>
                  <a:txBody>
                    <a:bodyPr/>
                    <a:lstStyle/>
                    <a:p>
                      <a:pPr>
                        <a:defRPr sz="950">
                          <a:solidFill>
                            <a:srgbClr val="212F3D"/>
                          </a:solidFill>
                          <a:latin typeface="Arial"/>
                        </a:defRPr>
                      </a:pPr>
                      <a:r>
                        <a:t>Đồng bộ thời gian</a:t>
                      </a:r>
                    </a:p>
                  </a:txBody>
                  <a:tcPr anchor="ctr">
                    <a:solidFill>
                      <a:srgbClr val="F8F9FA"/>
                    </a:solidFill>
                  </a:tcPr>
                </a:tc>
                <a:tc>
                  <a:txBody>
                    <a:bodyPr/>
                    <a:lstStyle/>
                    <a:p>
                      <a:pPr>
                        <a:defRPr sz="950">
                          <a:solidFill>
                            <a:srgbClr val="212F3D"/>
                          </a:solidFill>
                          <a:latin typeface="Arial"/>
                        </a:defRPr>
                      </a:pPr>
                      <a:r>
                        <a:t>Chung đồng hồ phần cứng (Clock)</a:t>
                      </a:r>
                    </a:p>
                  </a:txBody>
                  <a:tcPr anchor="ctr">
                    <a:solidFill>
                      <a:srgbClr val="F8F9FA"/>
                    </a:solidFill>
                  </a:tcPr>
                </a:tc>
                <a:tc>
                  <a:txBody>
                    <a:bodyPr/>
                    <a:lstStyle/>
                    <a:p>
                      <a:pPr>
                        <a:defRPr sz="950">
                          <a:solidFill>
                            <a:srgbClr val="212F3D"/>
                          </a:solidFill>
                          <a:latin typeface="Arial"/>
                        </a:defRPr>
                      </a:pPr>
                      <a:r>
                        <a:t>Chung đồng hồ phần cứng (Clock)</a:t>
                      </a:r>
                    </a:p>
                  </a:txBody>
                  <a:tcPr anchor="ctr">
                    <a:solidFill>
                      <a:srgbClr val="F8F9FA"/>
                    </a:solidFill>
                  </a:tcPr>
                </a:tc>
                <a:tc>
                  <a:txBody>
                    <a:bodyPr/>
                    <a:lstStyle/>
                    <a:p>
                      <a:pPr>
                        <a:defRPr sz="950">
                          <a:solidFill>
                            <a:srgbClr val="212F3D"/>
                          </a:solidFill>
                          <a:latin typeface="Arial"/>
                        </a:defRPr>
                      </a:pPr>
                      <a:r>
                        <a:t>Sai lệch đồng hồ vật lý (Clock Skew)</a:t>
                      </a:r>
                    </a:p>
                  </a:txBody>
                  <a:tcPr anchor="ctr">
                    <a:solidFill>
                      <a:srgbClr val="F8F9FA"/>
                    </a:solidFill>
                  </a:tcPr>
                </a:tc>
              </a:tr>
              <a:tr h="497420">
                <a:tc>
                  <a:txBody>
                    <a:bodyPr/>
                    <a:lstStyle/>
                    <a:p>
                      <a:pPr>
                        <a:defRPr sz="950">
                          <a:solidFill>
                            <a:srgbClr val="212F3D"/>
                          </a:solidFill>
                          <a:latin typeface="Arial"/>
                        </a:defRPr>
                      </a:pPr>
                      <a:r>
                        <a:t>Mô hình hỏng hóc</a:t>
                      </a:r>
                    </a:p>
                  </a:txBody>
                  <a:tcPr anchor="ctr">
                    <a:solidFill>
                      <a:srgbClr val="FFFFFF"/>
                    </a:solidFill>
                  </a:tcPr>
                </a:tc>
                <a:tc>
                  <a:txBody>
                    <a:bodyPr/>
                    <a:lstStyle/>
                    <a:p>
                      <a:pPr>
                        <a:defRPr sz="950">
                          <a:solidFill>
                            <a:srgbClr val="212F3D"/>
                          </a:solidFill>
                          <a:latin typeface="Arial"/>
                        </a:defRPr>
                      </a:pPr>
                      <a:r>
                        <a:t>Sập luồng, deadlock nội bộ OS</a:t>
                      </a:r>
                    </a:p>
                  </a:txBody>
                  <a:tcPr anchor="ctr">
                    <a:solidFill>
                      <a:srgbClr val="FFFFFF"/>
                    </a:solidFill>
                  </a:tcPr>
                </a:tc>
                <a:tc>
                  <a:txBody>
                    <a:bodyPr/>
                    <a:lstStyle/>
                    <a:p>
                      <a:pPr>
                        <a:defRPr sz="950">
                          <a:solidFill>
                            <a:srgbClr val="212F3D"/>
                          </a:solidFill>
                          <a:latin typeface="Arial"/>
                        </a:defRPr>
                      </a:pPr>
                      <a:r>
                        <a:t>Tranh chấp bus RAM, cache miss</a:t>
                      </a:r>
                    </a:p>
                  </a:txBody>
                  <a:tcPr anchor="ctr">
                    <a:solidFill>
                      <a:srgbClr val="FFFFFF"/>
                    </a:solidFill>
                  </a:tcPr>
                </a:tc>
                <a:tc>
                  <a:txBody>
                    <a:bodyPr/>
                    <a:lstStyle/>
                    <a:p>
                      <a:pPr>
                        <a:defRPr sz="950">
                          <a:solidFill>
                            <a:srgbClr val="212F3D"/>
                          </a:solidFill>
                          <a:latin typeface="Arial"/>
                        </a:defRPr>
                      </a:pPr>
                      <a:r>
                        <a:t>Đứt cáp mạng, phân mảnh mạng (Partition)</a:t>
                      </a:r>
                    </a:p>
                  </a:txBody>
                  <a:tcPr anchor="ctr">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79832"/>
            <a:ext cx="9720072" cy="126034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wrap="square" lIns="359918"/>
          <a:lstStyle/>
          <a:p>
            <a:pPr algn="ctr">
              <a:defRPr sz="2500" b="1">
                <a:solidFill>
                  <a:srgbClr val="FFFFFF"/>
                </a:solidFill>
                <a:latin typeface="Arial"/>
              </a:defRPr>
            </a:pPr>
            <a:r>
              <a:t>MA TRẬN KHÁI NIỆM</a:t>
            </a:r>
          </a:p>
        </p:txBody>
      </p:sp>
      <p:sp>
        <p:nvSpPr>
          <p:cNvPr id="3" name="Rectangle 2"/>
          <p:cNvSpPr/>
          <p:nvPr/>
        </p:nvSpPr>
        <p:spPr>
          <a:xfrm>
            <a:off x="179832" y="6839711"/>
            <a:ext cx="539496"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rial"/>
              </a:defRPr>
            </a:pPr>
            <a:r>
              <a:t>8</a:t>
            </a:r>
          </a:p>
        </p:txBody>
      </p:sp>
      <p:sp>
        <p:nvSpPr>
          <p:cNvPr id="4" name="Rectangle 3"/>
          <p:cNvSpPr/>
          <p:nvPr/>
        </p:nvSpPr>
        <p:spPr>
          <a:xfrm>
            <a:off x="900684" y="6839711"/>
            <a:ext cx="6480048" cy="541020"/>
          </a:xfrm>
          <a:prstGeom prst="rect">
            <a:avLst/>
          </a:prstGeom>
          <a:solidFill>
            <a:srgbClr val="BDC3C7"/>
          </a:solidFill>
          <a:ln>
            <a:noFill/>
          </a:ln>
        </p:spPr>
        <p:style>
          <a:lnRef idx="1">
            <a:schemeClr val="accent1"/>
          </a:lnRef>
          <a:fillRef idx="3">
            <a:schemeClr val="accent1"/>
          </a:fillRef>
          <a:effectRef idx="2">
            <a:schemeClr val="accent1"/>
          </a:effectRef>
          <a:fontRef idx="minor">
            <a:schemeClr val="lt1"/>
          </a:fontRef>
        </p:style>
        <p:txBody>
          <a:bodyPr rtlCol="0" anchor="ctr" lIns="190500"/>
          <a:lstStyle/>
          <a:p>
            <a:pPr algn="ctr">
              <a:defRPr sz="1200">
                <a:solidFill>
                  <a:srgbClr val="2C3E50"/>
                </a:solidFill>
                <a:latin typeface="Arial"/>
              </a:defRPr>
            </a:pPr>
            <a:r>
              <a:t>Sync/Async vs Blocking/Non-blocking: Hai Trục Độc lập</a:t>
            </a:r>
          </a:p>
        </p:txBody>
      </p:sp>
      <p:sp>
        <p:nvSpPr>
          <p:cNvPr id="5" name="Rectangle 4"/>
          <p:cNvSpPr/>
          <p:nvPr/>
        </p:nvSpPr>
        <p:spPr>
          <a:xfrm>
            <a:off x="7560564" y="6839711"/>
            <a:ext cx="2519172"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01 - 2026</a:t>
            </a:r>
          </a:p>
        </p:txBody>
      </p:sp>
      <p:sp>
        <p:nvSpPr>
          <p:cNvPr id="6" name="TextBox 5"/>
          <p:cNvSpPr txBox="1"/>
          <p:nvPr/>
        </p:nvSpPr>
        <p:spPr>
          <a:xfrm>
            <a:off x="359918" y="1549400"/>
            <a:ext cx="9334500" cy="406400"/>
          </a:xfrm>
          <a:prstGeom prst="rect">
            <a:avLst/>
          </a:prstGeom>
          <a:noFill/>
        </p:spPr>
        <p:txBody>
          <a:bodyPr wrap="square" tIns="0" lIns="0">
            <a:spAutoFit/>
          </a:bodyPr>
          <a:lstStyle/>
          <a:p>
            <a:pPr>
              <a:defRPr sz="1700" b="1">
                <a:solidFill>
                  <a:srgbClr val="2C3E50"/>
                </a:solidFill>
                <a:latin typeface="Arial"/>
              </a:defRPr>
            </a:pPr>
            <a:r>
              <a:t>➢ Bóc tách sự khác biệt: Hợp đồng giao tiếp vs Trạng thái luồng tầng OS</a:t>
            </a:r>
          </a:p>
        </p:txBody>
      </p:sp>
      <p:sp>
        <p:nvSpPr>
          <p:cNvPr id="7" name="TextBox 6"/>
          <p:cNvSpPr txBox="1"/>
          <p:nvPr/>
        </p:nvSpPr>
        <p:spPr>
          <a:xfrm>
            <a:off x="359918" y="1905000"/>
            <a:ext cx="9334500" cy="1841500"/>
          </a:xfrm>
          <a:prstGeom prst="rect">
            <a:avLst/>
          </a:prstGeom>
          <a:noFill/>
        </p:spPr>
        <p:txBody>
          <a:bodyPr wrap="square" tIns="0" lIns="0">
            <a:spAutoFit/>
          </a:bodyPr>
          <a:lstStyle/>
          <a:p>
            <a:pPr>
              <a:spcBef>
                <a:spcPts val="200"/>
              </a:spcBef>
              <a:spcAft>
                <a:spcPts val="500"/>
              </a:spcAft>
            </a:pPr>
            <a:r>
              <a:rPr sz="1150" b="1">
                <a:solidFill>
                  <a:srgbClr val="2C3E50"/>
                </a:solidFill>
                <a:latin typeface="Arial"/>
              </a:rPr>
              <a:t>□ Nguyên lý phân định nền tảng: </a:t>
            </a:r>
            <a:r>
              <a:rPr sz="1150">
                <a:solidFill>
                  <a:srgbClr val="212F3D"/>
                </a:solidFill>
                <a:latin typeface="Arial"/>
              </a:rPr>
              <a:t>Synchronous/Asynchronous và Blocking/Non-blocking là HAI TRỤC HOÀN TOÀN ĐỘC LẬP. Một thao tác có thể là Đồng bộ nhưng Non-blocking, hoặc Bất đồng bộ nhưng lại Blocking!</a:t>
            </a:r>
          </a:p>
          <a:p>
            <a:pPr>
              <a:spcBef>
                <a:spcPts val="200"/>
              </a:spcBef>
              <a:spcAft>
                <a:spcPts val="500"/>
              </a:spcAft>
            </a:pPr>
            <a:r>
              <a:rPr sz="1150" b="1">
                <a:solidFill>
                  <a:srgbClr val="2C3E50"/>
                </a:solidFill>
                <a:latin typeface="Arial"/>
              </a:rPr>
              <a:t>□ Trục 1: Hợp đồng giao tiếp (Call Contract): </a:t>
            </a:r>
            <a:r>
              <a:rPr sz="1150">
                <a:solidFill>
                  <a:srgbClr val="212F3D"/>
                </a:solidFill>
                <a:latin typeface="Arial"/>
              </a:rPr>
              <a:t>Bên gọi (Caller) có chờ bên được gọi (Callee) trả kết quả ngay tại chỗ hay nhận một handle/Future rồi tiếp tục công việc khác?</a:t>
            </a:r>
          </a:p>
          <a:p>
            <a:pPr>
              <a:spcBef>
                <a:spcPts val="200"/>
              </a:spcBef>
              <a:spcAft>
                <a:spcPts val="500"/>
              </a:spcAft>
            </a:pPr>
            <a:r>
              <a:rPr sz="1150" b="1">
                <a:solidFill>
                  <a:srgbClr val="2C3E50"/>
                </a:solidFill>
                <a:latin typeface="Arial"/>
              </a:rPr>
              <a:t>□ Trục 2: Trạng thái luồng hệ điều hành: </a:t>
            </a:r>
            <a:r>
              <a:rPr sz="1150">
                <a:solidFill>
                  <a:srgbClr val="212F3D"/>
                </a:solidFill>
                <a:latin typeface="Arial"/>
              </a:rPr>
              <a:t>Khi thực thi lời gọi hệ thống (Syscall), OS Kernel có chuyển luồng sang trạng thái ngủ (BLOCKED) hay trả về quyền điều khiển ngay lập tức?</a:t>
            </a:r>
          </a:p>
        </p:txBody>
      </p:sp>
      <p:pic>
        <p:nvPicPr>
          <p:cNvPr id="8" name="Picture 7" descr="diag_s3_matrix2x2.png"/>
          <p:cNvPicPr>
            <a:picLocks noChangeAspect="1"/>
          </p:cNvPicPr>
          <p:nvPr/>
        </p:nvPicPr>
        <p:blipFill>
          <a:blip r:embed="rId2"/>
          <a:stretch>
            <a:fillRect/>
          </a:stretch>
        </p:blipFill>
        <p:spPr>
          <a:xfrm>
            <a:off x="359918" y="3873500"/>
            <a:ext cx="9334500" cy="27305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79832"/>
            <a:ext cx="9720072" cy="126034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wrap="square" lIns="359918"/>
          <a:lstStyle/>
          <a:p>
            <a:pPr algn="ctr">
              <a:defRPr sz="2500" b="1">
                <a:solidFill>
                  <a:srgbClr val="FFFFFF"/>
                </a:solidFill>
                <a:latin typeface="Arial"/>
              </a:defRPr>
            </a:pPr>
            <a:r>
              <a:t>CƠ CHẾ ASYNCIO</a:t>
            </a:r>
          </a:p>
        </p:txBody>
      </p:sp>
      <p:sp>
        <p:nvSpPr>
          <p:cNvPr id="3" name="Rectangle 2"/>
          <p:cNvSpPr/>
          <p:nvPr/>
        </p:nvSpPr>
        <p:spPr>
          <a:xfrm>
            <a:off x="179832" y="6839711"/>
            <a:ext cx="539496"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rial"/>
              </a:defRPr>
            </a:pPr>
            <a:r>
              <a:t>9</a:t>
            </a:r>
          </a:p>
        </p:txBody>
      </p:sp>
      <p:sp>
        <p:nvSpPr>
          <p:cNvPr id="4" name="Rectangle 3"/>
          <p:cNvSpPr/>
          <p:nvPr/>
        </p:nvSpPr>
        <p:spPr>
          <a:xfrm>
            <a:off x="900684" y="6839711"/>
            <a:ext cx="6480048" cy="541020"/>
          </a:xfrm>
          <a:prstGeom prst="rect">
            <a:avLst/>
          </a:prstGeom>
          <a:solidFill>
            <a:srgbClr val="BDC3C7"/>
          </a:solidFill>
          <a:ln>
            <a:noFill/>
          </a:ln>
        </p:spPr>
        <p:style>
          <a:lnRef idx="1">
            <a:schemeClr val="accent1"/>
          </a:lnRef>
          <a:fillRef idx="3">
            <a:schemeClr val="accent1"/>
          </a:fillRef>
          <a:effectRef idx="2">
            <a:schemeClr val="accent1"/>
          </a:effectRef>
          <a:fontRef idx="minor">
            <a:schemeClr val="lt1"/>
          </a:fontRef>
        </p:style>
        <p:txBody>
          <a:bodyPr rtlCol="0" anchor="ctr" lIns="190500"/>
          <a:lstStyle/>
          <a:p>
            <a:pPr algn="ctr">
              <a:defRPr sz="1200">
                <a:solidFill>
                  <a:srgbClr val="2C3E50"/>
                </a:solidFill>
                <a:latin typeface="Arial"/>
              </a:defRPr>
            </a:pPr>
            <a:r>
              <a:t>Bản chất Lệnh 'await' &amp; Bẫy Anti-Pattern Tử thần</a:t>
            </a:r>
          </a:p>
        </p:txBody>
      </p:sp>
      <p:sp>
        <p:nvSpPr>
          <p:cNvPr id="5" name="Rectangle 4"/>
          <p:cNvSpPr/>
          <p:nvPr/>
        </p:nvSpPr>
        <p:spPr>
          <a:xfrm>
            <a:off x="7560564" y="6839711"/>
            <a:ext cx="2519172"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01 - 2026</a:t>
            </a:r>
          </a:p>
        </p:txBody>
      </p:sp>
      <p:sp>
        <p:nvSpPr>
          <p:cNvPr id="6" name="TextBox 5"/>
          <p:cNvSpPr txBox="1"/>
          <p:nvPr/>
        </p:nvSpPr>
        <p:spPr>
          <a:xfrm>
            <a:off x="359918" y="1549400"/>
            <a:ext cx="9334500" cy="406400"/>
          </a:xfrm>
          <a:prstGeom prst="rect">
            <a:avLst/>
          </a:prstGeom>
          <a:noFill/>
        </p:spPr>
        <p:txBody>
          <a:bodyPr wrap="square" tIns="0" lIns="0">
            <a:spAutoFit/>
          </a:bodyPr>
          <a:lstStyle/>
          <a:p>
            <a:pPr>
              <a:defRPr sz="1700" b="1">
                <a:solidFill>
                  <a:srgbClr val="2C3E50"/>
                </a:solidFill>
                <a:latin typeface="Arial"/>
              </a:defRPr>
            </a:pPr>
            <a:r>
              <a:t>➢ Hiểu đúng về await: Tạm dừng Coroutine chứ KHÔNG BLOCK Luồng OS!</a:t>
            </a:r>
          </a:p>
        </p:txBody>
      </p:sp>
      <p:sp>
        <p:nvSpPr>
          <p:cNvPr id="7" name="TextBox 6"/>
          <p:cNvSpPr txBox="1"/>
          <p:nvPr/>
        </p:nvSpPr>
        <p:spPr>
          <a:xfrm>
            <a:off x="359918" y="1905000"/>
            <a:ext cx="9334500" cy="1968500"/>
          </a:xfrm>
          <a:prstGeom prst="rect">
            <a:avLst/>
          </a:prstGeom>
          <a:noFill/>
        </p:spPr>
        <p:txBody>
          <a:bodyPr wrap="square" tIns="0" lIns="0">
            <a:spAutoFit/>
          </a:bodyPr>
          <a:lstStyle/>
          <a:p>
            <a:pPr>
              <a:spcBef>
                <a:spcPts val="200"/>
              </a:spcBef>
              <a:spcAft>
                <a:spcPts val="500"/>
              </a:spcAft>
            </a:pPr>
            <a:r>
              <a:rPr sz="1150" b="1">
                <a:solidFill>
                  <a:srgbClr val="2C3E50"/>
                </a:solidFill>
                <a:latin typeface="Arial"/>
              </a:rPr>
              <a:t>□ Bản chất hoạt động của 'await': </a:t>
            </a:r>
            <a:r>
              <a:rPr sz="1150">
                <a:solidFill>
                  <a:srgbClr val="212F3D"/>
                </a:solidFill>
                <a:latin typeface="Arial"/>
              </a:rPr>
              <a:t>Khi gặp `await expr`: Coroutine hiện tại TỰ NGUYỆN TẠM DỪNG (Suspend) và trả quyền điều khiển (cooperative yield) về cho Event Loop. Luồng OS hoàn toàn TỈNH TÁO để chạy coroutine khác!</a:t>
            </a:r>
          </a:p>
          <a:p>
            <a:pPr>
              <a:spcBef>
                <a:spcPts val="200"/>
              </a:spcBef>
              <a:spcAft>
                <a:spcPts val="500"/>
              </a:spcAft>
            </a:pPr>
            <a:r>
              <a:rPr sz="1150" b="1">
                <a:solidFill>
                  <a:srgbClr val="2C3E50"/>
                </a:solidFill>
                <a:latin typeface="Arial"/>
              </a:rPr>
              <a:t>□ Cơ chế đánh thức (Wake-up): </a:t>
            </a:r>
            <a:r>
              <a:rPr sz="1150">
                <a:solidFill>
                  <a:srgbClr val="212F3D"/>
                </a:solidFill>
                <a:latin typeface="Arial"/>
              </a:rPr>
              <a:t>Event Loop đăng ký socket mạng với hệ điều hành thông qua cơ chế Polling hiệu năng cao (epoll trên Linux, IOCP trên Windows). Khi có gói tin về, Loop kích hoạt lại coroutine đúng tại dòng lệnh cũ.</a:t>
            </a:r>
          </a:p>
          <a:p>
            <a:pPr>
              <a:spcBef>
                <a:spcPts val="200"/>
              </a:spcBef>
              <a:spcAft>
                <a:spcPts val="500"/>
              </a:spcAft>
            </a:pPr>
            <a:r>
              <a:rPr sz="1150" b="1">
                <a:solidFill>
                  <a:srgbClr val="2C3E50"/>
                </a:solidFill>
                <a:latin typeface="Arial"/>
              </a:rPr>
              <a:t>□ Quy tắc sinh tử trong Asyncio: </a:t>
            </a:r>
            <a:r>
              <a:rPr sz="1150">
                <a:solidFill>
                  <a:srgbClr val="212F3D"/>
                </a:solidFill>
                <a:latin typeface="Arial"/>
              </a:rPr>
              <a:t>Bất kỳ thao tác I/O blocking hoặc tính toán CPU nặng thuần Python nào chạy thẳng trong luồng Event Loop sẽ LÀM ĐÓNG BĂNG toàn bộ hệ thống!</a:t>
            </a:r>
          </a:p>
        </p:txBody>
      </p:sp>
      <p:sp>
        <p:nvSpPr>
          <p:cNvPr id="8" name="Rounded Rectangle 7"/>
          <p:cNvSpPr/>
          <p:nvPr/>
        </p:nvSpPr>
        <p:spPr>
          <a:xfrm>
            <a:off x="359918" y="4064000"/>
            <a:ext cx="4508500" cy="2476500"/>
          </a:xfrm>
          <a:prstGeom prst="roundRect">
            <a:avLst/>
          </a:prstGeom>
          <a:solidFill>
            <a:srgbClr val="F8F9FA"/>
          </a:solidFill>
          <a:ln w="1524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tIns="101600" lIns="152400" rIns="152400" bIns="101600"/>
          <a:lstStyle/>
          <a:p>
            <a:pPr algn="ctr">
              <a:spcAft>
                <a:spcPts val="400"/>
              </a:spcAft>
              <a:defRPr sz="1150" b="1">
                <a:solidFill>
                  <a:srgbClr val="C0392B"/>
                </a:solidFill>
                <a:latin typeface="Arial"/>
              </a:defRPr>
            </a:pPr>
            <a:r>
              <a:t>ANTI-PATTERN TỬ THẦN (CẦN TUYỆT ĐỐI TRÁNH)</a:t>
            </a:r>
          </a:p>
          <a:p>
            <a:pPr>
              <a:spcAft>
                <a:spcPts val="300"/>
              </a:spcAft>
              <a:defRPr sz="1000">
                <a:solidFill>
                  <a:srgbClr val="212F3D"/>
                </a:solidFill>
                <a:latin typeface="Arial"/>
              </a:defRPr>
            </a:pPr>
            <a:r>
              <a:rPr b="1">
                <a:solidFill>
                  <a:srgbClr val="2C3E50"/>
                </a:solidFill>
              </a:rPr>
              <a:t>• Mã độc hại gây đóng băng: </a:t>
            </a:r>
            <a:r>
              <a:rPr>
                <a:solidFill>
                  <a:srgbClr val="212F3D"/>
                </a:solidFill>
              </a:rPr>
              <a:t>async def fetch_station(id):
    time.sleep(2.0)  # LỖI TỬ THẦN: Luồng OS bị ngủ cứng!
    return data</a:t>
            </a:r>
          </a:p>
          <a:p>
            <a:pPr>
              <a:spcAft>
                <a:spcPts val="300"/>
              </a:spcAft>
              <a:defRPr sz="1000">
                <a:solidFill>
                  <a:srgbClr val="212F3D"/>
                </a:solidFill>
                <a:latin typeface="Arial"/>
              </a:defRPr>
            </a:pPr>
            <a:r>
              <a:rPr b="1">
                <a:solidFill>
                  <a:srgbClr val="2C3E50"/>
                </a:solidFill>
              </a:rPr>
              <a:t>• Hậu quả tai hại: </a:t>
            </a:r>
            <a:r>
              <a:rPr>
                <a:solidFill>
                  <a:srgbClr val="212F3D"/>
                </a:solidFill>
              </a:rPr>
              <a:t>Toàn bộ Event Loop bị nghẽn trong 2.0s; 10.000 coroutine khác không thể tiến triển!</a:t>
            </a:r>
          </a:p>
          <a:p>
            <a:pPr>
              <a:spcAft>
                <a:spcPts val="300"/>
              </a:spcAft>
              <a:defRPr sz="1000">
                <a:solidFill>
                  <a:srgbClr val="212F3D"/>
                </a:solidFill>
                <a:latin typeface="Arial"/>
              </a:defRPr>
            </a:pPr>
            <a:r>
              <a:rPr b="1">
                <a:solidFill>
                  <a:srgbClr val="2C3E50"/>
                </a:solidFill>
              </a:rPr>
              <a:t>• Cách sửa chuẩn mực: </a:t>
            </a:r>
            <a:r>
              <a:rPr>
                <a:solidFill>
                  <a:srgbClr val="212F3D"/>
                </a:solidFill>
              </a:rPr>
              <a:t>Thay bằng `await asyncio.sleep(2.0)` hoặc bọc qua ThreadPool bằng `run_in_executor()`.</a:t>
            </a:r>
          </a:p>
        </p:txBody>
      </p:sp>
      <p:sp>
        <p:nvSpPr>
          <p:cNvPr id="9" name="Rounded Rectangle 8"/>
          <p:cNvSpPr/>
          <p:nvPr/>
        </p:nvSpPr>
        <p:spPr>
          <a:xfrm>
            <a:off x="5181600" y="4064000"/>
            <a:ext cx="4508500" cy="2476500"/>
          </a:xfrm>
          <a:prstGeom prst="roundRect">
            <a:avLst/>
          </a:prstGeom>
          <a:solidFill>
            <a:srgbClr val="F8F9FA"/>
          </a:solidFill>
          <a:ln w="1524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tIns="101600" lIns="152400" rIns="152400" bIns="101600"/>
          <a:lstStyle/>
          <a:p>
            <a:pPr algn="ctr">
              <a:spcAft>
                <a:spcPts val="400"/>
              </a:spcAft>
              <a:defRPr sz="1150" b="1">
                <a:solidFill>
                  <a:srgbClr val="27AE60"/>
                </a:solidFill>
                <a:latin typeface="Arial"/>
              </a:defRPr>
            </a:pPr>
            <a:r>
              <a:t>MÔ HÌNH CHUẨN XÁC: NON-BLOCKING COOPERATIVE</a:t>
            </a:r>
          </a:p>
          <a:p>
            <a:pPr>
              <a:spcAft>
                <a:spcPts val="300"/>
              </a:spcAft>
              <a:defRPr sz="1000">
                <a:solidFill>
                  <a:srgbClr val="212F3D"/>
                </a:solidFill>
                <a:latin typeface="Arial"/>
              </a:defRPr>
            </a:pPr>
            <a:r>
              <a:rPr b="1">
                <a:solidFill>
                  <a:srgbClr val="2C3E50"/>
                </a:solidFill>
              </a:rPr>
              <a:t>• Mã chuẩn công nghiệp: </a:t>
            </a:r>
            <a:r>
              <a:rPr>
                <a:solidFill>
                  <a:srgbClr val="212F3D"/>
                </a:solidFill>
              </a:rPr>
              <a:t>async def fetch_station(id):
    data = await aiohttp_client.get(url)  # Nhường quyền!
    return data</a:t>
            </a:r>
          </a:p>
          <a:p>
            <a:pPr>
              <a:spcAft>
                <a:spcPts val="300"/>
              </a:spcAft>
              <a:defRPr sz="1000">
                <a:solidFill>
                  <a:srgbClr val="212F3D"/>
                </a:solidFill>
                <a:latin typeface="Arial"/>
              </a:defRPr>
            </a:pPr>
            <a:r>
              <a:rPr b="1">
                <a:solidFill>
                  <a:srgbClr val="2C3E50"/>
                </a:solidFill>
              </a:rPr>
              <a:t>• Cơ chế vận hành ngầm: </a:t>
            </a:r>
            <a:r>
              <a:rPr>
                <a:solidFill>
                  <a:srgbClr val="212F3D"/>
                </a:solidFill>
              </a:rPr>
              <a:t>Kernel OS quản lý I/O qua epoll; Coroutine nhường quyền, CPU phục vụ trạm khác ngay lập tức.</a:t>
            </a:r>
          </a:p>
          <a:p>
            <a:pPr>
              <a:spcAft>
                <a:spcPts val="300"/>
              </a:spcAft>
              <a:defRPr sz="1000">
                <a:solidFill>
                  <a:srgbClr val="212F3D"/>
                </a:solidFill>
                <a:latin typeface="Arial"/>
              </a:defRPr>
            </a:pPr>
            <a:r>
              <a:rPr b="1">
                <a:solidFill>
                  <a:srgbClr val="2C3E50"/>
                </a:solidFill>
              </a:rPr>
              <a:t>• Năng lực chịu tải: </a:t>
            </a:r>
            <a:r>
              <a:rPr>
                <a:solidFill>
                  <a:srgbClr val="212F3D"/>
                </a:solidFill>
              </a:rPr>
              <a:t>1 luồng đơn lẻ dễ dàng duy trì 50.000 đến 100.000 kết nối đồng thời với RAM tối thiểu.</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79832"/>
            <a:ext cx="9720072" cy="126034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wrap="square" lIns="359918"/>
          <a:lstStyle/>
          <a:p>
            <a:pPr algn="ctr">
              <a:defRPr sz="2500" b="1">
                <a:solidFill>
                  <a:srgbClr val="FFFFFF"/>
                </a:solidFill>
                <a:latin typeface="Arial"/>
              </a:defRPr>
            </a:pPr>
            <a:r>
              <a:t>ĐƠN VỊ THỰC THI</a:t>
            </a:r>
          </a:p>
        </p:txBody>
      </p:sp>
      <p:sp>
        <p:nvSpPr>
          <p:cNvPr id="3" name="Rectangle 2"/>
          <p:cNvSpPr/>
          <p:nvPr/>
        </p:nvSpPr>
        <p:spPr>
          <a:xfrm>
            <a:off x="179832" y="6839711"/>
            <a:ext cx="539496"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rial"/>
              </a:defRPr>
            </a:pPr>
            <a:r>
              <a:t>10</a:t>
            </a:r>
          </a:p>
        </p:txBody>
      </p:sp>
      <p:sp>
        <p:nvSpPr>
          <p:cNvPr id="4" name="Rectangle 3"/>
          <p:cNvSpPr/>
          <p:nvPr/>
        </p:nvSpPr>
        <p:spPr>
          <a:xfrm>
            <a:off x="900684" y="6839711"/>
            <a:ext cx="6480048" cy="541020"/>
          </a:xfrm>
          <a:prstGeom prst="rect">
            <a:avLst/>
          </a:prstGeom>
          <a:solidFill>
            <a:srgbClr val="BDC3C7"/>
          </a:solidFill>
          <a:ln>
            <a:noFill/>
          </a:ln>
        </p:spPr>
        <p:style>
          <a:lnRef idx="1">
            <a:schemeClr val="accent1"/>
          </a:lnRef>
          <a:fillRef idx="3">
            <a:schemeClr val="accent1"/>
          </a:fillRef>
          <a:effectRef idx="2">
            <a:schemeClr val="accent1"/>
          </a:effectRef>
          <a:fontRef idx="minor">
            <a:schemeClr val="lt1"/>
          </a:fontRef>
        </p:style>
        <p:txBody>
          <a:bodyPr rtlCol="0" anchor="ctr" lIns="190500"/>
          <a:lstStyle/>
          <a:p>
            <a:pPr algn="ctr">
              <a:defRPr sz="1200">
                <a:solidFill>
                  <a:srgbClr val="2C3E50"/>
                </a:solidFill>
                <a:latin typeface="Arial"/>
              </a:defRPr>
            </a:pPr>
            <a:r>
              <a:t>Process vs Thread vs Coroutine &amp; Kiến trúc Bộ nhớ</a:t>
            </a:r>
          </a:p>
        </p:txBody>
      </p:sp>
      <p:sp>
        <p:nvSpPr>
          <p:cNvPr id="5" name="Rectangle 4"/>
          <p:cNvSpPr/>
          <p:nvPr/>
        </p:nvSpPr>
        <p:spPr>
          <a:xfrm>
            <a:off x="7560564" y="6839711"/>
            <a:ext cx="2519172"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01 - 2026</a:t>
            </a:r>
          </a:p>
        </p:txBody>
      </p:sp>
      <p:sp>
        <p:nvSpPr>
          <p:cNvPr id="6" name="TextBox 5"/>
          <p:cNvSpPr txBox="1"/>
          <p:nvPr/>
        </p:nvSpPr>
        <p:spPr>
          <a:xfrm>
            <a:off x="359918" y="1549400"/>
            <a:ext cx="9334500" cy="406400"/>
          </a:xfrm>
          <a:prstGeom prst="rect">
            <a:avLst/>
          </a:prstGeom>
          <a:noFill/>
        </p:spPr>
        <p:txBody>
          <a:bodyPr wrap="square" tIns="0" lIns="0">
            <a:spAutoFit/>
          </a:bodyPr>
          <a:lstStyle/>
          <a:p>
            <a:pPr>
              <a:defRPr sz="1700" b="1">
                <a:solidFill>
                  <a:srgbClr val="2C3E50"/>
                </a:solidFill>
                <a:latin typeface="Arial"/>
              </a:defRPr>
            </a:pPr>
            <a:r>
              <a:t>➢ Cấu trúc thứ bậc bộ nhớ và ranh giới cô lập tài nguyên</a:t>
            </a:r>
          </a:p>
        </p:txBody>
      </p:sp>
      <p:sp>
        <p:nvSpPr>
          <p:cNvPr id="7" name="TextBox 6"/>
          <p:cNvSpPr txBox="1"/>
          <p:nvPr/>
        </p:nvSpPr>
        <p:spPr>
          <a:xfrm>
            <a:off x="359918" y="1905000"/>
            <a:ext cx="9334500" cy="1841500"/>
          </a:xfrm>
          <a:prstGeom prst="rect">
            <a:avLst/>
          </a:prstGeom>
          <a:noFill/>
        </p:spPr>
        <p:txBody>
          <a:bodyPr wrap="square" tIns="0" lIns="0">
            <a:spAutoFit/>
          </a:bodyPr>
          <a:lstStyle/>
          <a:p>
            <a:pPr>
              <a:spcBef>
                <a:spcPts val="200"/>
              </a:spcBef>
              <a:spcAft>
                <a:spcPts val="500"/>
              </a:spcAft>
            </a:pPr>
            <a:r>
              <a:rPr sz="1150" b="1">
                <a:solidFill>
                  <a:srgbClr val="2C3E50"/>
                </a:solidFill>
                <a:latin typeface="Arial"/>
              </a:rPr>
              <a:t>□ Tiến trình (Process): </a:t>
            </a:r>
            <a:r>
              <a:rPr sz="1150">
                <a:solidFill>
                  <a:srgbClr val="212F3D"/>
                </a:solidFill>
                <a:latin typeface="Arial"/>
              </a:rPr>
              <a:t>Sở hữu không gian địa chỉ ảo riêng biệt (Private Virtual Address Space). Các tiến trình hoàn toàn cô lập, an toàn bộ nhớ, giao tiếp qua cơ chế IPC tuần tự hóa dữ liệu.</a:t>
            </a:r>
          </a:p>
          <a:p>
            <a:pPr>
              <a:spcBef>
                <a:spcPts val="200"/>
              </a:spcBef>
              <a:spcAft>
                <a:spcPts val="500"/>
              </a:spcAft>
            </a:pPr>
            <a:r>
              <a:rPr sz="1150" b="1">
                <a:solidFill>
                  <a:srgbClr val="2C3E50"/>
                </a:solidFill>
                <a:latin typeface="Arial"/>
              </a:rPr>
              <a:t>□ Luồng (Thread): </a:t>
            </a:r>
            <a:r>
              <a:rPr sz="1150">
                <a:solidFill>
                  <a:srgbClr val="212F3D"/>
                </a:solidFill>
                <a:latin typeface="Arial"/>
              </a:rPr>
              <a:t>Đơn vị thực thi thuộc về một Process; các luồng chia sẻ chung Heap và Data segment của Process mẹ nhưng sở hữu riêng Call Stack và thanh ghi CPU.</a:t>
            </a:r>
          </a:p>
          <a:p>
            <a:pPr>
              <a:spcBef>
                <a:spcPts val="200"/>
              </a:spcBef>
              <a:spcAft>
                <a:spcPts val="500"/>
              </a:spcAft>
            </a:pPr>
            <a:r>
              <a:rPr sz="1150" b="1">
                <a:solidFill>
                  <a:srgbClr val="2C3E50"/>
                </a:solidFill>
                <a:latin typeface="Arial"/>
              </a:rPr>
              <a:t>□ Coroutine (Hàm đồng quy): </a:t>
            </a:r>
            <a:r>
              <a:rPr sz="1150">
                <a:solidFill>
                  <a:srgbClr val="212F3D"/>
                </a:solidFill>
                <a:latin typeface="Arial"/>
              </a:rPr>
              <a:t>Đơn vị thực thi logic siêu nhẹ do Runtime quản lý hoàn toàn trong User-space; hàng nghìn Coroutine cùng chia sẻ một Thread và một Call Stack của Event Loop.</a:t>
            </a:r>
          </a:p>
        </p:txBody>
      </p:sp>
      <p:pic>
        <p:nvPicPr>
          <p:cNvPr id="8" name="Picture 7" descr="diag_s4_memory_hierarchy.png"/>
          <p:cNvPicPr>
            <a:picLocks noChangeAspect="1"/>
          </p:cNvPicPr>
          <p:nvPr/>
        </p:nvPicPr>
        <p:blipFill>
          <a:blip r:embed="rId2"/>
          <a:stretch>
            <a:fillRect/>
          </a:stretch>
        </p:blipFill>
        <p:spPr>
          <a:xfrm>
            <a:off x="359918" y="3873500"/>
            <a:ext cx="9334500" cy="27305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79832"/>
            <a:ext cx="9720072" cy="126034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wrap="square" lIns="359918"/>
          <a:lstStyle/>
          <a:p>
            <a:pPr algn="ctr">
              <a:defRPr sz="2500" b="1">
                <a:solidFill>
                  <a:srgbClr val="FFFFFF"/>
                </a:solidFill>
                <a:latin typeface="Arial"/>
              </a:defRPr>
            </a:pPr>
            <a:r>
              <a:t>CƠ CHẾ LẬP LỊCH</a:t>
            </a:r>
          </a:p>
        </p:txBody>
      </p:sp>
      <p:sp>
        <p:nvSpPr>
          <p:cNvPr id="3" name="Rectangle 2"/>
          <p:cNvSpPr/>
          <p:nvPr/>
        </p:nvSpPr>
        <p:spPr>
          <a:xfrm>
            <a:off x="179832" y="6839711"/>
            <a:ext cx="539496"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rial"/>
              </a:defRPr>
            </a:pPr>
            <a:r>
              <a:t>11</a:t>
            </a:r>
          </a:p>
        </p:txBody>
      </p:sp>
      <p:sp>
        <p:nvSpPr>
          <p:cNvPr id="4" name="Rectangle 3"/>
          <p:cNvSpPr/>
          <p:nvPr/>
        </p:nvSpPr>
        <p:spPr>
          <a:xfrm>
            <a:off x="900684" y="6839711"/>
            <a:ext cx="6480048" cy="541020"/>
          </a:xfrm>
          <a:prstGeom prst="rect">
            <a:avLst/>
          </a:prstGeom>
          <a:solidFill>
            <a:srgbClr val="BDC3C7"/>
          </a:solidFill>
          <a:ln>
            <a:noFill/>
          </a:ln>
        </p:spPr>
        <p:style>
          <a:lnRef idx="1">
            <a:schemeClr val="accent1"/>
          </a:lnRef>
          <a:fillRef idx="3">
            <a:schemeClr val="accent1"/>
          </a:fillRef>
          <a:effectRef idx="2">
            <a:schemeClr val="accent1"/>
          </a:effectRef>
          <a:fontRef idx="minor">
            <a:schemeClr val="lt1"/>
          </a:fontRef>
        </p:style>
        <p:txBody>
          <a:bodyPr rtlCol="0" anchor="ctr" lIns="190500"/>
          <a:lstStyle/>
          <a:p>
            <a:pPr algn="ctr">
              <a:defRPr sz="1200">
                <a:solidFill>
                  <a:srgbClr val="2C3E50"/>
                </a:solidFill>
                <a:latin typeface="Arial"/>
              </a:defRPr>
            </a:pPr>
            <a:r>
              <a:t>Lập lịch Tranh đoạt (Preemptive) vs Hợp tác (Cooperative)</a:t>
            </a:r>
          </a:p>
        </p:txBody>
      </p:sp>
      <p:sp>
        <p:nvSpPr>
          <p:cNvPr id="5" name="Rectangle 4"/>
          <p:cNvSpPr/>
          <p:nvPr/>
        </p:nvSpPr>
        <p:spPr>
          <a:xfrm>
            <a:off x="7560564" y="6839711"/>
            <a:ext cx="2519172"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01 - 2026</a:t>
            </a:r>
          </a:p>
        </p:txBody>
      </p:sp>
      <p:sp>
        <p:nvSpPr>
          <p:cNvPr id="6" name="TextBox 5"/>
          <p:cNvSpPr txBox="1"/>
          <p:nvPr/>
        </p:nvSpPr>
        <p:spPr>
          <a:xfrm>
            <a:off x="359918" y="1549400"/>
            <a:ext cx="9334500" cy="406400"/>
          </a:xfrm>
          <a:prstGeom prst="rect">
            <a:avLst/>
          </a:prstGeom>
          <a:noFill/>
        </p:spPr>
        <p:txBody>
          <a:bodyPr wrap="square" tIns="0" lIns="0">
            <a:spAutoFit/>
          </a:bodyPr>
          <a:lstStyle/>
          <a:p>
            <a:pPr>
              <a:defRPr sz="1700" b="1">
                <a:solidFill>
                  <a:srgbClr val="2C3E50"/>
                </a:solidFill>
                <a:latin typeface="Arial"/>
              </a:defRPr>
            </a:pPr>
            <a:r>
              <a:t>➢ Sự khác biệt bản chất giữa Lập lịch Hệ điều hành và Lập lịch Asyncio</a:t>
            </a:r>
          </a:p>
        </p:txBody>
      </p:sp>
      <p:sp>
        <p:nvSpPr>
          <p:cNvPr id="7" name="TextBox 6"/>
          <p:cNvSpPr txBox="1"/>
          <p:nvPr/>
        </p:nvSpPr>
        <p:spPr>
          <a:xfrm>
            <a:off x="359918" y="1905000"/>
            <a:ext cx="9334500" cy="2095500"/>
          </a:xfrm>
          <a:prstGeom prst="rect">
            <a:avLst/>
          </a:prstGeom>
          <a:noFill/>
        </p:spPr>
        <p:txBody>
          <a:bodyPr wrap="square" tIns="0" lIns="0">
            <a:spAutoFit/>
          </a:bodyPr>
          <a:lstStyle/>
          <a:p>
            <a:pPr>
              <a:spcBef>
                <a:spcPts val="200"/>
              </a:spcBef>
              <a:spcAft>
                <a:spcPts val="500"/>
              </a:spcAft>
            </a:pPr>
            <a:r>
              <a:rPr sz="1150" b="1">
                <a:solidFill>
                  <a:srgbClr val="2C3E50"/>
                </a:solidFill>
                <a:latin typeface="Arial"/>
              </a:rPr>
              <a:t>□ Lập lịch Tranh đoạt (Preemptive Scheduling): </a:t>
            </a:r>
            <a:r>
              <a:rPr sz="1150">
                <a:solidFill>
                  <a:srgbClr val="212F3D"/>
                </a:solidFill>
                <a:latin typeface="Arial"/>
              </a:rPr>
              <a:t>Áp dụng cho Process và Thread. OS Kernel sử dụng bộ đếm ngắt phần cứng (Hardware Timer Interrupt) để ngắt cưỡng bức luồng đang chạy sau mỗi khoảng 10–20ms và chuyển quyền cho luồng khác.</a:t>
            </a:r>
          </a:p>
          <a:p>
            <a:pPr>
              <a:spcBef>
                <a:spcPts val="200"/>
              </a:spcBef>
              <a:spcAft>
                <a:spcPts val="500"/>
              </a:spcAft>
            </a:pPr>
            <a:r>
              <a:rPr sz="1150" b="1">
                <a:solidFill>
                  <a:srgbClr val="2C3E50"/>
                </a:solidFill>
                <a:latin typeface="Arial"/>
              </a:rPr>
              <a:t>□ Lập lịch Hợp tác (Cooperative Scheduling): </a:t>
            </a:r>
            <a:r>
              <a:rPr sz="1150">
                <a:solidFill>
                  <a:srgbClr val="212F3D"/>
                </a:solidFill>
                <a:latin typeface="Arial"/>
              </a:rPr>
              <a:t>Áp dụng cho Coroutine trong Asyncio. Coroutine KHÔNG BAO GIỜ BỊ NGẮT CƯỠNG BỨC. Nó chạy liên tục cho đến khi TỰ NGUYỆN NHƯỜNG QUYỀN tại các điểm `await` (Yield Points).</a:t>
            </a:r>
          </a:p>
          <a:p>
            <a:pPr>
              <a:spcBef>
                <a:spcPts val="200"/>
              </a:spcBef>
              <a:spcAft>
                <a:spcPts val="500"/>
              </a:spcAft>
            </a:pPr>
            <a:r>
              <a:rPr sz="1150" b="1">
                <a:solidFill>
                  <a:srgbClr val="2C3E50"/>
                </a:solidFill>
                <a:latin typeface="Arial"/>
              </a:rPr>
              <a:t>□ Hiểm họa lập lịch hợp tác: </a:t>
            </a:r>
            <a:r>
              <a:rPr sz="1150">
                <a:solidFill>
                  <a:srgbClr val="212F3D"/>
                </a:solidFill>
                <a:latin typeface="Arial"/>
              </a:rPr>
              <a:t>Nếu một coroutine dính vòng lặp vô tận tính toán (`while True:`), toàn bộ Event Loop sẽ bị treo vì không có cơ chế timer cưỡng bức ngắt nó!</a:t>
            </a:r>
          </a:p>
        </p:txBody>
      </p:sp>
      <p:sp>
        <p:nvSpPr>
          <p:cNvPr id="8" name="Rounded Rectangle 7"/>
          <p:cNvSpPr/>
          <p:nvPr/>
        </p:nvSpPr>
        <p:spPr>
          <a:xfrm>
            <a:off x="359918" y="4254500"/>
            <a:ext cx="9334500" cy="2286000"/>
          </a:xfrm>
          <a:prstGeom prst="roundRect">
            <a:avLst/>
          </a:prstGeom>
          <a:solidFill>
            <a:srgbClr val="F8F9FA"/>
          </a:solidFill>
          <a:ln w="15240">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wrap="square" tIns="101600" lIns="152400" rIns="152400" bIns="101600"/>
          <a:lstStyle/>
          <a:p>
            <a:pPr algn="ctr">
              <a:spcAft>
                <a:spcPts val="400"/>
              </a:spcAft>
              <a:defRPr sz="1150" b="1">
                <a:solidFill>
                  <a:srgbClr val="2C3E50"/>
                </a:solidFill>
                <a:latin typeface="Arial"/>
              </a:defRPr>
            </a:pPr>
            <a:r>
              <a:t>SO SÁNH CƠ CHẾ LẬP LỊCH TẦNG HỆ THỐNG</a:t>
            </a:r>
          </a:p>
          <a:p>
            <a:pPr>
              <a:spcAft>
                <a:spcPts val="300"/>
              </a:spcAft>
              <a:defRPr sz="1000">
                <a:solidFill>
                  <a:srgbClr val="212F3D"/>
                </a:solidFill>
                <a:latin typeface="Arial"/>
              </a:defRPr>
            </a:pPr>
            <a:r>
              <a:rPr b="1">
                <a:solidFill>
                  <a:srgbClr val="2C3E50"/>
                </a:solidFill>
              </a:rPr>
              <a:t>• Quyền kiểm soát: </a:t>
            </a:r>
            <a:r>
              <a:rPr>
                <a:solidFill>
                  <a:srgbClr val="212F3D"/>
                </a:solidFill>
              </a:rPr>
              <a:t>Preemptive: Thuộc về Kernel OS | Cooperative: Thuộc về Lập trình viên tại điểm await.</a:t>
            </a:r>
          </a:p>
          <a:p>
            <a:pPr>
              <a:spcAft>
                <a:spcPts val="300"/>
              </a:spcAft>
              <a:defRPr sz="1000">
                <a:solidFill>
                  <a:srgbClr val="212F3D"/>
                </a:solidFill>
                <a:latin typeface="Arial"/>
              </a:defRPr>
            </a:pPr>
            <a:r>
              <a:rPr b="1">
                <a:solidFill>
                  <a:srgbClr val="2C3E50"/>
                </a:solidFill>
              </a:rPr>
              <a:t>• Rủi ro tranh chấp dữ liệu: </a:t>
            </a:r>
            <a:r>
              <a:rPr>
                <a:solidFill>
                  <a:srgbClr val="212F3D"/>
                </a:solidFill>
              </a:rPr>
              <a:t>Preemptive: Bị ngắt bất ngờ tại bất kỳ chỉ thị nào ➔ Cần Mutex/Lock | Cooperative: An toàn giữa 2 lệnh đồng bộ.</a:t>
            </a:r>
          </a:p>
          <a:p>
            <a:pPr>
              <a:spcAft>
                <a:spcPts val="300"/>
              </a:spcAft>
              <a:defRPr sz="1000">
                <a:solidFill>
                  <a:srgbClr val="212F3D"/>
                </a:solidFill>
                <a:latin typeface="Arial"/>
              </a:defRPr>
            </a:pPr>
            <a:r>
              <a:rPr b="1">
                <a:solidFill>
                  <a:srgbClr val="2C3E50"/>
                </a:solidFill>
              </a:rPr>
              <a:t>• Chi phí chuyển đổi: </a:t>
            </a:r>
            <a:r>
              <a:rPr>
                <a:solidFill>
                  <a:srgbClr val="212F3D"/>
                </a:solidFill>
              </a:rPr>
              <a:t>Preemptive: Mất hàng micro-giây nạp lại thanh ghi Kernel | Cooperative: Mất vài chục nano-giây chuyển hàm.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79832"/>
            <a:ext cx="9720072" cy="126034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wrap="square" lIns="359918"/>
          <a:lstStyle/>
          <a:p>
            <a:pPr algn="ctr">
              <a:defRPr sz="2500" b="1">
                <a:solidFill>
                  <a:srgbClr val="FFFFFF"/>
                </a:solidFill>
                <a:latin typeface="Arial"/>
              </a:defRPr>
            </a:pPr>
            <a:r>
              <a:t>ĐỐI THOẠI KỸ THUẬT</a:t>
            </a:r>
          </a:p>
        </p:txBody>
      </p:sp>
      <p:sp>
        <p:nvSpPr>
          <p:cNvPr id="3" name="Rectangle 2"/>
          <p:cNvSpPr/>
          <p:nvPr/>
        </p:nvSpPr>
        <p:spPr>
          <a:xfrm>
            <a:off x="179832" y="6839711"/>
            <a:ext cx="539496"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rial"/>
              </a:defRPr>
            </a:pPr>
            <a:r>
              <a:t>12</a:t>
            </a:r>
          </a:p>
        </p:txBody>
      </p:sp>
      <p:sp>
        <p:nvSpPr>
          <p:cNvPr id="4" name="Rectangle 3"/>
          <p:cNvSpPr/>
          <p:nvPr/>
        </p:nvSpPr>
        <p:spPr>
          <a:xfrm>
            <a:off x="900684" y="6839711"/>
            <a:ext cx="6480048" cy="541020"/>
          </a:xfrm>
          <a:prstGeom prst="rect">
            <a:avLst/>
          </a:prstGeom>
          <a:solidFill>
            <a:srgbClr val="BDC3C7"/>
          </a:solidFill>
          <a:ln>
            <a:noFill/>
          </a:ln>
        </p:spPr>
        <p:style>
          <a:lnRef idx="1">
            <a:schemeClr val="accent1"/>
          </a:lnRef>
          <a:fillRef idx="3">
            <a:schemeClr val="accent1"/>
          </a:fillRef>
          <a:effectRef idx="2">
            <a:schemeClr val="accent1"/>
          </a:effectRef>
          <a:fontRef idx="minor">
            <a:schemeClr val="lt1"/>
          </a:fontRef>
        </p:style>
        <p:txBody>
          <a:bodyPr rtlCol="0" anchor="ctr" lIns="190500"/>
          <a:lstStyle/>
          <a:p>
            <a:pPr algn="ctr">
              <a:defRPr sz="1200">
                <a:solidFill>
                  <a:srgbClr val="2C3E50"/>
                </a:solidFill>
                <a:latin typeface="Arial"/>
              </a:defRPr>
            </a:pPr>
            <a:r>
              <a:t>Bảng So sánh Định lượng: RAM, Ngữ cảnh &amp; CPython GIL</a:t>
            </a:r>
          </a:p>
        </p:txBody>
      </p:sp>
      <p:sp>
        <p:nvSpPr>
          <p:cNvPr id="5" name="Rectangle 4"/>
          <p:cNvSpPr/>
          <p:nvPr/>
        </p:nvSpPr>
        <p:spPr>
          <a:xfrm>
            <a:off x="7560564" y="6839711"/>
            <a:ext cx="2519172"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01 - 2026</a:t>
            </a:r>
          </a:p>
        </p:txBody>
      </p:sp>
      <p:sp>
        <p:nvSpPr>
          <p:cNvPr id="6" name="TextBox 5"/>
          <p:cNvSpPr txBox="1"/>
          <p:nvPr/>
        </p:nvSpPr>
        <p:spPr>
          <a:xfrm>
            <a:off x="359918" y="1549400"/>
            <a:ext cx="9334500" cy="406400"/>
          </a:xfrm>
          <a:prstGeom prst="rect">
            <a:avLst/>
          </a:prstGeom>
          <a:noFill/>
        </p:spPr>
        <p:txBody>
          <a:bodyPr wrap="square" tIns="0" lIns="0">
            <a:spAutoFit/>
          </a:bodyPr>
          <a:lstStyle/>
          <a:p>
            <a:pPr>
              <a:defRPr sz="1700" b="1">
                <a:solidFill>
                  <a:srgbClr val="2C3E50"/>
                </a:solidFill>
                <a:latin typeface="Arial"/>
              </a:defRPr>
            </a:pPr>
            <a:r>
              <a:t>➢ Số liệu định lượng chi phí tài nguyên và giới hạn kiến trúc CPython</a:t>
            </a:r>
          </a:p>
        </p:txBody>
      </p:sp>
      <p:sp>
        <p:nvSpPr>
          <p:cNvPr id="7" name="TextBox 6"/>
          <p:cNvSpPr txBox="1"/>
          <p:nvPr/>
        </p:nvSpPr>
        <p:spPr>
          <a:xfrm>
            <a:off x="359918" y="1905000"/>
            <a:ext cx="9334500" cy="1841500"/>
          </a:xfrm>
          <a:prstGeom prst="rect">
            <a:avLst/>
          </a:prstGeom>
          <a:noFill/>
        </p:spPr>
        <p:txBody>
          <a:bodyPr wrap="square" tIns="0" lIns="0">
            <a:spAutoFit/>
          </a:bodyPr>
          <a:lstStyle/>
          <a:p>
            <a:pPr>
              <a:spcBef>
                <a:spcPts val="200"/>
              </a:spcBef>
              <a:spcAft>
                <a:spcPts val="500"/>
              </a:spcAft>
            </a:pPr>
            <a:r>
              <a:rPr sz="1150" b="1">
                <a:solidFill>
                  <a:srgbClr val="2C3E50"/>
                </a:solidFill>
                <a:latin typeface="Arial"/>
              </a:rPr>
              <a:t>□ Chi phí bộ nhớ RAM: </a:t>
            </a:r>
            <a:r>
              <a:rPr sz="1150">
                <a:solidFill>
                  <a:srgbClr val="212F3D"/>
                </a:solidFill>
                <a:latin typeface="Arial"/>
              </a:rPr>
              <a:t>1 Process tốn khoảng 15–30 MB; 1 Thread tốn khoảng 8 MB không gian địa chỉ ảo; 1 Coroutine chỉ tốn vỏn vẹn khoảng 1–2 KB!</a:t>
            </a:r>
          </a:p>
          <a:p>
            <a:pPr>
              <a:spcBef>
                <a:spcPts val="200"/>
              </a:spcBef>
              <a:spcAft>
                <a:spcPts val="500"/>
              </a:spcAft>
            </a:pPr>
            <a:r>
              <a:rPr sz="1150" b="1">
                <a:solidFill>
                  <a:srgbClr val="2C3E50"/>
                </a:solidFill>
                <a:latin typeface="Arial"/>
              </a:rPr>
              <a:t>□ Thời gian chuyển ngữ cảnh (Context Switch): </a:t>
            </a:r>
            <a:r>
              <a:rPr sz="1150">
                <a:solidFill>
                  <a:srgbClr val="212F3D"/>
                </a:solidFill>
                <a:latin typeface="Arial"/>
              </a:rPr>
              <a:t>Chuyển giữa 2 Process mất 5–15 µs do phải nạp lại bảng trang MMU; chuyển Thread mất 1–3 µs; chuyển Coroutine chỉ mất 20–50 ns (nhanh gấp 100 lần luồng OS!).</a:t>
            </a:r>
          </a:p>
          <a:p>
            <a:pPr>
              <a:spcBef>
                <a:spcPts val="200"/>
              </a:spcBef>
              <a:spcAft>
                <a:spcPts val="500"/>
              </a:spcAft>
            </a:pPr>
            <a:r>
              <a:rPr sz="1150" b="1">
                <a:solidFill>
                  <a:srgbClr val="2C3E50"/>
                </a:solidFill>
                <a:latin typeface="Arial"/>
              </a:rPr>
              <a:t>□ Rào cản CPython GIL (Global Interpreter Lock): </a:t>
            </a:r>
            <a:r>
              <a:rPr sz="1150">
                <a:solidFill>
                  <a:srgbClr val="212F3D"/>
                </a:solidFill>
                <a:latin typeface="Arial"/>
              </a:rPr>
              <a:t>Thread trong Python bị khóa bởi GIL nên KHÔNG THỂ chạy song song CPU trên đa nhân; muốn tính toán CPU thực sự bắt buộc phải dùng ProcessPool!</a:t>
            </a:r>
          </a:p>
        </p:txBody>
      </p:sp>
      <p:graphicFrame>
        <p:nvGraphicFramePr>
          <p:cNvPr id="8" name="Table 7"/>
          <p:cNvGraphicFramePr>
            <a:graphicFrameLocks noGrp="1"/>
          </p:cNvGraphicFramePr>
          <p:nvPr/>
        </p:nvGraphicFramePr>
        <p:xfrm>
          <a:off x="359918" y="3873500"/>
          <a:ext cx="9334500" cy="2730500"/>
        </p:xfrm>
        <a:graphic>
          <a:graphicData uri="http://schemas.openxmlformats.org/drawingml/2006/table">
            <a:tbl>
              <a:tblPr firstRow="1" bandRow="1">
                <a:tableStyleId>{5C22544A-7EE6-4342-B048-85BDC9FD1C3A}</a:tableStyleId>
              </a:tblPr>
              <a:tblGrid>
                <a:gridCol w="1778000"/>
                <a:gridCol w="2476500"/>
                <a:gridCol w="2476500"/>
                <a:gridCol w="2603500"/>
              </a:tblGrid>
              <a:tr h="390071">
                <a:tc>
                  <a:txBody>
                    <a:bodyPr/>
                    <a:lstStyle/>
                    <a:p>
                      <a:pPr algn="ctr">
                        <a:defRPr sz="1050" b="1">
                          <a:solidFill>
                            <a:srgbClr val="FFFFFF"/>
                          </a:solidFill>
                          <a:latin typeface="Arial"/>
                        </a:defRPr>
                      </a:pPr>
                      <a:r>
                        <a:t>Đặc tính kỹ thuật</a:t>
                      </a:r>
                    </a:p>
                  </a:txBody>
                  <a:tcPr anchor="ctr">
                    <a:solidFill>
                      <a:srgbClr val="E74C3C"/>
                    </a:solidFill>
                  </a:tcPr>
                </a:tc>
                <a:tc>
                  <a:txBody>
                    <a:bodyPr/>
                    <a:lstStyle/>
                    <a:p>
                      <a:pPr algn="ctr">
                        <a:defRPr sz="1050" b="1">
                          <a:solidFill>
                            <a:srgbClr val="FFFFFF"/>
                          </a:solidFill>
                          <a:latin typeface="Arial"/>
                        </a:defRPr>
                      </a:pPr>
                      <a:r>
                        <a:t>Tiến trình (Process)</a:t>
                      </a:r>
                    </a:p>
                  </a:txBody>
                  <a:tcPr anchor="ctr">
                    <a:solidFill>
                      <a:srgbClr val="E74C3C"/>
                    </a:solidFill>
                  </a:tcPr>
                </a:tc>
                <a:tc>
                  <a:txBody>
                    <a:bodyPr/>
                    <a:lstStyle/>
                    <a:p>
                      <a:pPr algn="ctr">
                        <a:defRPr sz="1050" b="1">
                          <a:solidFill>
                            <a:srgbClr val="FFFFFF"/>
                          </a:solidFill>
                          <a:latin typeface="Arial"/>
                        </a:defRPr>
                      </a:pPr>
                      <a:r>
                        <a:t>Luồng hệ điều hành (Thread)</a:t>
                      </a:r>
                    </a:p>
                  </a:txBody>
                  <a:tcPr anchor="ctr">
                    <a:solidFill>
                      <a:srgbClr val="E74C3C"/>
                    </a:solidFill>
                  </a:tcPr>
                </a:tc>
                <a:tc>
                  <a:txBody>
                    <a:bodyPr/>
                    <a:lstStyle/>
                    <a:p>
                      <a:pPr algn="ctr">
                        <a:defRPr sz="1050" b="1">
                          <a:solidFill>
                            <a:srgbClr val="FFFFFF"/>
                          </a:solidFill>
                          <a:latin typeface="Arial"/>
                        </a:defRPr>
                      </a:pPr>
                      <a:r>
                        <a:t>Coroutine (Hàm đồng quy)</a:t>
                      </a:r>
                    </a:p>
                  </a:txBody>
                  <a:tcPr anchor="ctr">
                    <a:solidFill>
                      <a:srgbClr val="E74C3C"/>
                    </a:solidFill>
                  </a:tcPr>
                </a:tc>
              </a:tr>
              <a:tr h="390071">
                <a:tc>
                  <a:txBody>
                    <a:bodyPr/>
                    <a:lstStyle/>
                    <a:p>
                      <a:pPr>
                        <a:defRPr sz="950">
                          <a:solidFill>
                            <a:srgbClr val="212F3D"/>
                          </a:solidFill>
                          <a:latin typeface="Arial"/>
                        </a:defRPr>
                      </a:pPr>
                      <a:r>
                        <a:t>Không gian địa chỉ</a:t>
                      </a:r>
                    </a:p>
                  </a:txBody>
                  <a:tcPr anchor="ctr">
                    <a:solidFill>
                      <a:srgbClr val="FFFFFF"/>
                    </a:solidFill>
                  </a:tcPr>
                </a:tc>
                <a:tc>
                  <a:txBody>
                    <a:bodyPr/>
                    <a:lstStyle/>
                    <a:p>
                      <a:pPr>
                        <a:defRPr sz="950">
                          <a:solidFill>
                            <a:srgbClr val="212F3D"/>
                          </a:solidFill>
                          <a:latin typeface="Arial"/>
                        </a:defRPr>
                      </a:pPr>
                      <a:r>
                        <a:t>Cô lập hoàn toàn (Private VAS)</a:t>
                      </a:r>
                    </a:p>
                  </a:txBody>
                  <a:tcPr anchor="ctr">
                    <a:solidFill>
                      <a:srgbClr val="FFFFFF"/>
                    </a:solidFill>
                  </a:tcPr>
                </a:tc>
                <a:tc>
                  <a:txBody>
                    <a:bodyPr/>
                    <a:lstStyle/>
                    <a:p>
                      <a:pPr>
                        <a:defRPr sz="950">
                          <a:solidFill>
                            <a:srgbClr val="212F3D"/>
                          </a:solidFill>
                          <a:latin typeface="Arial"/>
                        </a:defRPr>
                      </a:pPr>
                      <a:r>
                        <a:t>Chung Heap, riêng Call Stack</a:t>
                      </a:r>
                    </a:p>
                  </a:txBody>
                  <a:tcPr anchor="ctr">
                    <a:solidFill>
                      <a:srgbClr val="FFFFFF"/>
                    </a:solidFill>
                  </a:tcPr>
                </a:tc>
                <a:tc>
                  <a:txBody>
                    <a:bodyPr/>
                    <a:lstStyle/>
                    <a:p>
                      <a:pPr>
                        <a:defRPr sz="950">
                          <a:solidFill>
                            <a:srgbClr val="212F3D"/>
                          </a:solidFill>
                          <a:latin typeface="Arial"/>
                        </a:defRPr>
                      </a:pPr>
                      <a:r>
                        <a:t>Chung không gian bộ nhớ của Luồng</a:t>
                      </a:r>
                    </a:p>
                  </a:txBody>
                  <a:tcPr anchor="ctr">
                    <a:solidFill>
                      <a:srgbClr val="FFFFFF"/>
                    </a:solidFill>
                  </a:tcPr>
                </a:tc>
              </a:tr>
              <a:tr h="390071">
                <a:tc>
                  <a:txBody>
                    <a:bodyPr/>
                    <a:lstStyle/>
                    <a:p>
                      <a:pPr>
                        <a:defRPr sz="950">
                          <a:solidFill>
                            <a:srgbClr val="212F3D"/>
                          </a:solidFill>
                          <a:latin typeface="Arial"/>
                        </a:defRPr>
                      </a:pPr>
                      <a:r>
                        <a:t>Chi phí bộ nhớ RAM</a:t>
                      </a:r>
                    </a:p>
                  </a:txBody>
                  <a:tcPr anchor="ctr">
                    <a:solidFill>
                      <a:srgbClr val="F8F9FA"/>
                    </a:solidFill>
                  </a:tcPr>
                </a:tc>
                <a:tc>
                  <a:txBody>
                    <a:bodyPr/>
                    <a:lstStyle/>
                    <a:p>
                      <a:pPr>
                        <a:defRPr sz="950">
                          <a:solidFill>
                            <a:srgbClr val="212F3D"/>
                          </a:solidFill>
                          <a:latin typeface="Arial"/>
                        </a:defRPr>
                      </a:pPr>
                      <a:r>
                        <a:t>Rất nặng (~15 – 30 MB / tiến trình)</a:t>
                      </a:r>
                    </a:p>
                  </a:txBody>
                  <a:tcPr anchor="ctr">
                    <a:solidFill>
                      <a:srgbClr val="F8F9FA"/>
                    </a:solidFill>
                  </a:tcPr>
                </a:tc>
                <a:tc>
                  <a:txBody>
                    <a:bodyPr/>
                    <a:lstStyle/>
                    <a:p>
                      <a:pPr>
                        <a:defRPr sz="950">
                          <a:solidFill>
                            <a:srgbClr val="212F3D"/>
                          </a:solidFill>
                          <a:latin typeface="Arial"/>
                        </a:defRPr>
                      </a:pPr>
                      <a:r>
                        <a:t>Trung bình (~8 MB stack ảo OS)</a:t>
                      </a:r>
                    </a:p>
                  </a:txBody>
                  <a:tcPr anchor="ctr">
                    <a:solidFill>
                      <a:srgbClr val="F8F9FA"/>
                    </a:solidFill>
                  </a:tcPr>
                </a:tc>
                <a:tc>
                  <a:txBody>
                    <a:bodyPr/>
                    <a:lstStyle/>
                    <a:p>
                      <a:pPr>
                        <a:defRPr sz="950">
                          <a:solidFill>
                            <a:srgbClr val="212F3D"/>
                          </a:solidFill>
                          <a:latin typeface="Arial"/>
                        </a:defRPr>
                      </a:pPr>
                      <a:r>
                        <a:t>Siêu nhẹ (~1 – 2 KB / coroutine)</a:t>
                      </a:r>
                    </a:p>
                  </a:txBody>
                  <a:tcPr anchor="ctr">
                    <a:solidFill>
                      <a:srgbClr val="F8F9FA"/>
                    </a:solidFill>
                  </a:tcPr>
                </a:tc>
              </a:tr>
              <a:tr h="390071">
                <a:tc>
                  <a:txBody>
                    <a:bodyPr/>
                    <a:lstStyle/>
                    <a:p>
                      <a:pPr>
                        <a:defRPr sz="950">
                          <a:solidFill>
                            <a:srgbClr val="212F3D"/>
                          </a:solidFill>
                          <a:latin typeface="Arial"/>
                        </a:defRPr>
                      </a:pPr>
                      <a:r>
                        <a:t>Thời gian Context Switch</a:t>
                      </a:r>
                    </a:p>
                  </a:txBody>
                  <a:tcPr anchor="ctr">
                    <a:solidFill>
                      <a:srgbClr val="FFFFFF"/>
                    </a:solidFill>
                  </a:tcPr>
                </a:tc>
                <a:tc>
                  <a:txBody>
                    <a:bodyPr/>
                    <a:lstStyle/>
                    <a:p>
                      <a:pPr>
                        <a:defRPr sz="950">
                          <a:solidFill>
                            <a:srgbClr val="212F3D"/>
                          </a:solidFill>
                          <a:latin typeface="Arial"/>
                        </a:defRPr>
                      </a:pPr>
                      <a:r>
                        <a:t>Rất nặng (5 – 15 µs, flush TLB)</a:t>
                      </a:r>
                    </a:p>
                  </a:txBody>
                  <a:tcPr anchor="ctr">
                    <a:solidFill>
                      <a:srgbClr val="FFFFFF"/>
                    </a:solidFill>
                  </a:tcPr>
                </a:tc>
                <a:tc>
                  <a:txBody>
                    <a:bodyPr/>
                    <a:lstStyle/>
                    <a:p>
                      <a:pPr>
                        <a:defRPr sz="950">
                          <a:solidFill>
                            <a:srgbClr val="212F3D"/>
                          </a:solidFill>
                          <a:latin typeface="Arial"/>
                        </a:defRPr>
                      </a:pPr>
                      <a:r>
                        <a:t>Trung bình (1 – 3 µs tại OS Kernel)</a:t>
                      </a:r>
                    </a:p>
                  </a:txBody>
                  <a:tcPr anchor="ctr">
                    <a:solidFill>
                      <a:srgbClr val="FFFFFF"/>
                    </a:solidFill>
                  </a:tcPr>
                </a:tc>
                <a:tc>
                  <a:txBody>
                    <a:bodyPr/>
                    <a:lstStyle/>
                    <a:p>
                      <a:pPr>
                        <a:defRPr sz="950">
                          <a:solidFill>
                            <a:srgbClr val="212F3D"/>
                          </a:solidFill>
                          <a:latin typeface="Arial"/>
                        </a:defRPr>
                      </a:pPr>
                      <a:r>
                        <a:t>Cực nhẹ (20 – 50 ns ở User-space)</a:t>
                      </a:r>
                    </a:p>
                  </a:txBody>
                  <a:tcPr anchor="ctr">
                    <a:solidFill>
                      <a:srgbClr val="FFFFFF"/>
                    </a:solidFill>
                  </a:tcPr>
                </a:tc>
              </a:tr>
              <a:tr h="390071">
                <a:tc>
                  <a:txBody>
                    <a:bodyPr/>
                    <a:lstStyle/>
                    <a:p>
                      <a:pPr>
                        <a:defRPr sz="950">
                          <a:solidFill>
                            <a:srgbClr val="212F3D"/>
                          </a:solidFill>
                          <a:latin typeface="Arial"/>
                        </a:defRPr>
                      </a:pPr>
                      <a:r>
                        <a:t>Cơ chế Lập lịch</a:t>
                      </a:r>
                    </a:p>
                  </a:txBody>
                  <a:tcPr anchor="ctr">
                    <a:solidFill>
                      <a:srgbClr val="F8F9FA"/>
                    </a:solidFill>
                  </a:tcPr>
                </a:tc>
                <a:tc>
                  <a:txBody>
                    <a:bodyPr/>
                    <a:lstStyle/>
                    <a:p>
                      <a:pPr>
                        <a:defRPr sz="950">
                          <a:solidFill>
                            <a:srgbClr val="212F3D"/>
                          </a:solidFill>
                          <a:latin typeface="Arial"/>
                        </a:defRPr>
                      </a:pPr>
                      <a:r>
                        <a:t>Preemptive (Kernel OS ngắt timer)</a:t>
                      </a:r>
                    </a:p>
                  </a:txBody>
                  <a:tcPr anchor="ctr">
                    <a:solidFill>
                      <a:srgbClr val="F8F9FA"/>
                    </a:solidFill>
                  </a:tcPr>
                </a:tc>
                <a:tc>
                  <a:txBody>
                    <a:bodyPr/>
                    <a:lstStyle/>
                    <a:p>
                      <a:pPr>
                        <a:defRPr sz="950">
                          <a:solidFill>
                            <a:srgbClr val="212F3D"/>
                          </a:solidFill>
                          <a:latin typeface="Arial"/>
                        </a:defRPr>
                      </a:pPr>
                      <a:r>
                        <a:t>Preemptive (Kernel OS ngắt timer)</a:t>
                      </a:r>
                    </a:p>
                  </a:txBody>
                  <a:tcPr anchor="ctr">
                    <a:solidFill>
                      <a:srgbClr val="F8F9FA"/>
                    </a:solidFill>
                  </a:tcPr>
                </a:tc>
                <a:tc>
                  <a:txBody>
                    <a:bodyPr/>
                    <a:lstStyle/>
                    <a:p>
                      <a:pPr>
                        <a:defRPr sz="950">
                          <a:solidFill>
                            <a:srgbClr val="212F3D"/>
                          </a:solidFill>
                          <a:latin typeface="Arial"/>
                        </a:defRPr>
                      </a:pPr>
                      <a:r>
                        <a:t>Cooperative (Nhường quyền tại await)</a:t>
                      </a:r>
                    </a:p>
                  </a:txBody>
                  <a:tcPr anchor="ctr">
                    <a:solidFill>
                      <a:srgbClr val="F8F9FA"/>
                    </a:solidFill>
                  </a:tcPr>
                </a:tc>
              </a:tr>
              <a:tr h="390071">
                <a:tc>
                  <a:txBody>
                    <a:bodyPr/>
                    <a:lstStyle/>
                    <a:p>
                      <a:pPr>
                        <a:defRPr sz="950">
                          <a:solidFill>
                            <a:srgbClr val="212F3D"/>
                          </a:solidFill>
                          <a:latin typeface="Arial"/>
                        </a:defRPr>
                      </a:pPr>
                      <a:r>
                        <a:t>Giới hạn CPython GIL</a:t>
                      </a:r>
                    </a:p>
                  </a:txBody>
                  <a:tcPr anchor="ctr">
                    <a:solidFill>
                      <a:srgbClr val="FFFFFF"/>
                    </a:solidFill>
                  </a:tcPr>
                </a:tc>
                <a:tc>
                  <a:txBody>
                    <a:bodyPr/>
                    <a:lstStyle/>
                    <a:p>
                      <a:pPr>
                        <a:defRPr sz="950">
                          <a:solidFill>
                            <a:srgbClr val="212F3D"/>
                          </a:solidFill>
                          <a:latin typeface="Arial"/>
                        </a:defRPr>
                      </a:pPr>
                      <a:r>
                        <a:t>VƯỢT QUA GIL (Mỗi tiến trình 1 core)</a:t>
                      </a:r>
                    </a:p>
                  </a:txBody>
                  <a:tcPr anchor="ctr">
                    <a:solidFill>
                      <a:srgbClr val="FFFFFF"/>
                    </a:solidFill>
                  </a:tcPr>
                </a:tc>
                <a:tc>
                  <a:txBody>
                    <a:bodyPr/>
                    <a:lstStyle/>
                    <a:p>
                      <a:pPr>
                        <a:defRPr sz="950">
                          <a:solidFill>
                            <a:srgbClr val="212F3D"/>
                          </a:solidFill>
                          <a:latin typeface="Arial"/>
                        </a:defRPr>
                      </a:pPr>
                      <a:r>
                        <a:t>BỊ KHÓA BỞI GIL (Không chạy đa nhân CPU)</a:t>
                      </a:r>
                    </a:p>
                  </a:txBody>
                  <a:tcPr anchor="ctr">
                    <a:solidFill>
                      <a:srgbClr val="FFFFFF"/>
                    </a:solidFill>
                  </a:tcPr>
                </a:tc>
                <a:tc>
                  <a:txBody>
                    <a:bodyPr/>
                    <a:lstStyle/>
                    <a:p>
                      <a:pPr>
                        <a:defRPr sz="950">
                          <a:solidFill>
                            <a:srgbClr val="212F3D"/>
                          </a:solidFill>
                          <a:latin typeface="Arial"/>
                        </a:defRPr>
                      </a:pPr>
                      <a:r>
                        <a:t>Chạy trên 1 core (Single loop thread)</a:t>
                      </a:r>
                    </a:p>
                  </a:txBody>
                  <a:tcPr anchor="ctr">
                    <a:solidFill>
                      <a:srgbClr val="FFFFFF"/>
                    </a:solidFill>
                  </a:tcPr>
                </a:tc>
              </a:tr>
              <a:tr h="390074">
                <a:tc>
                  <a:txBody>
                    <a:bodyPr/>
                    <a:lstStyle/>
                    <a:p>
                      <a:pPr>
                        <a:defRPr sz="950">
                          <a:solidFill>
                            <a:srgbClr val="212F3D"/>
                          </a:solidFill>
                          <a:latin typeface="Arial"/>
                        </a:defRPr>
                      </a:pPr>
                      <a:r>
                        <a:t>Kịch bản tối ưu nhất</a:t>
                      </a:r>
                    </a:p>
                  </a:txBody>
                  <a:tcPr anchor="ctr">
                    <a:solidFill>
                      <a:srgbClr val="F8F9FA"/>
                    </a:solidFill>
                  </a:tcPr>
                </a:tc>
                <a:tc>
                  <a:txBody>
                    <a:bodyPr/>
                    <a:lstStyle/>
                    <a:p>
                      <a:pPr>
                        <a:defRPr sz="950">
                          <a:solidFill>
                            <a:srgbClr val="212F3D"/>
                          </a:solidFill>
                          <a:latin typeface="Arial"/>
                        </a:defRPr>
                      </a:pPr>
                      <a:r>
                        <a:t>Tính toán số học nặng thuần Python</a:t>
                      </a:r>
                    </a:p>
                  </a:txBody>
                  <a:tcPr anchor="ctr">
                    <a:solidFill>
                      <a:srgbClr val="F8F9FA"/>
                    </a:solidFill>
                  </a:tcPr>
                </a:tc>
                <a:tc>
                  <a:txBody>
                    <a:bodyPr/>
                    <a:lstStyle/>
                    <a:p>
                      <a:pPr>
                        <a:defRPr sz="950">
                          <a:solidFill>
                            <a:srgbClr val="212F3D"/>
                          </a:solidFill>
                          <a:latin typeface="Arial"/>
                        </a:defRPr>
                      </a:pPr>
                      <a:r>
                        <a:t>I/O khi phải dùng thư viện blocking</a:t>
                      </a:r>
                    </a:p>
                  </a:txBody>
                  <a:tcPr anchor="ctr">
                    <a:solidFill>
                      <a:srgbClr val="F8F9FA"/>
                    </a:solidFill>
                  </a:tcPr>
                </a:tc>
                <a:tc>
                  <a:txBody>
                    <a:bodyPr/>
                    <a:lstStyle/>
                    <a:p>
                      <a:pPr>
                        <a:defRPr sz="950">
                          <a:solidFill>
                            <a:srgbClr val="212F3D"/>
                          </a:solidFill>
                          <a:latin typeface="Arial"/>
                        </a:defRPr>
                      </a:pPr>
                      <a:r>
                        <a:t>I/O mạng quy mô lớn (C10K / C100K)</a:t>
                      </a:r>
                    </a:p>
                  </a:txBody>
                  <a:tcPr anchor="ctr">
                    <a:solidFill>
                      <a:srgbClr val="F8F9FA"/>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79832"/>
            <a:ext cx="9720072" cy="126034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wrap="square" lIns="359918"/>
          <a:lstStyle/>
          <a:p>
            <a:pPr algn="ctr">
              <a:defRPr sz="2500" b="1">
                <a:solidFill>
                  <a:srgbClr val="FFFFFF"/>
                </a:solidFill>
                <a:latin typeface="Arial"/>
              </a:defRPr>
            </a:pPr>
            <a:r>
              <a:t>PHÂN LOẠI BÀI TOÁN</a:t>
            </a:r>
          </a:p>
        </p:txBody>
      </p:sp>
      <p:sp>
        <p:nvSpPr>
          <p:cNvPr id="3" name="Rectangle 2"/>
          <p:cNvSpPr/>
          <p:nvPr/>
        </p:nvSpPr>
        <p:spPr>
          <a:xfrm>
            <a:off x="179832" y="6839711"/>
            <a:ext cx="539496"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rial"/>
              </a:defRPr>
            </a:pPr>
            <a:r>
              <a:t>13</a:t>
            </a:r>
          </a:p>
        </p:txBody>
      </p:sp>
      <p:sp>
        <p:nvSpPr>
          <p:cNvPr id="4" name="Rectangle 3"/>
          <p:cNvSpPr/>
          <p:nvPr/>
        </p:nvSpPr>
        <p:spPr>
          <a:xfrm>
            <a:off x="900684" y="6839711"/>
            <a:ext cx="6480048" cy="541020"/>
          </a:xfrm>
          <a:prstGeom prst="rect">
            <a:avLst/>
          </a:prstGeom>
          <a:solidFill>
            <a:srgbClr val="BDC3C7"/>
          </a:solidFill>
          <a:ln>
            <a:noFill/>
          </a:ln>
        </p:spPr>
        <p:style>
          <a:lnRef idx="1">
            <a:schemeClr val="accent1"/>
          </a:lnRef>
          <a:fillRef idx="3">
            <a:schemeClr val="accent1"/>
          </a:fillRef>
          <a:effectRef idx="2">
            <a:schemeClr val="accent1"/>
          </a:effectRef>
          <a:fontRef idx="minor">
            <a:schemeClr val="lt1"/>
          </a:fontRef>
        </p:style>
        <p:txBody>
          <a:bodyPr rtlCol="0" anchor="ctr" lIns="190500"/>
          <a:lstStyle/>
          <a:p>
            <a:pPr algn="ctr">
              <a:defRPr sz="1200">
                <a:solidFill>
                  <a:srgbClr val="2C3E50"/>
                </a:solidFill>
                <a:latin typeface="Arial"/>
              </a:defRPr>
            </a:pPr>
            <a:r>
              <a:t>I/O-bound vs CPU-bound vs Mixed Workload</a:t>
            </a:r>
          </a:p>
        </p:txBody>
      </p:sp>
      <p:sp>
        <p:nvSpPr>
          <p:cNvPr id="5" name="Rectangle 4"/>
          <p:cNvSpPr/>
          <p:nvPr/>
        </p:nvSpPr>
        <p:spPr>
          <a:xfrm>
            <a:off x="7560564" y="6839711"/>
            <a:ext cx="2519172"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01 - 2026</a:t>
            </a:r>
          </a:p>
        </p:txBody>
      </p:sp>
      <p:sp>
        <p:nvSpPr>
          <p:cNvPr id="6" name="TextBox 5"/>
          <p:cNvSpPr txBox="1"/>
          <p:nvPr/>
        </p:nvSpPr>
        <p:spPr>
          <a:xfrm>
            <a:off x="359918" y="1549400"/>
            <a:ext cx="9334500" cy="406400"/>
          </a:xfrm>
          <a:prstGeom prst="rect">
            <a:avLst/>
          </a:prstGeom>
          <a:noFill/>
        </p:spPr>
        <p:txBody>
          <a:bodyPr wrap="square" tIns="0" lIns="0">
            <a:spAutoFit/>
          </a:bodyPr>
          <a:lstStyle/>
          <a:p>
            <a:pPr>
              <a:defRPr sz="1700" b="1">
                <a:solidFill>
                  <a:srgbClr val="2C3E50"/>
                </a:solidFill>
                <a:latin typeface="Arial"/>
              </a:defRPr>
            </a:pPr>
            <a:r>
              <a:t>➢ Nhận diện triệu chứng nút thắt trước khi lựa chọn công cụ kỹ thuật</a:t>
            </a:r>
          </a:p>
        </p:txBody>
      </p:sp>
      <p:sp>
        <p:nvSpPr>
          <p:cNvPr id="7" name="TextBox 6"/>
          <p:cNvSpPr txBox="1"/>
          <p:nvPr/>
        </p:nvSpPr>
        <p:spPr>
          <a:xfrm>
            <a:off x="359918" y="1905000"/>
            <a:ext cx="9334500" cy="1841500"/>
          </a:xfrm>
          <a:prstGeom prst="rect">
            <a:avLst/>
          </a:prstGeom>
          <a:noFill/>
        </p:spPr>
        <p:txBody>
          <a:bodyPr wrap="square" tIns="0" lIns="0">
            <a:spAutoFit/>
          </a:bodyPr>
          <a:lstStyle/>
          <a:p>
            <a:pPr>
              <a:spcBef>
                <a:spcPts val="200"/>
              </a:spcBef>
              <a:spcAft>
                <a:spcPts val="500"/>
              </a:spcAft>
            </a:pPr>
            <a:r>
              <a:rPr sz="1150" b="1">
                <a:solidFill>
                  <a:srgbClr val="2C3E50"/>
                </a:solidFill>
                <a:latin typeface="Arial"/>
              </a:rPr>
              <a:t>□ Nghẽn Nhập/Xuất (I/O-bound): </a:t>
            </a:r>
            <a:r>
              <a:rPr sz="1150">
                <a:solidFill>
                  <a:srgbClr val="212F3D"/>
                </a:solidFill>
                <a:latin typeface="Arial"/>
              </a:rPr>
              <a:t>Thời gian chủ yếu mất vào chờ mạng, đĩa, cơ sở dữ liệu. Triệu chứng: CPU utilization &lt; 15%, Wall time rất dài, đèn mạng/đĩa nhấp nháy liên tục. Phép đo: CPU Time &lt;&lt; Wall Time. Ứng viên: `asyncio` hoặc `ThreadPoolExecutor`.</a:t>
            </a:r>
          </a:p>
          <a:p>
            <a:pPr>
              <a:spcBef>
                <a:spcPts val="200"/>
              </a:spcBef>
              <a:spcAft>
                <a:spcPts val="500"/>
              </a:spcAft>
            </a:pPr>
            <a:r>
              <a:rPr sz="1150" b="1">
                <a:solidFill>
                  <a:srgbClr val="2C3E50"/>
                </a:solidFill>
                <a:latin typeface="Arial"/>
              </a:rPr>
              <a:t>□ Nghẽn Tính toán (CPU-bound): </a:t>
            </a:r>
            <a:r>
              <a:rPr sz="1150">
                <a:solidFill>
                  <a:srgbClr val="212F3D"/>
                </a:solidFill>
                <a:latin typeface="Arial"/>
              </a:rPr>
              <a:t>Thời gian chủ yếu mất vào tính ma trận số học, mã hóa, giải nén. Triệu chứng: CPU utilization 100% trên các core, quạt tản nhiệt quay tối đa. Phép đo: CPU Time ≈ Wall Time. Ứng viên: `ProcessPoolExecutor` (vượt GIL CPython).</a:t>
            </a:r>
          </a:p>
          <a:p>
            <a:pPr>
              <a:spcBef>
                <a:spcPts val="200"/>
              </a:spcBef>
              <a:spcAft>
                <a:spcPts val="500"/>
              </a:spcAft>
            </a:pPr>
            <a:r>
              <a:rPr sz="1150" b="1">
                <a:solidFill>
                  <a:srgbClr val="2C3E50"/>
                </a:solidFill>
                <a:latin typeface="Arial"/>
              </a:rPr>
              <a:t>□ Workload Hỗn hợp (Mixed Workload): </a:t>
            </a:r>
            <a:r>
              <a:rPr sz="1150">
                <a:solidFill>
                  <a:srgbClr val="212F3D"/>
                </a:solidFill>
                <a:latin typeface="Arial"/>
              </a:rPr>
              <a:t>Hệ thống vừa đọc mạng cảm biến (I/O), vừa tính toán chỉ số AQI (CPU), vừa lưu dữ liệu cảnh báo vào DB (I/O).</a:t>
            </a:r>
          </a:p>
        </p:txBody>
      </p:sp>
      <p:pic>
        <p:nvPicPr>
          <p:cNvPr id="8" name="Picture 7" descr="diag_s5_workload_taxonomy.png"/>
          <p:cNvPicPr>
            <a:picLocks noChangeAspect="1"/>
          </p:cNvPicPr>
          <p:nvPr/>
        </p:nvPicPr>
        <p:blipFill>
          <a:blip r:embed="rId2"/>
          <a:stretch>
            <a:fillRect/>
          </a:stretch>
        </p:blipFill>
        <p:spPr>
          <a:xfrm>
            <a:off x="359918" y="3873500"/>
            <a:ext cx="9334500" cy="27305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79832"/>
            <a:ext cx="9720072" cy="126034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wrap="square" lIns="359918"/>
          <a:lstStyle/>
          <a:p>
            <a:pPr algn="ctr">
              <a:defRPr sz="2500" b="1">
                <a:solidFill>
                  <a:srgbClr val="FFFFFF"/>
                </a:solidFill>
                <a:latin typeface="Arial"/>
              </a:defRPr>
            </a:pPr>
            <a:r>
              <a:t>KIẾN TRÚC LAI</a:t>
            </a:r>
          </a:p>
        </p:txBody>
      </p:sp>
      <p:sp>
        <p:nvSpPr>
          <p:cNvPr id="3" name="Rectangle 2"/>
          <p:cNvSpPr/>
          <p:nvPr/>
        </p:nvSpPr>
        <p:spPr>
          <a:xfrm>
            <a:off x="179832" y="6839711"/>
            <a:ext cx="539496"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rial"/>
              </a:defRPr>
            </a:pPr>
            <a:r>
              <a:t>14</a:t>
            </a:r>
          </a:p>
        </p:txBody>
      </p:sp>
      <p:sp>
        <p:nvSpPr>
          <p:cNvPr id="4" name="Rectangle 3"/>
          <p:cNvSpPr/>
          <p:nvPr/>
        </p:nvSpPr>
        <p:spPr>
          <a:xfrm>
            <a:off x="900684" y="6839711"/>
            <a:ext cx="6480048" cy="541020"/>
          </a:xfrm>
          <a:prstGeom prst="rect">
            <a:avLst/>
          </a:prstGeom>
          <a:solidFill>
            <a:srgbClr val="BDC3C7"/>
          </a:solidFill>
          <a:ln>
            <a:noFill/>
          </a:ln>
        </p:spPr>
        <p:style>
          <a:lnRef idx="1">
            <a:schemeClr val="accent1"/>
          </a:lnRef>
          <a:fillRef idx="3">
            <a:schemeClr val="accent1"/>
          </a:fillRef>
          <a:effectRef idx="2">
            <a:schemeClr val="accent1"/>
          </a:effectRef>
          <a:fontRef idx="minor">
            <a:schemeClr val="lt1"/>
          </a:fontRef>
        </p:style>
        <p:txBody>
          <a:bodyPr rtlCol="0" anchor="ctr" lIns="190500"/>
          <a:lstStyle/>
          <a:p>
            <a:pPr algn="ctr">
              <a:defRPr sz="1200">
                <a:solidFill>
                  <a:srgbClr val="2C3E50"/>
                </a:solidFill>
                <a:latin typeface="Arial"/>
              </a:defRPr>
            </a:pPr>
            <a:r>
              <a:t>Cây Quyết định Công nghệ &amp; Mô hình Kiến trúc Lai (Hybrid)</a:t>
            </a:r>
          </a:p>
        </p:txBody>
      </p:sp>
      <p:sp>
        <p:nvSpPr>
          <p:cNvPr id="5" name="Rectangle 4"/>
          <p:cNvSpPr/>
          <p:nvPr/>
        </p:nvSpPr>
        <p:spPr>
          <a:xfrm>
            <a:off x="7560564" y="6839711"/>
            <a:ext cx="2519172"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01 - 2026</a:t>
            </a:r>
          </a:p>
        </p:txBody>
      </p:sp>
      <p:sp>
        <p:nvSpPr>
          <p:cNvPr id="6" name="TextBox 5"/>
          <p:cNvSpPr txBox="1"/>
          <p:nvPr/>
        </p:nvSpPr>
        <p:spPr>
          <a:xfrm>
            <a:off x="359918" y="1549400"/>
            <a:ext cx="9334500" cy="406400"/>
          </a:xfrm>
          <a:prstGeom prst="rect">
            <a:avLst/>
          </a:prstGeom>
          <a:noFill/>
        </p:spPr>
        <p:txBody>
          <a:bodyPr wrap="square" tIns="0" lIns="0">
            <a:spAutoFit/>
          </a:bodyPr>
          <a:lstStyle/>
          <a:p>
            <a:pPr>
              <a:defRPr sz="1700" b="1">
                <a:solidFill>
                  <a:srgbClr val="2C3E50"/>
                </a:solidFill>
                <a:latin typeface="Arial"/>
              </a:defRPr>
            </a:pPr>
            <a:r>
              <a:t>➢ Chiến lược phân luồng: Asyncio tiếp nhận I/O + ProcessPool xử lý CPU</a:t>
            </a:r>
          </a:p>
        </p:txBody>
      </p:sp>
      <p:sp>
        <p:nvSpPr>
          <p:cNvPr id="7" name="TextBox 6"/>
          <p:cNvSpPr txBox="1"/>
          <p:nvPr/>
        </p:nvSpPr>
        <p:spPr>
          <a:xfrm>
            <a:off x="359918" y="1905000"/>
            <a:ext cx="9334500" cy="2095500"/>
          </a:xfrm>
          <a:prstGeom prst="rect">
            <a:avLst/>
          </a:prstGeom>
          <a:noFill/>
        </p:spPr>
        <p:txBody>
          <a:bodyPr wrap="square" tIns="0" lIns="0">
            <a:spAutoFit/>
          </a:bodyPr>
          <a:lstStyle/>
          <a:p>
            <a:pPr>
              <a:spcBef>
                <a:spcPts val="200"/>
              </a:spcBef>
              <a:spcAft>
                <a:spcPts val="500"/>
              </a:spcAft>
            </a:pPr>
            <a:r>
              <a:rPr sz="1150" b="1">
                <a:solidFill>
                  <a:srgbClr val="2C3E50"/>
                </a:solidFill>
                <a:latin typeface="Arial"/>
              </a:rPr>
              <a:t>□ Cây quyết định lựa chọn công cụ: </a:t>
            </a:r>
            <a:r>
              <a:rPr sz="1150">
                <a:solidFill>
                  <a:srgbClr val="212F3D"/>
                </a:solidFill>
                <a:latin typeface="Arial"/>
              </a:rPr>
              <a:t>Chờ mạng/đĩa? ➔ Có thư viện async native (aiohttp, asyncpg)? ➔ Chọn `asyncio`. Thư viện cũ blocking? ➔ Chọn `ThreadPoolExecutor`. Tính toán nặng thuần Python? ➔ Chọn `ProcessPoolExecutor`.</a:t>
            </a:r>
          </a:p>
          <a:p>
            <a:pPr>
              <a:spcBef>
                <a:spcPts val="200"/>
              </a:spcBef>
              <a:spcAft>
                <a:spcPts val="500"/>
              </a:spcAft>
            </a:pPr>
            <a:r>
              <a:rPr sz="1150" b="1">
                <a:solidFill>
                  <a:srgbClr val="2C3E50"/>
                </a:solidFill>
                <a:latin typeface="Arial"/>
              </a:rPr>
              <a:t>□ Nguyên lý Kiến trúc Lai (Hybrid Architecture): </a:t>
            </a:r>
            <a:r>
              <a:rPr sz="1150">
                <a:solidFill>
                  <a:srgbClr val="212F3D"/>
                </a:solidFill>
                <a:latin typeface="Arial"/>
              </a:rPr>
              <a:t>Sử dụng Asyncio Event Loop ở tầng ngoài cùng để tiếp nhận hàng chục nghìn kết nối cảm biến I/O non-blocking; khi cần tính toán AQI nặng, offload tác vụ sang ProcessPool thông qua `loop.run_in_executor()`.</a:t>
            </a:r>
          </a:p>
          <a:p>
            <a:pPr>
              <a:spcBef>
                <a:spcPts val="200"/>
              </a:spcBef>
              <a:spcAft>
                <a:spcPts val="500"/>
              </a:spcAft>
            </a:pPr>
            <a:r>
              <a:rPr sz="1150" b="1">
                <a:solidFill>
                  <a:srgbClr val="2C3E50"/>
                </a:solidFill>
                <a:latin typeface="Arial"/>
              </a:rPr>
              <a:t>□ Cơ chế chống tràn tải (Backpressure Queue): </a:t>
            </a:r>
            <a:r>
              <a:rPr sz="1150">
                <a:solidFill>
                  <a:srgbClr val="212F3D"/>
                </a:solidFill>
                <a:latin typeface="Arial"/>
              </a:rPr>
              <a:t>Sử dụng `asyncio.Queue(maxsize=N)` để ngăn chặn việc hàng triệu gói tin mạng tràn vào làm quá tải và nghẽn bộ nhớ của ProcessPool worker.</a:t>
            </a:r>
          </a:p>
        </p:txBody>
      </p:sp>
      <p:sp>
        <p:nvSpPr>
          <p:cNvPr id="8" name="Rounded Rectangle 7"/>
          <p:cNvSpPr/>
          <p:nvPr/>
        </p:nvSpPr>
        <p:spPr>
          <a:xfrm>
            <a:off x="359918" y="4254500"/>
            <a:ext cx="9334500" cy="2286000"/>
          </a:xfrm>
          <a:prstGeom prst="roundRect">
            <a:avLst/>
          </a:prstGeom>
          <a:solidFill>
            <a:srgbClr val="F8F9FA"/>
          </a:solidFill>
          <a:ln w="15240">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wrap="square" tIns="101600" lIns="152400" rIns="152400" bIns="101600"/>
          <a:lstStyle/>
          <a:p>
            <a:pPr algn="ctr">
              <a:spcAft>
                <a:spcPts val="400"/>
              </a:spcAft>
              <a:defRPr sz="1150" b="1">
                <a:solidFill>
                  <a:srgbClr val="2C3E50"/>
                </a:solidFill>
                <a:latin typeface="Arial"/>
              </a:defRPr>
            </a:pPr>
            <a:r>
              <a:t>QUY TRÌNH KIẾN TRÚC LAI CHUẨN CÔNG NGHIỆP TRONG PYTHON</a:t>
            </a:r>
          </a:p>
          <a:p>
            <a:pPr>
              <a:spcAft>
                <a:spcPts val="300"/>
              </a:spcAft>
              <a:defRPr sz="1000">
                <a:solidFill>
                  <a:srgbClr val="212F3D"/>
                </a:solidFill>
                <a:latin typeface="Arial"/>
              </a:defRPr>
            </a:pPr>
            <a:r>
              <a:rPr b="1">
                <a:solidFill>
                  <a:srgbClr val="2C3E50"/>
                </a:solidFill>
              </a:rPr>
              <a:t>• Tầng tiếp nhận I/O (Asyncio Loop): </a:t>
            </a:r>
            <a:r>
              <a:rPr>
                <a:solidFill>
                  <a:srgbClr val="212F3D"/>
                </a:solidFill>
              </a:rPr>
              <a:t>async def handle_stream(): data = await read_station_packet() # Non-blocking</a:t>
            </a:r>
          </a:p>
          <a:p>
            <a:pPr>
              <a:spcAft>
                <a:spcPts val="300"/>
              </a:spcAft>
              <a:defRPr sz="1000">
                <a:solidFill>
                  <a:srgbClr val="212F3D"/>
                </a:solidFill>
                <a:latin typeface="Arial"/>
              </a:defRPr>
            </a:pPr>
            <a:r>
              <a:rPr b="1">
                <a:solidFill>
                  <a:srgbClr val="2C3E50"/>
                </a:solidFill>
              </a:rPr>
              <a:t>• Tầng xử lý nặng (ProcessPool Worker): </a:t>
            </a:r>
            <a:r>
              <a:rPr>
                <a:solidFill>
                  <a:srgbClr val="212F3D"/>
                </a:solidFill>
              </a:rPr>
              <a:t>aqi_metric = await loop.run_in_executor(cpu_pool, heavy_aqi_calc, data)</a:t>
            </a:r>
          </a:p>
          <a:p>
            <a:pPr>
              <a:spcAft>
                <a:spcPts val="300"/>
              </a:spcAft>
              <a:defRPr sz="1000">
                <a:solidFill>
                  <a:srgbClr val="212F3D"/>
                </a:solidFill>
                <a:latin typeface="Arial"/>
              </a:defRPr>
            </a:pPr>
            <a:r>
              <a:rPr b="1">
                <a:solidFill>
                  <a:srgbClr val="2C3E50"/>
                </a:solidFill>
              </a:rPr>
              <a:t>• Tầng lưu trữ &amp; Cảnh báo (Asyncio DB): </a:t>
            </a:r>
            <a:r>
              <a:rPr>
                <a:solidFill>
                  <a:srgbClr val="212F3D"/>
                </a:solidFill>
              </a:rPr>
              <a:t>await async_db.insert(aqi_metric) # Hoàn tất pipeline không gây nghẽn bất kỳ tầng nào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79832"/>
            <a:ext cx="9720072" cy="126034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wrap="square" lIns="359918"/>
          <a:lstStyle/>
          <a:p>
            <a:pPr algn="ctr">
              <a:defRPr sz="2500" b="1">
                <a:solidFill>
                  <a:srgbClr val="FFFFFF"/>
                </a:solidFill>
                <a:latin typeface="Arial"/>
              </a:defRPr>
            </a:pPr>
            <a:r>
              <a:t>ĐO LƯỜNG HIỆU NĂNG</a:t>
            </a:r>
          </a:p>
        </p:txBody>
      </p:sp>
      <p:sp>
        <p:nvSpPr>
          <p:cNvPr id="3" name="Rectangle 2"/>
          <p:cNvSpPr/>
          <p:nvPr/>
        </p:nvSpPr>
        <p:spPr>
          <a:xfrm>
            <a:off x="179832" y="6839711"/>
            <a:ext cx="539496"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rial"/>
              </a:defRPr>
            </a:pPr>
            <a:r>
              <a:t>15</a:t>
            </a:r>
          </a:p>
        </p:txBody>
      </p:sp>
      <p:sp>
        <p:nvSpPr>
          <p:cNvPr id="4" name="Rectangle 3"/>
          <p:cNvSpPr/>
          <p:nvPr/>
        </p:nvSpPr>
        <p:spPr>
          <a:xfrm>
            <a:off x="900684" y="6839711"/>
            <a:ext cx="6480048" cy="541020"/>
          </a:xfrm>
          <a:prstGeom prst="rect">
            <a:avLst/>
          </a:prstGeom>
          <a:solidFill>
            <a:srgbClr val="BDC3C7"/>
          </a:solidFill>
          <a:ln>
            <a:noFill/>
          </a:ln>
        </p:spPr>
        <p:style>
          <a:lnRef idx="1">
            <a:schemeClr val="accent1"/>
          </a:lnRef>
          <a:fillRef idx="3">
            <a:schemeClr val="accent1"/>
          </a:fillRef>
          <a:effectRef idx="2">
            <a:schemeClr val="accent1"/>
          </a:effectRef>
          <a:fontRef idx="minor">
            <a:schemeClr val="lt1"/>
          </a:fontRef>
        </p:style>
        <p:txBody>
          <a:bodyPr rtlCol="0" anchor="ctr" lIns="190500"/>
          <a:lstStyle/>
          <a:p>
            <a:pPr algn="ctr">
              <a:defRPr sz="1200">
                <a:solidFill>
                  <a:srgbClr val="2C3E50"/>
                </a:solidFill>
                <a:latin typeface="Arial"/>
              </a:defRPr>
            </a:pPr>
            <a:r>
              <a:t>Phương pháp luận Đo lường &amp; Triết lý 'Correctness First'</a:t>
            </a:r>
          </a:p>
        </p:txBody>
      </p:sp>
      <p:sp>
        <p:nvSpPr>
          <p:cNvPr id="5" name="Rectangle 4"/>
          <p:cNvSpPr/>
          <p:nvPr/>
        </p:nvSpPr>
        <p:spPr>
          <a:xfrm>
            <a:off x="7560564" y="6839711"/>
            <a:ext cx="2519172"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01 - 2026</a:t>
            </a:r>
          </a:p>
        </p:txBody>
      </p:sp>
      <p:sp>
        <p:nvSpPr>
          <p:cNvPr id="6" name="TextBox 5"/>
          <p:cNvSpPr txBox="1"/>
          <p:nvPr/>
        </p:nvSpPr>
        <p:spPr>
          <a:xfrm>
            <a:off x="359918" y="1549400"/>
            <a:ext cx="9334500" cy="406400"/>
          </a:xfrm>
          <a:prstGeom prst="rect">
            <a:avLst/>
          </a:prstGeom>
          <a:noFill/>
        </p:spPr>
        <p:txBody>
          <a:bodyPr wrap="square" tIns="0" lIns="0">
            <a:spAutoFit/>
          </a:bodyPr>
          <a:lstStyle/>
          <a:p>
            <a:pPr>
              <a:defRPr sz="1700" b="1">
                <a:solidFill>
                  <a:srgbClr val="2C3E50"/>
                </a:solidFill>
                <a:latin typeface="Arial"/>
              </a:defRPr>
            </a:pPr>
            <a:r>
              <a:t>➢ Nguyên tắc sống còn: Đúng trước, Nhanh sau &amp; Bốn chỉ số hiệu năng chuẩn</a:t>
            </a:r>
          </a:p>
        </p:txBody>
      </p:sp>
      <p:sp>
        <p:nvSpPr>
          <p:cNvPr id="7" name="TextBox 6"/>
          <p:cNvSpPr txBox="1"/>
          <p:nvPr/>
        </p:nvSpPr>
        <p:spPr>
          <a:xfrm>
            <a:off x="359918" y="1905000"/>
            <a:ext cx="9334500" cy="2095500"/>
          </a:xfrm>
          <a:prstGeom prst="rect">
            <a:avLst/>
          </a:prstGeom>
          <a:noFill/>
        </p:spPr>
        <p:txBody>
          <a:bodyPr wrap="square" tIns="0" lIns="0">
            <a:spAutoFit/>
          </a:bodyPr>
          <a:lstStyle/>
          <a:p>
            <a:pPr>
              <a:spcBef>
                <a:spcPts val="200"/>
              </a:spcBef>
              <a:spcAft>
                <a:spcPts val="500"/>
              </a:spcAft>
            </a:pPr>
            <a:r>
              <a:rPr sz="1150" b="1">
                <a:solidFill>
                  <a:srgbClr val="2C3E50"/>
                </a:solidFill>
                <a:latin typeface="Arial"/>
              </a:rPr>
              <a:t>□ Triết lý 'Correctness First': </a:t>
            </a:r>
            <a:r>
              <a:rPr sz="1150">
                <a:solidFill>
                  <a:srgbClr val="212F3D"/>
                </a:solidFill>
                <a:latin typeface="Arial"/>
              </a:rPr>
              <a:t>Một chương trình chạy nhanh gấp 10 lần nhưng tính sai chỉ số AQI hoặc làm mất mát 20% dữ liệu cảm biến là HOÀN TOÀN VÔ GIÁ TRỊ! Tính đúng đắn luôn là điều kiện tiên quyết.</a:t>
            </a:r>
          </a:p>
          <a:p>
            <a:pPr>
              <a:spcBef>
                <a:spcPts val="200"/>
              </a:spcBef>
              <a:spcAft>
                <a:spcPts val="500"/>
              </a:spcAft>
            </a:pPr>
            <a:r>
              <a:rPr sz="1150" b="1">
                <a:solidFill>
                  <a:srgbClr val="2C3E50"/>
                </a:solidFill>
                <a:latin typeface="Arial"/>
              </a:rPr>
              <a:t>□ Bộ 4 chỉ số hiệu năng chuẩn mực: </a:t>
            </a:r>
            <a:r>
              <a:rPr sz="1150">
                <a:solidFill>
                  <a:srgbClr val="212F3D"/>
                </a:solidFill>
                <a:latin typeface="Arial"/>
              </a:rPr>
              <a:t>1) Latency (Độ trễ - ms) | 2) Throughput (Thông lượng - req/s) | 3) Hệ số tăng tốc Speedup: S(N) = T_seq / T_par(N) | 4) Hiệu suất tài nguyên: Efficiency E(N) = S(N) / N.</a:t>
            </a:r>
          </a:p>
          <a:p>
            <a:pPr>
              <a:spcBef>
                <a:spcPts val="200"/>
              </a:spcBef>
              <a:spcAft>
                <a:spcPts val="500"/>
              </a:spcAft>
            </a:pPr>
            <a:r>
              <a:rPr sz="1150" b="1">
                <a:solidFill>
                  <a:srgbClr val="2C3E50"/>
                </a:solidFill>
                <a:latin typeface="Arial"/>
              </a:rPr>
              <a:t>□ Sequential Oracle (Mốc chuẩn chân lý): </a:t>
            </a:r>
            <a:r>
              <a:rPr sz="1150">
                <a:solidFill>
                  <a:srgbClr val="212F3D"/>
                </a:solidFill>
                <a:latin typeface="Arial"/>
              </a:rPr>
              <a:t>Bản tuần tự chuẩn mực là thước đo kiểm chứng. Mọi chế độ tối ưu (Thread, Process, Async) bắt buộc phải đối soát trùng khớp 100% mã băm `Result Digest SHA-256`.</a:t>
            </a:r>
          </a:p>
        </p:txBody>
      </p:sp>
      <p:graphicFrame>
        <p:nvGraphicFramePr>
          <p:cNvPr id="8" name="Table 7"/>
          <p:cNvGraphicFramePr>
            <a:graphicFrameLocks noGrp="1"/>
          </p:cNvGraphicFramePr>
          <p:nvPr/>
        </p:nvGraphicFramePr>
        <p:xfrm>
          <a:off x="359918" y="4254500"/>
          <a:ext cx="9334500" cy="2286000"/>
        </p:xfrm>
        <a:graphic>
          <a:graphicData uri="http://schemas.openxmlformats.org/drawingml/2006/table">
            <a:tbl>
              <a:tblPr firstRow="1" bandRow="1">
                <a:tableStyleId>{5C22544A-7EE6-4342-B048-85BDC9FD1C3A}</a:tableStyleId>
              </a:tblPr>
              <a:tblGrid>
                <a:gridCol w="1778000"/>
                <a:gridCol w="1651000"/>
                <a:gridCol w="1270000"/>
                <a:gridCol w="1206500"/>
                <a:gridCol w="1524000"/>
                <a:gridCol w="1905000"/>
              </a:tblGrid>
              <a:tr h="381000">
                <a:tc>
                  <a:txBody>
                    <a:bodyPr/>
                    <a:lstStyle/>
                    <a:p>
                      <a:pPr algn="ctr">
                        <a:defRPr sz="1050" b="1">
                          <a:solidFill>
                            <a:srgbClr val="FFFFFF"/>
                          </a:solidFill>
                          <a:latin typeface="Arial"/>
                        </a:defRPr>
                      </a:pPr>
                      <a:r>
                        <a:t>Chế độ thực thi (Mode)</a:t>
                      </a:r>
                    </a:p>
                  </a:txBody>
                  <a:tcPr anchor="ctr">
                    <a:solidFill>
                      <a:srgbClr val="E74C3C"/>
                    </a:solidFill>
                  </a:tcPr>
                </a:tc>
                <a:tc>
                  <a:txBody>
                    <a:bodyPr/>
                    <a:lstStyle/>
                    <a:p>
                      <a:pPr algn="ctr">
                        <a:defRPr sz="1050" b="1">
                          <a:solidFill>
                            <a:srgbClr val="FFFFFF"/>
                          </a:solidFill>
                          <a:latin typeface="Arial"/>
                        </a:defRPr>
                      </a:pPr>
                      <a:r>
                        <a:t>Đơn vị thực thi</a:t>
                      </a:r>
                    </a:p>
                  </a:txBody>
                  <a:tcPr anchor="ctr">
                    <a:solidFill>
                      <a:srgbClr val="E74C3C"/>
                    </a:solidFill>
                  </a:tcPr>
                </a:tc>
                <a:tc>
                  <a:txBody>
                    <a:bodyPr/>
                    <a:lstStyle/>
                    <a:p>
                      <a:pPr algn="ctr">
                        <a:defRPr sz="1050" b="1">
                          <a:solidFill>
                            <a:srgbClr val="FFFFFF"/>
                          </a:solidFill>
                          <a:latin typeface="Arial"/>
                        </a:defRPr>
                      </a:pPr>
                      <a:r>
                        <a:t>Wall Time (s)</a:t>
                      </a:r>
                    </a:p>
                  </a:txBody>
                  <a:tcPr anchor="ctr">
                    <a:solidFill>
                      <a:srgbClr val="E74C3C"/>
                    </a:solidFill>
                  </a:tcPr>
                </a:tc>
                <a:tc>
                  <a:txBody>
                    <a:bodyPr/>
                    <a:lstStyle/>
                    <a:p>
                      <a:pPr algn="ctr">
                        <a:defRPr sz="1050" b="1">
                          <a:solidFill>
                            <a:srgbClr val="FFFFFF"/>
                          </a:solidFill>
                          <a:latin typeface="Arial"/>
                        </a:defRPr>
                      </a:pPr>
                      <a:r>
                        <a:t>Speedup S(N)</a:t>
                      </a:r>
                    </a:p>
                  </a:txBody>
                  <a:tcPr anchor="ctr">
                    <a:solidFill>
                      <a:srgbClr val="E74C3C"/>
                    </a:solidFill>
                  </a:tcPr>
                </a:tc>
                <a:tc>
                  <a:txBody>
                    <a:bodyPr/>
                    <a:lstStyle/>
                    <a:p>
                      <a:pPr algn="ctr">
                        <a:defRPr sz="1050" b="1">
                          <a:solidFill>
                            <a:srgbClr val="FFFFFF"/>
                          </a:solidFill>
                          <a:latin typeface="Arial"/>
                        </a:defRPr>
                      </a:pPr>
                      <a:r>
                        <a:t>Efficiency E(N)</a:t>
                      </a:r>
                    </a:p>
                  </a:txBody>
                  <a:tcPr anchor="ctr">
                    <a:solidFill>
                      <a:srgbClr val="E74C3C"/>
                    </a:solidFill>
                  </a:tcPr>
                </a:tc>
                <a:tc>
                  <a:txBody>
                    <a:bodyPr/>
                    <a:lstStyle/>
                    <a:p>
                      <a:pPr algn="ctr">
                        <a:defRPr sz="1050" b="1">
                          <a:solidFill>
                            <a:srgbClr val="FFFFFF"/>
                          </a:solidFill>
                          <a:latin typeface="Arial"/>
                        </a:defRPr>
                      </a:pPr>
                      <a:r>
                        <a:t>Đối soát SHA-256 Digest</a:t>
                      </a:r>
                    </a:p>
                  </a:txBody>
                  <a:tcPr anchor="ctr">
                    <a:solidFill>
                      <a:srgbClr val="E74C3C"/>
                    </a:solidFill>
                  </a:tcPr>
                </a:tc>
              </a:tr>
              <a:tr h="381000">
                <a:tc>
                  <a:txBody>
                    <a:bodyPr/>
                    <a:lstStyle/>
                    <a:p>
                      <a:pPr>
                        <a:defRPr sz="950">
                          <a:solidFill>
                            <a:srgbClr val="212F3D"/>
                          </a:solidFill>
                          <a:latin typeface="Arial"/>
                        </a:defRPr>
                      </a:pPr>
                      <a:r>
                        <a:t>1. Sequential Baseline</a:t>
                      </a:r>
                    </a:p>
                  </a:txBody>
                  <a:tcPr anchor="ctr">
                    <a:solidFill>
                      <a:srgbClr val="FFFFFF"/>
                    </a:solidFill>
                  </a:tcPr>
                </a:tc>
                <a:tc>
                  <a:txBody>
                    <a:bodyPr/>
                    <a:lstStyle/>
                    <a:p>
                      <a:pPr>
                        <a:defRPr sz="950">
                          <a:solidFill>
                            <a:srgbClr val="212F3D"/>
                          </a:solidFill>
                          <a:latin typeface="Arial"/>
                        </a:defRPr>
                      </a:pPr>
                      <a:r>
                        <a:t>1 Core (Tuần tự)</a:t>
                      </a:r>
                    </a:p>
                  </a:txBody>
                  <a:tcPr anchor="ctr">
                    <a:solidFill>
                      <a:srgbClr val="FFFFFF"/>
                    </a:solidFill>
                  </a:tcPr>
                </a:tc>
                <a:tc>
                  <a:txBody>
                    <a:bodyPr/>
                    <a:lstStyle/>
                    <a:p>
                      <a:pPr>
                        <a:defRPr sz="950">
                          <a:solidFill>
                            <a:srgbClr val="212F3D"/>
                          </a:solidFill>
                          <a:latin typeface="Arial"/>
                        </a:defRPr>
                      </a:pPr>
                      <a:r>
                        <a:t>[T_seq = 1.20s]</a:t>
                      </a:r>
                    </a:p>
                  </a:txBody>
                  <a:tcPr anchor="ctr">
                    <a:solidFill>
                      <a:srgbClr val="FFFFFF"/>
                    </a:solidFill>
                  </a:tcPr>
                </a:tc>
                <a:tc>
                  <a:txBody>
                    <a:bodyPr/>
                    <a:lstStyle/>
                    <a:p>
                      <a:pPr>
                        <a:defRPr sz="950">
                          <a:solidFill>
                            <a:srgbClr val="212F3D"/>
                          </a:solidFill>
                          <a:latin typeface="Arial"/>
                        </a:defRPr>
                      </a:pPr>
                      <a:r>
                        <a:t>1.00 x (Gốc)</a:t>
                      </a:r>
                    </a:p>
                  </a:txBody>
                  <a:tcPr anchor="ctr">
                    <a:solidFill>
                      <a:srgbClr val="FFFFFF"/>
                    </a:solidFill>
                  </a:tcPr>
                </a:tc>
                <a:tc>
                  <a:txBody>
                    <a:bodyPr/>
                    <a:lstStyle/>
                    <a:p>
                      <a:pPr>
                        <a:defRPr sz="950">
                          <a:solidFill>
                            <a:srgbClr val="212F3D"/>
                          </a:solidFill>
                          <a:latin typeface="Arial"/>
                        </a:defRPr>
                      </a:pPr>
                      <a:r>
                        <a:t>100.0% (Mốc)</a:t>
                      </a:r>
                    </a:p>
                  </a:txBody>
                  <a:tcPr anchor="ctr">
                    <a:solidFill>
                      <a:srgbClr val="FFFFFF"/>
                    </a:solidFill>
                  </a:tcPr>
                </a:tc>
                <a:tc>
                  <a:txBody>
                    <a:bodyPr/>
                    <a:lstStyle/>
                    <a:p>
                      <a:pPr>
                        <a:defRPr sz="950">
                          <a:solidFill>
                            <a:srgbClr val="212F3D"/>
                          </a:solidFill>
                          <a:latin typeface="Arial"/>
                        </a:defRPr>
                      </a:pPr>
                      <a:r>
                        <a:t>CHÂN LÝ ĐỐI SOÁT (ORACLE)</a:t>
                      </a:r>
                    </a:p>
                  </a:txBody>
                  <a:tcPr anchor="ctr">
                    <a:solidFill>
                      <a:srgbClr val="FFFFFF"/>
                    </a:solidFill>
                  </a:tcPr>
                </a:tc>
              </a:tr>
              <a:tr h="381000">
                <a:tc>
                  <a:txBody>
                    <a:bodyPr/>
                    <a:lstStyle/>
                    <a:p>
                      <a:pPr>
                        <a:defRPr sz="950">
                          <a:solidFill>
                            <a:srgbClr val="212F3D"/>
                          </a:solidFill>
                          <a:latin typeface="Arial"/>
                        </a:defRPr>
                      </a:pPr>
                      <a:r>
                        <a:t>2. ThreadPoolExecutor</a:t>
                      </a:r>
                    </a:p>
                  </a:txBody>
                  <a:tcPr anchor="ctr">
                    <a:solidFill>
                      <a:srgbClr val="F8F9FA"/>
                    </a:solidFill>
                  </a:tcPr>
                </a:tc>
                <a:tc>
                  <a:txBody>
                    <a:bodyPr/>
                    <a:lstStyle/>
                    <a:p>
                      <a:pPr>
                        <a:defRPr sz="950">
                          <a:solidFill>
                            <a:srgbClr val="212F3D"/>
                          </a:solidFill>
                          <a:latin typeface="Arial"/>
                        </a:defRPr>
                      </a:pPr>
                      <a:r>
                        <a:t>Worker Threads</a:t>
                      </a:r>
                    </a:p>
                  </a:txBody>
                  <a:tcPr anchor="ctr">
                    <a:solidFill>
                      <a:srgbClr val="F8F9FA"/>
                    </a:solidFill>
                  </a:tcPr>
                </a:tc>
                <a:tc>
                  <a:txBody>
                    <a:bodyPr/>
                    <a:lstStyle/>
                    <a:p>
                      <a:pPr>
                        <a:defRPr sz="950">
                          <a:solidFill>
                            <a:srgbClr val="212F3D"/>
                          </a:solidFill>
                          <a:latin typeface="Arial"/>
                        </a:defRPr>
                      </a:pPr>
                      <a:r>
                        <a:t>[TV2 đo đạc]</a:t>
                      </a:r>
                    </a:p>
                  </a:txBody>
                  <a:tcPr anchor="ctr">
                    <a:solidFill>
                      <a:srgbClr val="F8F9FA"/>
                    </a:solidFill>
                  </a:tcPr>
                </a:tc>
                <a:tc>
                  <a:txBody>
                    <a:bodyPr/>
                    <a:lstStyle/>
                    <a:p>
                      <a:pPr>
                        <a:defRPr sz="950">
                          <a:solidFill>
                            <a:srgbClr val="212F3D"/>
                          </a:solidFill>
                          <a:latin typeface="Arial"/>
                        </a:defRPr>
                      </a:pPr>
                      <a:r>
                        <a:t>[S_thread]</a:t>
                      </a:r>
                    </a:p>
                  </a:txBody>
                  <a:tcPr anchor="ctr">
                    <a:solidFill>
                      <a:srgbClr val="F8F9FA"/>
                    </a:solidFill>
                  </a:tcPr>
                </a:tc>
                <a:tc>
                  <a:txBody>
                    <a:bodyPr/>
                    <a:lstStyle/>
                    <a:p>
                      <a:pPr>
                        <a:defRPr sz="950">
                          <a:solidFill>
                            <a:srgbClr val="212F3D"/>
                          </a:solidFill>
                          <a:latin typeface="Arial"/>
                        </a:defRPr>
                      </a:pPr>
                      <a:r>
                        <a:t>[E_thread]</a:t>
                      </a:r>
                    </a:p>
                  </a:txBody>
                  <a:tcPr anchor="ctr">
                    <a:solidFill>
                      <a:srgbClr val="F8F9FA"/>
                    </a:solidFill>
                  </a:tcPr>
                </a:tc>
                <a:tc>
                  <a:txBody>
                    <a:bodyPr/>
                    <a:lstStyle/>
                    <a:p>
                      <a:pPr>
                        <a:defRPr sz="950">
                          <a:solidFill>
                            <a:srgbClr val="212F3D"/>
                          </a:solidFill>
                          <a:latin typeface="Arial"/>
                        </a:defRPr>
                      </a:pPr>
                      <a:r>
                        <a:t>Phải khớp 100% SHA-256</a:t>
                      </a:r>
                    </a:p>
                  </a:txBody>
                  <a:tcPr anchor="ctr">
                    <a:solidFill>
                      <a:srgbClr val="F8F9FA"/>
                    </a:solidFill>
                  </a:tcPr>
                </a:tc>
              </a:tr>
              <a:tr h="381000">
                <a:tc>
                  <a:txBody>
                    <a:bodyPr/>
                    <a:lstStyle/>
                    <a:p>
                      <a:pPr>
                        <a:defRPr sz="950">
                          <a:solidFill>
                            <a:srgbClr val="212F3D"/>
                          </a:solidFill>
                          <a:latin typeface="Arial"/>
                        </a:defRPr>
                      </a:pPr>
                      <a:r>
                        <a:t>3. ProcessPoolExecutor</a:t>
                      </a:r>
                    </a:p>
                  </a:txBody>
                  <a:tcPr anchor="ctr">
                    <a:solidFill>
                      <a:srgbClr val="FFFFFF"/>
                    </a:solidFill>
                  </a:tcPr>
                </a:tc>
                <a:tc>
                  <a:txBody>
                    <a:bodyPr/>
                    <a:lstStyle/>
                    <a:p>
                      <a:pPr>
                        <a:defRPr sz="950">
                          <a:solidFill>
                            <a:srgbClr val="212F3D"/>
                          </a:solidFill>
                          <a:latin typeface="Arial"/>
                        </a:defRPr>
                      </a:pPr>
                      <a:r>
                        <a:t>Worker Processes</a:t>
                      </a:r>
                    </a:p>
                  </a:txBody>
                  <a:tcPr anchor="ctr">
                    <a:solidFill>
                      <a:srgbClr val="FFFFFF"/>
                    </a:solidFill>
                  </a:tcPr>
                </a:tc>
                <a:tc>
                  <a:txBody>
                    <a:bodyPr/>
                    <a:lstStyle/>
                    <a:p>
                      <a:pPr>
                        <a:defRPr sz="950">
                          <a:solidFill>
                            <a:srgbClr val="212F3D"/>
                          </a:solidFill>
                          <a:latin typeface="Arial"/>
                        </a:defRPr>
                      </a:pPr>
                      <a:r>
                        <a:t>[TV3 đo đạc]</a:t>
                      </a:r>
                    </a:p>
                  </a:txBody>
                  <a:tcPr anchor="ctr">
                    <a:solidFill>
                      <a:srgbClr val="FFFFFF"/>
                    </a:solidFill>
                  </a:tcPr>
                </a:tc>
                <a:tc>
                  <a:txBody>
                    <a:bodyPr/>
                    <a:lstStyle/>
                    <a:p>
                      <a:pPr>
                        <a:defRPr sz="950">
                          <a:solidFill>
                            <a:srgbClr val="212F3D"/>
                          </a:solidFill>
                          <a:latin typeface="Arial"/>
                        </a:defRPr>
                      </a:pPr>
                      <a:r>
                        <a:t>[S_process]</a:t>
                      </a:r>
                    </a:p>
                  </a:txBody>
                  <a:tcPr anchor="ctr">
                    <a:solidFill>
                      <a:srgbClr val="FFFFFF"/>
                    </a:solidFill>
                  </a:tcPr>
                </a:tc>
                <a:tc>
                  <a:txBody>
                    <a:bodyPr/>
                    <a:lstStyle/>
                    <a:p>
                      <a:pPr>
                        <a:defRPr sz="950">
                          <a:solidFill>
                            <a:srgbClr val="212F3D"/>
                          </a:solidFill>
                          <a:latin typeface="Arial"/>
                        </a:defRPr>
                      </a:pPr>
                      <a:r>
                        <a:t>[E_process]</a:t>
                      </a:r>
                    </a:p>
                  </a:txBody>
                  <a:tcPr anchor="ctr">
                    <a:solidFill>
                      <a:srgbClr val="FFFFFF"/>
                    </a:solidFill>
                  </a:tcPr>
                </a:tc>
                <a:tc>
                  <a:txBody>
                    <a:bodyPr/>
                    <a:lstStyle/>
                    <a:p>
                      <a:pPr>
                        <a:defRPr sz="950">
                          <a:solidFill>
                            <a:srgbClr val="212F3D"/>
                          </a:solidFill>
                          <a:latin typeface="Arial"/>
                        </a:defRPr>
                      </a:pPr>
                      <a:r>
                        <a:t>Phải khớp 100% SHA-256</a:t>
                      </a:r>
                    </a:p>
                  </a:txBody>
                  <a:tcPr anchor="ctr">
                    <a:solidFill>
                      <a:srgbClr val="FFFFFF"/>
                    </a:solidFill>
                  </a:tcPr>
                </a:tc>
              </a:tr>
              <a:tr h="381000">
                <a:tc>
                  <a:txBody>
                    <a:bodyPr/>
                    <a:lstStyle/>
                    <a:p>
                      <a:pPr>
                        <a:defRPr sz="950">
                          <a:solidFill>
                            <a:srgbClr val="212F3D"/>
                          </a:solidFill>
                          <a:latin typeface="Arial"/>
                        </a:defRPr>
                      </a:pPr>
                      <a:r>
                        <a:t>4. Asyncio Event Loop</a:t>
                      </a:r>
                    </a:p>
                  </a:txBody>
                  <a:tcPr anchor="ctr">
                    <a:solidFill>
                      <a:srgbClr val="F8F9FA"/>
                    </a:solidFill>
                  </a:tcPr>
                </a:tc>
                <a:tc>
                  <a:txBody>
                    <a:bodyPr/>
                    <a:lstStyle/>
                    <a:p>
                      <a:pPr>
                        <a:defRPr sz="950">
                          <a:solidFill>
                            <a:srgbClr val="212F3D"/>
                          </a:solidFill>
                          <a:latin typeface="Arial"/>
                        </a:defRPr>
                      </a:pPr>
                      <a:r>
                        <a:t>Coroutines đơn luồng</a:t>
                      </a:r>
                    </a:p>
                  </a:txBody>
                  <a:tcPr anchor="ctr">
                    <a:solidFill>
                      <a:srgbClr val="F8F9FA"/>
                    </a:solidFill>
                  </a:tcPr>
                </a:tc>
                <a:tc>
                  <a:txBody>
                    <a:bodyPr/>
                    <a:lstStyle/>
                    <a:p>
                      <a:pPr>
                        <a:defRPr sz="950">
                          <a:solidFill>
                            <a:srgbClr val="212F3D"/>
                          </a:solidFill>
                          <a:latin typeface="Arial"/>
                        </a:defRPr>
                      </a:pPr>
                      <a:r>
                        <a:t>[TV4 đo đạc]</a:t>
                      </a:r>
                    </a:p>
                  </a:txBody>
                  <a:tcPr anchor="ctr">
                    <a:solidFill>
                      <a:srgbClr val="F8F9FA"/>
                    </a:solidFill>
                  </a:tcPr>
                </a:tc>
                <a:tc>
                  <a:txBody>
                    <a:bodyPr/>
                    <a:lstStyle/>
                    <a:p>
                      <a:pPr>
                        <a:defRPr sz="950">
                          <a:solidFill>
                            <a:srgbClr val="212F3D"/>
                          </a:solidFill>
                          <a:latin typeface="Arial"/>
                        </a:defRPr>
                      </a:pPr>
                      <a:r>
                        <a:t>[S_async]</a:t>
                      </a:r>
                    </a:p>
                  </a:txBody>
                  <a:tcPr anchor="ctr">
                    <a:solidFill>
                      <a:srgbClr val="F8F9FA"/>
                    </a:solidFill>
                  </a:tcPr>
                </a:tc>
                <a:tc>
                  <a:txBody>
                    <a:bodyPr/>
                    <a:lstStyle/>
                    <a:p>
                      <a:pPr>
                        <a:defRPr sz="950">
                          <a:solidFill>
                            <a:srgbClr val="212F3D"/>
                          </a:solidFill>
                          <a:latin typeface="Arial"/>
                        </a:defRPr>
                      </a:pPr>
                      <a:r>
                        <a:t>[E_async]</a:t>
                      </a:r>
                    </a:p>
                  </a:txBody>
                  <a:tcPr anchor="ctr">
                    <a:solidFill>
                      <a:srgbClr val="F8F9FA"/>
                    </a:solidFill>
                  </a:tcPr>
                </a:tc>
                <a:tc>
                  <a:txBody>
                    <a:bodyPr/>
                    <a:lstStyle/>
                    <a:p>
                      <a:pPr>
                        <a:defRPr sz="950">
                          <a:solidFill>
                            <a:srgbClr val="212F3D"/>
                          </a:solidFill>
                          <a:latin typeface="Arial"/>
                        </a:defRPr>
                      </a:pPr>
                      <a:r>
                        <a:t>Phải khớp 100% SHA-256</a:t>
                      </a:r>
                    </a:p>
                  </a:txBody>
                  <a:tcPr anchor="ctr">
                    <a:solidFill>
                      <a:srgbClr val="F8F9FA"/>
                    </a:solidFill>
                  </a:tcPr>
                </a:tc>
              </a:tr>
              <a:tr h="381000">
                <a:tc>
                  <a:txBody>
                    <a:bodyPr/>
                    <a:lstStyle/>
                    <a:p>
                      <a:pPr>
                        <a:defRPr sz="950">
                          <a:solidFill>
                            <a:srgbClr val="212F3D"/>
                          </a:solidFill>
                          <a:latin typeface="Arial"/>
                        </a:defRPr>
                      </a:pPr>
                      <a:r>
                        <a:t>5. Hybrid Architecture</a:t>
                      </a:r>
                    </a:p>
                  </a:txBody>
                  <a:tcPr anchor="ctr">
                    <a:solidFill>
                      <a:srgbClr val="FFFFFF"/>
                    </a:solidFill>
                  </a:tcPr>
                </a:tc>
                <a:tc>
                  <a:txBody>
                    <a:bodyPr/>
                    <a:lstStyle/>
                    <a:p>
                      <a:pPr>
                        <a:defRPr sz="950">
                          <a:solidFill>
                            <a:srgbClr val="212F3D"/>
                          </a:solidFill>
                          <a:latin typeface="Arial"/>
                        </a:defRPr>
                      </a:pPr>
                      <a:r>
                        <a:t>Asyncio + ProcessPool</a:t>
                      </a:r>
                    </a:p>
                  </a:txBody>
                  <a:tcPr anchor="ctr">
                    <a:solidFill>
                      <a:srgbClr val="FFFFFF"/>
                    </a:solidFill>
                  </a:tcPr>
                </a:tc>
                <a:tc>
                  <a:txBody>
                    <a:bodyPr/>
                    <a:lstStyle/>
                    <a:p>
                      <a:pPr>
                        <a:defRPr sz="950">
                          <a:solidFill>
                            <a:srgbClr val="212F3D"/>
                          </a:solidFill>
                          <a:latin typeface="Arial"/>
                        </a:defRPr>
                      </a:pPr>
                      <a:r>
                        <a:t>[TV6 đo đạc]</a:t>
                      </a:r>
                    </a:p>
                  </a:txBody>
                  <a:tcPr anchor="ctr">
                    <a:solidFill>
                      <a:srgbClr val="FFFFFF"/>
                    </a:solidFill>
                  </a:tcPr>
                </a:tc>
                <a:tc>
                  <a:txBody>
                    <a:bodyPr/>
                    <a:lstStyle/>
                    <a:p>
                      <a:pPr>
                        <a:defRPr sz="950">
                          <a:solidFill>
                            <a:srgbClr val="212F3D"/>
                          </a:solidFill>
                          <a:latin typeface="Arial"/>
                        </a:defRPr>
                      </a:pPr>
                      <a:r>
                        <a:t>[S_hybrid]</a:t>
                      </a:r>
                    </a:p>
                  </a:txBody>
                  <a:tcPr anchor="ctr">
                    <a:solidFill>
                      <a:srgbClr val="FFFFFF"/>
                    </a:solidFill>
                  </a:tcPr>
                </a:tc>
                <a:tc>
                  <a:txBody>
                    <a:bodyPr/>
                    <a:lstStyle/>
                    <a:p>
                      <a:pPr>
                        <a:defRPr sz="950">
                          <a:solidFill>
                            <a:srgbClr val="212F3D"/>
                          </a:solidFill>
                          <a:latin typeface="Arial"/>
                        </a:defRPr>
                      </a:pPr>
                      <a:r>
                        <a:t>[E_hybrid]</a:t>
                      </a:r>
                    </a:p>
                  </a:txBody>
                  <a:tcPr anchor="ctr">
                    <a:solidFill>
                      <a:srgbClr val="FFFFFF"/>
                    </a:solidFill>
                  </a:tcPr>
                </a:tc>
                <a:tc>
                  <a:txBody>
                    <a:bodyPr/>
                    <a:lstStyle/>
                    <a:p>
                      <a:pPr>
                        <a:defRPr sz="950">
                          <a:solidFill>
                            <a:srgbClr val="212F3D"/>
                          </a:solidFill>
                          <a:latin typeface="Arial"/>
                        </a:defRPr>
                      </a:pPr>
                      <a:r>
                        <a:t>Phải khớp 100% SHA-256</a:t>
                      </a:r>
                    </a:p>
                  </a:txBody>
                  <a:tcPr anchor="ctr">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79832"/>
            <a:ext cx="9720072" cy="126034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wrap="square" lIns="359918"/>
          <a:lstStyle/>
          <a:p>
            <a:pPr algn="ctr">
              <a:defRPr sz="2500" b="1">
                <a:solidFill>
                  <a:srgbClr val="FFFFFF"/>
                </a:solidFill>
                <a:latin typeface="Arial"/>
              </a:defRPr>
            </a:pPr>
            <a:r>
              <a:t>KIỂM CHUẨN KHOA HỌC</a:t>
            </a:r>
          </a:p>
        </p:txBody>
      </p:sp>
      <p:sp>
        <p:nvSpPr>
          <p:cNvPr id="3" name="Rectangle 2"/>
          <p:cNvSpPr/>
          <p:nvPr/>
        </p:nvSpPr>
        <p:spPr>
          <a:xfrm>
            <a:off x="179832" y="6839711"/>
            <a:ext cx="539496"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rial"/>
              </a:defRPr>
            </a:pPr>
            <a:r>
              <a:t>16</a:t>
            </a:r>
          </a:p>
        </p:txBody>
      </p:sp>
      <p:sp>
        <p:nvSpPr>
          <p:cNvPr id="4" name="Rectangle 3"/>
          <p:cNvSpPr/>
          <p:nvPr/>
        </p:nvSpPr>
        <p:spPr>
          <a:xfrm>
            <a:off x="900684" y="6839711"/>
            <a:ext cx="6480048" cy="541020"/>
          </a:xfrm>
          <a:prstGeom prst="rect">
            <a:avLst/>
          </a:prstGeom>
          <a:solidFill>
            <a:srgbClr val="BDC3C7"/>
          </a:solidFill>
          <a:ln>
            <a:noFill/>
          </a:ln>
        </p:spPr>
        <p:style>
          <a:lnRef idx="1">
            <a:schemeClr val="accent1"/>
          </a:lnRef>
          <a:fillRef idx="3">
            <a:schemeClr val="accent1"/>
          </a:fillRef>
          <a:effectRef idx="2">
            <a:schemeClr val="accent1"/>
          </a:effectRef>
          <a:fontRef idx="minor">
            <a:schemeClr val="lt1"/>
          </a:fontRef>
        </p:style>
        <p:txBody>
          <a:bodyPr rtlCol="0" anchor="ctr" lIns="190500"/>
          <a:lstStyle/>
          <a:p>
            <a:pPr algn="ctr">
              <a:defRPr sz="1200">
                <a:solidFill>
                  <a:srgbClr val="2C3E50"/>
                </a:solidFill>
                <a:latin typeface="Arial"/>
              </a:defRPr>
            </a:pPr>
            <a:r>
              <a:t>Giao thức Benchmark Công bằng &amp; 5 Loại Chi phí Overhead</a:t>
            </a:r>
          </a:p>
        </p:txBody>
      </p:sp>
      <p:sp>
        <p:nvSpPr>
          <p:cNvPr id="5" name="Rectangle 4"/>
          <p:cNvSpPr/>
          <p:nvPr/>
        </p:nvSpPr>
        <p:spPr>
          <a:xfrm>
            <a:off x="7560564" y="6839711"/>
            <a:ext cx="2519172"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01 - 2026</a:t>
            </a:r>
          </a:p>
        </p:txBody>
      </p:sp>
      <p:sp>
        <p:nvSpPr>
          <p:cNvPr id="6" name="TextBox 5"/>
          <p:cNvSpPr txBox="1"/>
          <p:nvPr/>
        </p:nvSpPr>
        <p:spPr>
          <a:xfrm>
            <a:off x="359918" y="1549400"/>
            <a:ext cx="9334500" cy="406400"/>
          </a:xfrm>
          <a:prstGeom prst="rect">
            <a:avLst/>
          </a:prstGeom>
          <a:noFill/>
        </p:spPr>
        <p:txBody>
          <a:bodyPr wrap="square" tIns="0" lIns="0">
            <a:spAutoFit/>
          </a:bodyPr>
          <a:lstStyle/>
          <a:p>
            <a:pPr>
              <a:defRPr sz="1700" b="1">
                <a:solidFill>
                  <a:srgbClr val="2C3E50"/>
                </a:solidFill>
                <a:latin typeface="Arial"/>
              </a:defRPr>
            </a:pPr>
            <a:r>
              <a:t>➢ Loại bỏ sai số đo lường và nhận diện các chi phí ngầm của hệ thống</a:t>
            </a:r>
          </a:p>
        </p:txBody>
      </p:sp>
      <p:sp>
        <p:nvSpPr>
          <p:cNvPr id="7" name="TextBox 6"/>
          <p:cNvSpPr txBox="1"/>
          <p:nvPr/>
        </p:nvSpPr>
        <p:spPr>
          <a:xfrm>
            <a:off x="359918" y="1905000"/>
            <a:ext cx="9334500" cy="1460500"/>
          </a:xfrm>
          <a:prstGeom prst="rect">
            <a:avLst/>
          </a:prstGeom>
          <a:noFill/>
        </p:spPr>
        <p:txBody>
          <a:bodyPr wrap="square" tIns="0" lIns="0">
            <a:spAutoFit/>
          </a:bodyPr>
          <a:lstStyle/>
          <a:p>
            <a:pPr>
              <a:spcBef>
                <a:spcPts val="200"/>
              </a:spcBef>
              <a:spcAft>
                <a:spcPts val="500"/>
              </a:spcAft>
            </a:pPr>
            <a:r>
              <a:rPr sz="1150" b="1">
                <a:solidFill>
                  <a:srgbClr val="2C3E50"/>
                </a:solidFill>
                <a:latin typeface="Arial"/>
              </a:rPr>
              <a:t>□ Bốn quy chuẩn Benchmark công bằng: </a:t>
            </a:r>
            <a:r>
              <a:rPr sz="1150">
                <a:solidFill>
                  <a:srgbClr val="212F3D"/>
                </a:solidFill>
                <a:latin typeface="Arial"/>
              </a:rPr>
              <a:t>1) Dùng đồng hồ đo đơn điệu `time.perf_counter_ns()`; 2) Giai đoạn Warm-up nạp sẵn cache bộ nhớ; 3) Đo lặp lại $\ge$ 5 lần và lấy Trung vị (Median); 4) Tuyệt đối cách ly Console (không gọi `print()` trong vùng bấm giờ).</a:t>
            </a:r>
          </a:p>
          <a:p>
            <a:pPr>
              <a:spcBef>
                <a:spcPts val="200"/>
              </a:spcBef>
              <a:spcAft>
                <a:spcPts val="500"/>
              </a:spcAft>
            </a:pPr>
            <a:r>
              <a:rPr sz="1150" b="1">
                <a:solidFill>
                  <a:srgbClr val="2C3E50"/>
                </a:solidFill>
                <a:latin typeface="Arial"/>
              </a:rPr>
              <a:t>□ Năm loại chi phí Overhead thực tế: </a:t>
            </a:r>
            <a:r>
              <a:rPr sz="1150">
                <a:solidFill>
                  <a:srgbClr val="212F3D"/>
                </a:solidFill>
                <a:latin typeface="Arial"/>
              </a:rPr>
              <a:t>Lý do khiến hiệu suất thực tế luôn nhỏ hơn 1.0 (E &lt; 1.0):</a:t>
            </a:r>
          </a:p>
        </p:txBody>
      </p:sp>
      <p:sp>
        <p:nvSpPr>
          <p:cNvPr id="8" name="Rounded Rectangle 7"/>
          <p:cNvSpPr/>
          <p:nvPr/>
        </p:nvSpPr>
        <p:spPr>
          <a:xfrm>
            <a:off x="359918" y="3492500"/>
            <a:ext cx="9334500" cy="3111500"/>
          </a:xfrm>
          <a:prstGeom prst="roundRect">
            <a:avLst/>
          </a:prstGeom>
          <a:solidFill>
            <a:srgbClr val="F8F9FA"/>
          </a:solidFill>
          <a:ln w="1524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tIns="101600" lIns="152400" rIns="152400" bIns="101600"/>
          <a:lstStyle/>
          <a:p>
            <a:pPr algn="ctr">
              <a:spcAft>
                <a:spcPts val="400"/>
              </a:spcAft>
              <a:defRPr sz="1150" b="1">
                <a:solidFill>
                  <a:srgbClr val="2C3E50"/>
                </a:solidFill>
                <a:latin typeface="Arial"/>
              </a:defRPr>
            </a:pPr>
            <a:r>
              <a:t>DANH MỤC 5 LOẠI CHI PHÍ OVERHEAD LÀM SUY GIẢM TỐC ĐỘ THỰC TẾ</a:t>
            </a:r>
          </a:p>
          <a:p>
            <a:pPr>
              <a:spcAft>
                <a:spcPts val="300"/>
              </a:spcAft>
              <a:defRPr sz="1000">
                <a:solidFill>
                  <a:srgbClr val="212F3D"/>
                </a:solidFill>
                <a:latin typeface="Arial"/>
              </a:defRPr>
            </a:pPr>
            <a:r>
              <a:rPr b="1">
                <a:solidFill>
                  <a:srgbClr val="2C3E50"/>
                </a:solidFill>
              </a:rPr>
              <a:t>• 1. Chi phí Khởi tạo Worker (Spawn Overhead): </a:t>
            </a:r>
            <a:r>
              <a:rPr>
                <a:solidFill>
                  <a:srgbClr val="212F3D"/>
                </a:solidFill>
              </a:rPr>
              <a:t>Tạo mới Thread mất ~100µs; tạo Process mất ~20-50ms (nạp lại interpreter và import thư viện).</a:t>
            </a:r>
          </a:p>
          <a:p>
            <a:pPr>
              <a:spcAft>
                <a:spcPts val="300"/>
              </a:spcAft>
              <a:defRPr sz="1000">
                <a:solidFill>
                  <a:srgbClr val="212F3D"/>
                </a:solidFill>
                <a:latin typeface="Arial"/>
              </a:defRPr>
            </a:pPr>
            <a:r>
              <a:rPr b="1">
                <a:solidFill>
                  <a:srgbClr val="2C3E50"/>
                </a:solidFill>
              </a:rPr>
              <a:t>• 2. Chi phí Lập lịch &amp; Ngữ cảnh (Context Switch): </a:t>
            </a:r>
            <a:r>
              <a:rPr>
                <a:solidFill>
                  <a:srgbClr val="212F3D"/>
                </a:solidFill>
              </a:rPr>
              <a:t>Kernel OS tiêu tốn chu kỳ CPU để lưu và phục hồi thanh ghi khi chuyển đổi giữa hàng trăm luồng.</a:t>
            </a:r>
          </a:p>
          <a:p>
            <a:pPr>
              <a:spcAft>
                <a:spcPts val="300"/>
              </a:spcAft>
              <a:defRPr sz="1000">
                <a:solidFill>
                  <a:srgbClr val="212F3D"/>
                </a:solidFill>
                <a:latin typeface="Arial"/>
              </a:defRPr>
            </a:pPr>
            <a:r>
              <a:rPr b="1">
                <a:solidFill>
                  <a:srgbClr val="2C3E50"/>
                </a:solidFill>
              </a:rPr>
              <a:t>• 3. Chi phí Tuần tự hóa IPC (Pickle Serialization): </a:t>
            </a:r>
            <a:r>
              <a:rPr>
                <a:solidFill>
                  <a:srgbClr val="212F3D"/>
                </a:solidFill>
              </a:rPr>
              <a:t>Dữ liệu truyền giữa các tiến trình qua ProcessPool phải serialize và deserialize sang nhị phân.</a:t>
            </a:r>
          </a:p>
          <a:p>
            <a:pPr>
              <a:spcAft>
                <a:spcPts val="300"/>
              </a:spcAft>
              <a:defRPr sz="1000">
                <a:solidFill>
                  <a:srgbClr val="212F3D"/>
                </a:solidFill>
                <a:latin typeface="Arial"/>
              </a:defRPr>
            </a:pPr>
            <a:r>
              <a:rPr b="1">
                <a:solidFill>
                  <a:srgbClr val="2C3E50"/>
                </a:solidFill>
              </a:rPr>
              <a:t>• 4. Chi phí Tranh chấp Hàng đợi (Queue Contention): </a:t>
            </a:r>
            <a:r>
              <a:rPr>
                <a:solidFill>
                  <a:srgbClr val="212F3D"/>
                </a:solidFill>
              </a:rPr>
              <a:t>Nhiều worker cùng tranh nhau lấy dữ liệu từ hàng đợi chung gây nghẽn tại memory bus.</a:t>
            </a:r>
          </a:p>
          <a:p>
            <a:pPr>
              <a:spcAft>
                <a:spcPts val="300"/>
              </a:spcAft>
              <a:defRPr sz="1000">
                <a:solidFill>
                  <a:srgbClr val="212F3D"/>
                </a:solidFill>
                <a:latin typeface="Arial"/>
              </a:defRPr>
            </a:pPr>
            <a:r>
              <a:rPr b="1">
                <a:solidFill>
                  <a:srgbClr val="2C3E50"/>
                </a:solidFill>
              </a:rPr>
              <a:t>• 5. Chi phí Khóa &amp; Tranh chấp Bộ nhớ (Lock Contention): </a:t>
            </a:r>
            <a:r>
              <a:rPr>
                <a:solidFill>
                  <a:srgbClr val="212F3D"/>
                </a:solidFill>
              </a:rPr>
              <a:t>Các luồng phải xếp hàng chờ giải phóng Lock làm triệt tiêu khả năng chạy song song.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79832"/>
            <a:ext cx="9720072" cy="126034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wrap="square" lIns="359918"/>
          <a:lstStyle/>
          <a:p>
            <a:pPr algn="ctr">
              <a:defRPr sz="2500" b="1">
                <a:solidFill>
                  <a:srgbClr val="FFFFFF"/>
                </a:solidFill>
                <a:latin typeface="Arial"/>
              </a:defRPr>
            </a:pPr>
            <a:r>
              <a:t>GIỚI HẠN TĂNG TỐC</a:t>
            </a:r>
          </a:p>
        </p:txBody>
      </p:sp>
      <p:sp>
        <p:nvSpPr>
          <p:cNvPr id="3" name="Rectangle 2"/>
          <p:cNvSpPr/>
          <p:nvPr/>
        </p:nvSpPr>
        <p:spPr>
          <a:xfrm>
            <a:off x="179832" y="6839711"/>
            <a:ext cx="539496"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rial"/>
              </a:defRPr>
            </a:pPr>
            <a:r>
              <a:t>17</a:t>
            </a:r>
          </a:p>
        </p:txBody>
      </p:sp>
      <p:sp>
        <p:nvSpPr>
          <p:cNvPr id="4" name="Rectangle 3"/>
          <p:cNvSpPr/>
          <p:nvPr/>
        </p:nvSpPr>
        <p:spPr>
          <a:xfrm>
            <a:off x="900684" y="6839711"/>
            <a:ext cx="6480048" cy="541020"/>
          </a:xfrm>
          <a:prstGeom prst="rect">
            <a:avLst/>
          </a:prstGeom>
          <a:solidFill>
            <a:srgbClr val="BDC3C7"/>
          </a:solidFill>
          <a:ln>
            <a:noFill/>
          </a:ln>
        </p:spPr>
        <p:style>
          <a:lnRef idx="1">
            <a:schemeClr val="accent1"/>
          </a:lnRef>
          <a:fillRef idx="3">
            <a:schemeClr val="accent1"/>
          </a:fillRef>
          <a:effectRef idx="2">
            <a:schemeClr val="accent1"/>
          </a:effectRef>
          <a:fontRef idx="minor">
            <a:schemeClr val="lt1"/>
          </a:fontRef>
        </p:style>
        <p:txBody>
          <a:bodyPr rtlCol="0" anchor="ctr" lIns="190500"/>
          <a:lstStyle/>
          <a:p>
            <a:pPr algn="ctr">
              <a:defRPr sz="1200">
                <a:solidFill>
                  <a:srgbClr val="2C3E50"/>
                </a:solidFill>
                <a:latin typeface="Arial"/>
              </a:defRPr>
            </a:pPr>
            <a:r>
              <a:t>Định luật Amdahl &amp; Hiện tượng Bão hòa Tăng tốc</a:t>
            </a:r>
          </a:p>
        </p:txBody>
      </p:sp>
      <p:sp>
        <p:nvSpPr>
          <p:cNvPr id="5" name="Rectangle 4"/>
          <p:cNvSpPr/>
          <p:nvPr/>
        </p:nvSpPr>
        <p:spPr>
          <a:xfrm>
            <a:off x="7560564" y="6839711"/>
            <a:ext cx="2519172"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01 - 2026</a:t>
            </a:r>
          </a:p>
        </p:txBody>
      </p:sp>
      <p:sp>
        <p:nvSpPr>
          <p:cNvPr id="6" name="TextBox 5"/>
          <p:cNvSpPr txBox="1"/>
          <p:nvPr/>
        </p:nvSpPr>
        <p:spPr>
          <a:xfrm>
            <a:off x="359918" y="1549400"/>
            <a:ext cx="9334500" cy="406400"/>
          </a:xfrm>
          <a:prstGeom prst="rect">
            <a:avLst/>
          </a:prstGeom>
          <a:noFill/>
        </p:spPr>
        <p:txBody>
          <a:bodyPr wrap="square" tIns="0" lIns="0">
            <a:spAutoFit/>
          </a:bodyPr>
          <a:lstStyle/>
          <a:p>
            <a:pPr>
              <a:defRPr sz="1700" b="1">
                <a:solidFill>
                  <a:srgbClr val="2C3E50"/>
                </a:solidFill>
                <a:latin typeface="Arial"/>
              </a:defRPr>
            </a:pPr>
            <a:r>
              <a:t>➢ Trần giới hạn toán học bất biến và hiện tượng quá tải worker (Oversubscription)</a:t>
            </a:r>
          </a:p>
        </p:txBody>
      </p:sp>
      <p:sp>
        <p:nvSpPr>
          <p:cNvPr id="7" name="TextBox 6"/>
          <p:cNvSpPr txBox="1"/>
          <p:nvPr/>
        </p:nvSpPr>
        <p:spPr>
          <a:xfrm>
            <a:off x="359918" y="1905000"/>
            <a:ext cx="9334500" cy="1841500"/>
          </a:xfrm>
          <a:prstGeom prst="rect">
            <a:avLst/>
          </a:prstGeom>
          <a:noFill/>
        </p:spPr>
        <p:txBody>
          <a:bodyPr wrap="square" tIns="0" lIns="0">
            <a:spAutoFit/>
          </a:bodyPr>
          <a:lstStyle/>
          <a:p>
            <a:pPr>
              <a:spcBef>
                <a:spcPts val="200"/>
              </a:spcBef>
              <a:spcAft>
                <a:spcPts val="500"/>
              </a:spcAft>
            </a:pPr>
            <a:r>
              <a:rPr sz="1150" b="1">
                <a:solidFill>
                  <a:srgbClr val="2C3E50"/>
                </a:solidFill>
                <a:latin typeface="Arial"/>
              </a:rPr>
              <a:t>□ Phát biểu Định luật Amdahl (1967): </a:t>
            </a:r>
            <a:r>
              <a:rPr sz="1150">
                <a:solidFill>
                  <a:srgbClr val="212F3D"/>
                </a:solidFill>
                <a:latin typeface="Arial"/>
              </a:rPr>
              <a:t>Hệ số tăng tốc Speedup bị chặn bởi tỷ lệ phần trăm công việc bắt buộc phải chạy tuần tự: S(N) = 1 / [ (1 - p) + p/N ]. Khi số worker tiến tới vô cùng (N ➔ ∞), trần tốc độ là: S_max = 1 / (1 - p).</a:t>
            </a:r>
          </a:p>
          <a:p>
            <a:pPr>
              <a:spcBef>
                <a:spcPts val="200"/>
              </a:spcBef>
              <a:spcAft>
                <a:spcPts val="500"/>
              </a:spcAft>
            </a:pPr>
            <a:r>
              <a:rPr sz="1150" b="1">
                <a:solidFill>
                  <a:srgbClr val="2C3E50"/>
                </a:solidFill>
                <a:latin typeface="Arial"/>
              </a:rPr>
              <a:t>□ Minh họa trần tốc độ bài toán: </a:t>
            </a:r>
            <a:r>
              <a:rPr sz="1150">
                <a:solidFill>
                  <a:srgbClr val="212F3D"/>
                </a:solidFill>
                <a:latin typeface="Arial"/>
              </a:rPr>
              <a:t>Nếu hệ thống có 20% thời lượng tuần tự (s = 1 - p = 0.20): Dù trang bị 1 TRIỆU CORE CPU, hệ số tăng tốc TỐI ĐA KHÔNG BAO GIỜ VƯỢT QUÁ 5.0 LẦN!</a:t>
            </a:r>
          </a:p>
          <a:p>
            <a:pPr>
              <a:spcBef>
                <a:spcPts val="200"/>
              </a:spcBef>
              <a:spcAft>
                <a:spcPts val="500"/>
              </a:spcAft>
            </a:pPr>
            <a:r>
              <a:rPr sz="1150" b="1">
                <a:solidFill>
                  <a:srgbClr val="2C3E50"/>
                </a:solidFill>
                <a:latin typeface="Arial"/>
              </a:rPr>
              <a:t>□ Hiện tượng Oversubscription trong thực tế: </a:t>
            </a:r>
            <a:r>
              <a:rPr sz="1150">
                <a:solidFill>
                  <a:srgbClr val="212F3D"/>
                </a:solidFill>
                <a:latin typeface="Arial"/>
              </a:rPr>
              <a:t>Vượt quá ngưỡng core CPU vật lý, chi phí Context Switch và tranh chấp tăng vọt khiến đường cong hiệu năng bị uốn cong suy thoái đi xuống!</a:t>
            </a:r>
          </a:p>
        </p:txBody>
      </p:sp>
      <p:pic>
        <p:nvPicPr>
          <p:cNvPr id="8" name="Picture 7" descr="diag_s7_amdahl_visual.png"/>
          <p:cNvPicPr>
            <a:picLocks noChangeAspect="1"/>
          </p:cNvPicPr>
          <p:nvPr/>
        </p:nvPicPr>
        <p:blipFill>
          <a:blip r:embed="rId2"/>
          <a:stretch>
            <a:fillRect/>
          </a:stretch>
        </p:blipFill>
        <p:spPr>
          <a:xfrm>
            <a:off x="359918" y="3873500"/>
            <a:ext cx="9334500" cy="27305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79832"/>
            <a:ext cx="9720072" cy="126034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wrap="square" lIns="359918"/>
          <a:lstStyle/>
          <a:p>
            <a:pPr algn="ctr">
              <a:defRPr sz="2500" b="1">
                <a:solidFill>
                  <a:srgbClr val="FFFFFF"/>
                </a:solidFill>
                <a:latin typeface="Arial"/>
              </a:defRPr>
            </a:pPr>
            <a:r>
              <a:t>PHÁ VỠ NGỘ NHẬN</a:t>
            </a:r>
          </a:p>
        </p:txBody>
      </p:sp>
      <p:sp>
        <p:nvSpPr>
          <p:cNvPr id="3" name="Rectangle 2"/>
          <p:cNvSpPr/>
          <p:nvPr/>
        </p:nvSpPr>
        <p:spPr>
          <a:xfrm>
            <a:off x="179832" y="6839711"/>
            <a:ext cx="539496"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rial"/>
              </a:defRPr>
            </a:pPr>
            <a:r>
              <a:t>18</a:t>
            </a:r>
          </a:p>
        </p:txBody>
      </p:sp>
      <p:sp>
        <p:nvSpPr>
          <p:cNvPr id="4" name="Rectangle 3"/>
          <p:cNvSpPr/>
          <p:nvPr/>
        </p:nvSpPr>
        <p:spPr>
          <a:xfrm>
            <a:off x="900684" y="6839711"/>
            <a:ext cx="6480048" cy="541020"/>
          </a:xfrm>
          <a:prstGeom prst="rect">
            <a:avLst/>
          </a:prstGeom>
          <a:solidFill>
            <a:srgbClr val="BDC3C7"/>
          </a:solidFill>
          <a:ln>
            <a:noFill/>
          </a:ln>
        </p:spPr>
        <p:style>
          <a:lnRef idx="1">
            <a:schemeClr val="accent1"/>
          </a:lnRef>
          <a:fillRef idx="3">
            <a:schemeClr val="accent1"/>
          </a:fillRef>
          <a:effectRef idx="2">
            <a:schemeClr val="accent1"/>
          </a:effectRef>
          <a:fontRef idx="minor">
            <a:schemeClr val="lt1"/>
          </a:fontRef>
        </p:style>
        <p:txBody>
          <a:bodyPr rtlCol="0" anchor="ctr" lIns="190500"/>
          <a:lstStyle/>
          <a:p>
            <a:pPr algn="ctr">
              <a:defRPr sz="1200">
                <a:solidFill>
                  <a:srgbClr val="2C3E50"/>
                </a:solidFill>
                <a:latin typeface="Arial"/>
              </a:defRPr>
            </a:pPr>
            <a:r>
              <a:t>Bốn Ngộ nhận Kinh điển trong Kỹ thuật Tính toán</a:t>
            </a:r>
          </a:p>
        </p:txBody>
      </p:sp>
      <p:sp>
        <p:nvSpPr>
          <p:cNvPr id="5" name="Rectangle 4"/>
          <p:cNvSpPr/>
          <p:nvPr/>
        </p:nvSpPr>
        <p:spPr>
          <a:xfrm>
            <a:off x="7560564" y="6839711"/>
            <a:ext cx="2519172"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01 - 2026</a:t>
            </a:r>
          </a:p>
        </p:txBody>
      </p:sp>
      <p:sp>
        <p:nvSpPr>
          <p:cNvPr id="6" name="TextBox 5"/>
          <p:cNvSpPr txBox="1"/>
          <p:nvPr/>
        </p:nvSpPr>
        <p:spPr>
          <a:xfrm>
            <a:off x="359918" y="1549400"/>
            <a:ext cx="9334500" cy="406400"/>
          </a:xfrm>
          <a:prstGeom prst="rect">
            <a:avLst/>
          </a:prstGeom>
          <a:noFill/>
        </p:spPr>
        <p:txBody>
          <a:bodyPr wrap="square" tIns="0" lIns="0">
            <a:spAutoFit/>
          </a:bodyPr>
          <a:lstStyle/>
          <a:p>
            <a:pPr>
              <a:defRPr sz="1700" b="1">
                <a:solidFill>
                  <a:srgbClr val="2C3E50"/>
                </a:solidFill>
                <a:latin typeface="Arial"/>
              </a:defRPr>
            </a:pPr>
            <a:r>
              <a:t>➢ Đối chiếu giữa Ngộ nhận chủ quan và Sự thật kiến trúc tầng thấp</a:t>
            </a:r>
          </a:p>
        </p:txBody>
      </p:sp>
      <p:sp>
        <p:nvSpPr>
          <p:cNvPr id="7" name="TextBox 6"/>
          <p:cNvSpPr txBox="1"/>
          <p:nvPr/>
        </p:nvSpPr>
        <p:spPr>
          <a:xfrm>
            <a:off x="359918" y="1905000"/>
            <a:ext cx="9334500" cy="1016000"/>
          </a:xfrm>
          <a:prstGeom prst="rect">
            <a:avLst/>
          </a:prstGeom>
          <a:noFill/>
        </p:spPr>
        <p:txBody>
          <a:bodyPr wrap="square" tIns="0" lIns="0">
            <a:spAutoFit/>
          </a:bodyPr>
          <a:lstStyle/>
          <a:p>
            <a:pPr>
              <a:spcBef>
                <a:spcPts val="200"/>
              </a:spcBef>
              <a:spcAft>
                <a:spcPts val="500"/>
              </a:spcAft>
            </a:pPr>
            <a:r>
              <a:rPr sz="1150" b="1">
                <a:solidFill>
                  <a:srgbClr val="2C3E50"/>
                </a:solidFill>
                <a:latin typeface="Arial"/>
              </a:rPr>
              <a:t>□ Mục tiêu sư phạm: </a:t>
            </a:r>
            <a:r>
              <a:rPr sz="1150">
                <a:solidFill>
                  <a:srgbClr val="212F3D"/>
                </a:solidFill>
                <a:latin typeface="Arial"/>
              </a:rPr>
              <a:t>Giúp sinh viên thoát khỏi những cái bẫy tư duy trực giác sai lầm khi tiếp cận lập trình đồng thời và bất đồng bộ.</a:t>
            </a:r>
          </a:p>
          <a:p>
            <a:pPr>
              <a:spcBef>
                <a:spcPts val="200"/>
              </a:spcBef>
              <a:spcAft>
                <a:spcPts val="500"/>
              </a:spcAft>
            </a:pPr>
            <a:r>
              <a:rPr sz="1150" b="1">
                <a:solidFill>
                  <a:srgbClr val="2C3E50"/>
                </a:solidFill>
                <a:latin typeface="Arial"/>
              </a:rPr>
              <a:t>□ Nguyên tắc tư duy kỹ sư: </a:t>
            </a:r>
            <a:r>
              <a:rPr sz="1150">
                <a:solidFill>
                  <a:srgbClr val="212F3D"/>
                </a:solidFill>
                <a:latin typeface="Arial"/>
              </a:rPr>
              <a:t>Hiệu năng luôn phụ thuộc vào bản chất Workload và đặc tính phần cứng, không bao giờ có công cụ toàn năng trong mọi tình huống.</a:t>
            </a:r>
          </a:p>
        </p:txBody>
      </p:sp>
      <p:graphicFrame>
        <p:nvGraphicFramePr>
          <p:cNvPr id="8" name="Table 7"/>
          <p:cNvGraphicFramePr>
            <a:graphicFrameLocks noGrp="1"/>
          </p:cNvGraphicFramePr>
          <p:nvPr/>
        </p:nvGraphicFramePr>
        <p:xfrm>
          <a:off x="359918" y="3048000"/>
          <a:ext cx="9334500" cy="3492500"/>
        </p:xfrm>
        <a:graphic>
          <a:graphicData uri="http://schemas.openxmlformats.org/drawingml/2006/table">
            <a:tbl>
              <a:tblPr firstRow="1" bandRow="1">
                <a:tableStyleId>{5C22544A-7EE6-4342-B048-85BDC9FD1C3A}</a:tableStyleId>
              </a:tblPr>
              <a:tblGrid>
                <a:gridCol w="2222500"/>
                <a:gridCol w="2921000"/>
                <a:gridCol w="4191000"/>
              </a:tblGrid>
              <a:tr h="698500">
                <a:tc>
                  <a:txBody>
                    <a:bodyPr/>
                    <a:lstStyle/>
                    <a:p>
                      <a:pPr algn="ctr">
                        <a:defRPr sz="1050" b="1">
                          <a:solidFill>
                            <a:srgbClr val="FFFFFF"/>
                          </a:solidFill>
                          <a:latin typeface="Arial"/>
                        </a:defRPr>
                      </a:pPr>
                      <a:r>
                        <a:t>Ngộ nhận Thường gặp (Myth)</a:t>
                      </a:r>
                    </a:p>
                  </a:txBody>
                  <a:tcPr anchor="ctr">
                    <a:solidFill>
                      <a:srgbClr val="E74C3C"/>
                    </a:solidFill>
                  </a:tcPr>
                </a:tc>
                <a:tc>
                  <a:txBody>
                    <a:bodyPr/>
                    <a:lstStyle/>
                    <a:p>
                      <a:pPr algn="ctr">
                        <a:defRPr sz="1050" b="1">
                          <a:solidFill>
                            <a:srgbClr val="FFFFFF"/>
                          </a:solidFill>
                          <a:latin typeface="Arial"/>
                        </a:defRPr>
                      </a:pPr>
                      <a:r>
                        <a:t>Sự thật Kỹ thuật (Technical Fact)</a:t>
                      </a:r>
                    </a:p>
                  </a:txBody>
                  <a:tcPr anchor="ctr">
                    <a:solidFill>
                      <a:srgbClr val="E74C3C"/>
                    </a:solidFill>
                  </a:tcPr>
                </a:tc>
                <a:tc>
                  <a:txBody>
                    <a:bodyPr/>
                    <a:lstStyle/>
                    <a:p>
                      <a:pPr algn="ctr">
                        <a:defRPr sz="1050" b="1">
                          <a:solidFill>
                            <a:srgbClr val="FFFFFF"/>
                          </a:solidFill>
                          <a:latin typeface="Arial"/>
                        </a:defRPr>
                      </a:pPr>
                      <a:r>
                        <a:t>Giải thích Bản chất Hệ thống</a:t>
                      </a:r>
                    </a:p>
                  </a:txBody>
                  <a:tcPr anchor="ctr">
                    <a:solidFill>
                      <a:srgbClr val="E74C3C"/>
                    </a:solidFill>
                  </a:tcPr>
                </a:tc>
              </a:tr>
              <a:tr h="698500">
                <a:tc>
                  <a:txBody>
                    <a:bodyPr/>
                    <a:lstStyle/>
                    <a:p>
                      <a:pPr>
                        <a:defRPr sz="950">
                          <a:solidFill>
                            <a:srgbClr val="212F3D"/>
                          </a:solidFill>
                          <a:latin typeface="Arial"/>
                        </a:defRPr>
                      </a:pPr>
                      <a:r>
                        <a:t>'Async luôn nhanh hơn Tuần tự'</a:t>
                      </a:r>
                    </a:p>
                  </a:txBody>
                  <a:tcPr anchor="ctr">
                    <a:solidFill>
                      <a:srgbClr val="FFFFFF"/>
                    </a:solidFill>
                  </a:tcPr>
                </a:tc>
                <a:tc>
                  <a:txBody>
                    <a:bodyPr/>
                    <a:lstStyle/>
                    <a:p>
                      <a:pPr>
                        <a:defRPr sz="950">
                          <a:solidFill>
                            <a:srgbClr val="212F3D"/>
                          </a:solidFill>
                          <a:latin typeface="Arial"/>
                        </a:defRPr>
                      </a:pPr>
                      <a:r>
                        <a:t>HOÀN TOÀN SAI trong nhiều trường hợp!</a:t>
                      </a:r>
                    </a:p>
                  </a:txBody>
                  <a:tcPr anchor="ctr">
                    <a:solidFill>
                      <a:srgbClr val="FFFFFF"/>
                    </a:solidFill>
                  </a:tcPr>
                </a:tc>
                <a:tc>
                  <a:txBody>
                    <a:bodyPr/>
                    <a:lstStyle/>
                    <a:p>
                      <a:pPr>
                        <a:defRPr sz="950">
                          <a:solidFill>
                            <a:srgbClr val="212F3D"/>
                          </a:solidFill>
                          <a:latin typeface="Arial"/>
                        </a:defRPr>
                      </a:pPr>
                      <a:r>
                        <a:t>Với bài toán CPU-bound hoặc chỉ có 1 task đơn lẻ, chi phí dựng Event Loop và quản lý Task làm async chậm hơn tuần tự!</a:t>
                      </a:r>
                    </a:p>
                  </a:txBody>
                  <a:tcPr anchor="ctr">
                    <a:solidFill>
                      <a:srgbClr val="FFFFFF"/>
                    </a:solidFill>
                  </a:tcPr>
                </a:tc>
              </a:tr>
              <a:tr h="698500">
                <a:tc>
                  <a:txBody>
                    <a:bodyPr/>
                    <a:lstStyle/>
                    <a:p>
                      <a:pPr>
                        <a:defRPr sz="950">
                          <a:solidFill>
                            <a:srgbClr val="212F3D"/>
                          </a:solidFill>
                          <a:latin typeface="Arial"/>
                        </a:defRPr>
                      </a:pPr>
                      <a:r>
                        <a:t>'Càng nhiều Worker càng nhanh'</a:t>
                      </a:r>
                    </a:p>
                  </a:txBody>
                  <a:tcPr anchor="ctr">
                    <a:solidFill>
                      <a:srgbClr val="F8F9FA"/>
                    </a:solidFill>
                  </a:tcPr>
                </a:tc>
                <a:tc>
                  <a:txBody>
                    <a:bodyPr/>
                    <a:lstStyle/>
                    <a:p>
                      <a:pPr>
                        <a:defRPr sz="950">
                          <a:solidFill>
                            <a:srgbClr val="212F3D"/>
                          </a:solidFill>
                          <a:latin typeface="Arial"/>
                        </a:defRPr>
                      </a:pPr>
                      <a:r>
                        <a:t>HOÀN TOÀN SAI khi vượt quá số core!</a:t>
                      </a:r>
                    </a:p>
                  </a:txBody>
                  <a:tcPr anchor="ctr">
                    <a:solidFill>
                      <a:srgbClr val="F8F9FA"/>
                    </a:solidFill>
                  </a:tcPr>
                </a:tc>
                <a:tc>
                  <a:txBody>
                    <a:bodyPr/>
                    <a:lstStyle/>
                    <a:p>
                      <a:pPr>
                        <a:defRPr sz="950">
                          <a:solidFill>
                            <a:srgbClr val="212F3D"/>
                          </a:solidFill>
                          <a:latin typeface="Arial"/>
                        </a:defRPr>
                      </a:pPr>
                      <a:r>
                        <a:t>Gây hiện tượng Oversubscription; hàng trăm luồng tranh giành CPU làm nghẽn Context Switch và bão hòa RAM bus.</a:t>
                      </a:r>
                    </a:p>
                  </a:txBody>
                  <a:tcPr anchor="ctr">
                    <a:solidFill>
                      <a:srgbClr val="F8F9FA"/>
                    </a:solidFill>
                  </a:tcPr>
                </a:tc>
              </a:tr>
              <a:tr h="698500">
                <a:tc>
                  <a:txBody>
                    <a:bodyPr/>
                    <a:lstStyle/>
                    <a:p>
                      <a:pPr>
                        <a:defRPr sz="950">
                          <a:solidFill>
                            <a:srgbClr val="212F3D"/>
                          </a:solidFill>
                          <a:latin typeface="Arial"/>
                        </a:defRPr>
                      </a:pPr>
                      <a:r>
                        <a:t>'Async 1 thread không có Race Condition'</a:t>
                      </a:r>
                    </a:p>
                  </a:txBody>
                  <a:tcPr anchor="ctr">
                    <a:solidFill>
                      <a:srgbClr val="FFFFFF"/>
                    </a:solidFill>
                  </a:tcPr>
                </a:tc>
                <a:tc>
                  <a:txBody>
                    <a:bodyPr/>
                    <a:lstStyle/>
                    <a:p>
                      <a:pPr>
                        <a:defRPr sz="950">
                          <a:solidFill>
                            <a:srgbClr val="212F3D"/>
                          </a:solidFill>
                          <a:latin typeface="Arial"/>
                        </a:defRPr>
                      </a:pPr>
                      <a:r>
                        <a:t>HOÀN TOÀN SAI ở tầng logic ứng dụng!</a:t>
                      </a:r>
                    </a:p>
                  </a:txBody>
                  <a:tcPr anchor="ctr">
                    <a:solidFill>
                      <a:srgbClr val="FFFFFF"/>
                    </a:solidFill>
                  </a:tcPr>
                </a:tc>
                <a:tc>
                  <a:txBody>
                    <a:bodyPr/>
                    <a:lstStyle/>
                    <a:p>
                      <a:pPr>
                        <a:defRPr sz="950">
                          <a:solidFill>
                            <a:srgbClr val="212F3D"/>
                          </a:solidFill>
                          <a:latin typeface="Arial"/>
                        </a:defRPr>
                      </a:pPr>
                      <a:r>
                        <a:t>Dù an toàn ở mức thanh ghi bộ nhớ (do 1 thread), Race Condition vẫn xảy ra giữa các điểm `await` khi truy cập biến chung!</a:t>
                      </a:r>
                    </a:p>
                  </a:txBody>
                  <a:tcPr anchor="ctr">
                    <a:solidFill>
                      <a:srgbClr val="FFFFFF"/>
                    </a:solidFill>
                  </a:tcPr>
                </a:tc>
              </a:tr>
              <a:tr h="698500">
                <a:tc>
                  <a:txBody>
                    <a:bodyPr/>
                    <a:lstStyle/>
                    <a:p>
                      <a:pPr>
                        <a:defRPr sz="950">
                          <a:solidFill>
                            <a:srgbClr val="212F3D"/>
                          </a:solidFill>
                          <a:latin typeface="Arial"/>
                        </a:defRPr>
                      </a:pPr>
                      <a:r>
                        <a:t>'Async trên 1 máy là Hệ Phân tán'</a:t>
                      </a:r>
                    </a:p>
                  </a:txBody>
                  <a:tcPr anchor="ctr">
                    <a:solidFill>
                      <a:srgbClr val="F8F9FA"/>
                    </a:solidFill>
                  </a:tcPr>
                </a:tc>
                <a:tc>
                  <a:txBody>
                    <a:bodyPr/>
                    <a:lstStyle/>
                    <a:p>
                      <a:pPr>
                        <a:defRPr sz="950">
                          <a:solidFill>
                            <a:srgbClr val="212F3D"/>
                          </a:solidFill>
                          <a:latin typeface="Arial"/>
                        </a:defRPr>
                      </a:pPr>
                      <a:r>
                        <a:t>HOÀN TOÀN SAI về mặt kiến trúc!</a:t>
                      </a:r>
                    </a:p>
                  </a:txBody>
                  <a:tcPr anchor="ctr">
                    <a:solidFill>
                      <a:srgbClr val="F8F9FA"/>
                    </a:solidFill>
                  </a:tcPr>
                </a:tc>
                <a:tc>
                  <a:txBody>
                    <a:bodyPr/>
                    <a:lstStyle/>
                    <a:p>
                      <a:pPr>
                        <a:defRPr sz="950">
                          <a:solidFill>
                            <a:srgbClr val="212F3D"/>
                          </a:solidFill>
                          <a:latin typeface="Arial"/>
                        </a:defRPr>
                      </a:pPr>
                      <a:r>
                        <a:t>1 máy vẫn chung RAM vật lý, chung 1 OS Kernel; Hệ phân tán không chung RAM, chịu lỗi trễ mạng và Clock Skew.</a:t>
                      </a:r>
                    </a:p>
                  </a:txBody>
                  <a:tcPr anchor="ctr">
                    <a:solidFill>
                      <a:srgbClr val="F8F9FA"/>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79832"/>
            <a:ext cx="9720072" cy="126034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wrap="square" lIns="359918"/>
          <a:lstStyle/>
          <a:p>
            <a:pPr algn="ctr">
              <a:defRPr sz="2500" b="1">
                <a:solidFill>
                  <a:srgbClr val="FFFFFF"/>
                </a:solidFill>
                <a:latin typeface="Arial"/>
              </a:defRPr>
            </a:pPr>
            <a:r>
              <a:t>THỰC NGHIỆM MẪU</a:t>
            </a:r>
          </a:p>
        </p:txBody>
      </p:sp>
      <p:sp>
        <p:nvSpPr>
          <p:cNvPr id="3" name="Rectangle 2"/>
          <p:cNvSpPr/>
          <p:nvPr/>
        </p:nvSpPr>
        <p:spPr>
          <a:xfrm>
            <a:off x="179832" y="6839711"/>
            <a:ext cx="539496"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rial"/>
              </a:defRPr>
            </a:pPr>
            <a:r>
              <a:t>19</a:t>
            </a:r>
          </a:p>
        </p:txBody>
      </p:sp>
      <p:sp>
        <p:nvSpPr>
          <p:cNvPr id="4" name="Rectangle 3"/>
          <p:cNvSpPr/>
          <p:nvPr/>
        </p:nvSpPr>
        <p:spPr>
          <a:xfrm>
            <a:off x="900684" y="6839711"/>
            <a:ext cx="6480048" cy="541020"/>
          </a:xfrm>
          <a:prstGeom prst="rect">
            <a:avLst/>
          </a:prstGeom>
          <a:solidFill>
            <a:srgbClr val="BDC3C7"/>
          </a:solidFill>
          <a:ln>
            <a:noFill/>
          </a:ln>
        </p:spPr>
        <p:style>
          <a:lnRef idx="1">
            <a:schemeClr val="accent1"/>
          </a:lnRef>
          <a:fillRef idx="3">
            <a:schemeClr val="accent1"/>
          </a:fillRef>
          <a:effectRef idx="2">
            <a:schemeClr val="accent1"/>
          </a:effectRef>
          <a:fontRef idx="minor">
            <a:schemeClr val="lt1"/>
          </a:fontRef>
        </p:style>
        <p:txBody>
          <a:bodyPr rtlCol="0" anchor="ctr" lIns="190500"/>
          <a:lstStyle/>
          <a:p>
            <a:pPr algn="ctr">
              <a:defRPr sz="1200">
                <a:solidFill>
                  <a:srgbClr val="2C3E50"/>
                </a:solidFill>
                <a:latin typeface="Arial"/>
              </a:defRPr>
            </a:pPr>
            <a:r>
              <a:t>Thực nghiệm Mẫu &amp; Sequential Baseline Oracle</a:t>
            </a:r>
          </a:p>
        </p:txBody>
      </p:sp>
      <p:sp>
        <p:nvSpPr>
          <p:cNvPr id="5" name="Rectangle 4"/>
          <p:cNvSpPr/>
          <p:nvPr/>
        </p:nvSpPr>
        <p:spPr>
          <a:xfrm>
            <a:off x="7560564" y="6839711"/>
            <a:ext cx="2519172"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01 - 2026</a:t>
            </a:r>
          </a:p>
        </p:txBody>
      </p:sp>
      <p:sp>
        <p:nvSpPr>
          <p:cNvPr id="6" name="TextBox 5"/>
          <p:cNvSpPr txBox="1"/>
          <p:nvPr/>
        </p:nvSpPr>
        <p:spPr>
          <a:xfrm>
            <a:off x="359918" y="1549400"/>
            <a:ext cx="9334500" cy="406400"/>
          </a:xfrm>
          <a:prstGeom prst="rect">
            <a:avLst/>
          </a:prstGeom>
          <a:noFill/>
        </p:spPr>
        <p:txBody>
          <a:bodyPr wrap="square" tIns="0" lIns="0">
            <a:spAutoFit/>
          </a:bodyPr>
          <a:lstStyle/>
          <a:p>
            <a:pPr>
              <a:defRPr sz="1700" b="1">
                <a:solidFill>
                  <a:srgbClr val="2C3E50"/>
                </a:solidFill>
                <a:latin typeface="Arial"/>
              </a:defRPr>
            </a:pPr>
            <a:r>
              <a:t>➢ Thiết lập mốc chân lý bất biến cho bài toán quan trắc trạm cảm biến</a:t>
            </a:r>
          </a:p>
        </p:txBody>
      </p:sp>
      <p:sp>
        <p:nvSpPr>
          <p:cNvPr id="7" name="TextBox 6"/>
          <p:cNvSpPr txBox="1"/>
          <p:nvPr/>
        </p:nvSpPr>
        <p:spPr>
          <a:xfrm>
            <a:off x="359918" y="1905000"/>
            <a:ext cx="9334500" cy="2095500"/>
          </a:xfrm>
          <a:prstGeom prst="rect">
            <a:avLst/>
          </a:prstGeom>
          <a:noFill/>
        </p:spPr>
        <p:txBody>
          <a:bodyPr wrap="square" tIns="0" lIns="0">
            <a:spAutoFit/>
          </a:bodyPr>
          <a:lstStyle/>
          <a:p>
            <a:pPr>
              <a:spcBef>
                <a:spcPts val="200"/>
              </a:spcBef>
              <a:spcAft>
                <a:spcPts val="500"/>
              </a:spcAft>
            </a:pPr>
            <a:r>
              <a:rPr sz="1150" b="1">
                <a:solidFill>
                  <a:srgbClr val="2C3E50"/>
                </a:solidFill>
                <a:latin typeface="Arial"/>
              </a:rPr>
              <a:t>□ Thiết kế Data Contract chặt chẽ: </a:t>
            </a:r>
            <a:r>
              <a:rPr sz="1150">
                <a:solidFill>
                  <a:srgbClr val="212F3D"/>
                </a:solidFill>
                <a:latin typeface="Arial"/>
              </a:rPr>
              <a:t>Bản ghi `SensorReading` chuẩn hóa cấu trúc: `station_id` (str), `timestamp` (ISO), `temperature` (°C), `humidity` (%), `aqi` (int), `status` (VALID/ERROR), `delay` (float).</a:t>
            </a:r>
          </a:p>
          <a:p>
            <a:pPr>
              <a:spcBef>
                <a:spcPts val="200"/>
              </a:spcBef>
              <a:spcAft>
                <a:spcPts val="500"/>
              </a:spcAft>
            </a:pPr>
            <a:r>
              <a:rPr sz="1150" b="1">
                <a:solidFill>
                  <a:srgbClr val="2C3E50"/>
                </a:solidFill>
                <a:latin typeface="Arial"/>
              </a:rPr>
              <a:t>□ Bộ sinh xác định (Seed=42): </a:t>
            </a:r>
            <a:r>
              <a:rPr sz="1150">
                <a:solidFill>
                  <a:srgbClr val="212F3D"/>
                </a:solidFill>
                <a:latin typeface="Arial"/>
              </a:rPr>
              <a:t>Cố định `random.seed(42)` để mọi sinh viên chạy ở bất kỳ máy tính nào đều nhận chính xác cùng một bộ dữ liệu 8 trạm.</a:t>
            </a:r>
          </a:p>
          <a:p>
            <a:pPr>
              <a:spcBef>
                <a:spcPts val="200"/>
              </a:spcBef>
              <a:spcAft>
                <a:spcPts val="500"/>
              </a:spcAft>
            </a:pPr>
            <a:r>
              <a:rPr sz="1150" b="1">
                <a:solidFill>
                  <a:srgbClr val="2C3E50"/>
                </a:solidFill>
                <a:latin typeface="Arial"/>
              </a:rPr>
              <a:t>□ Tiêm lỗi chủ đích (Fault Injection): </a:t>
            </a:r>
            <a:r>
              <a:rPr sz="1150">
                <a:solidFill>
                  <a:srgbClr val="212F3D"/>
                </a:solidFill>
                <a:latin typeface="Arial"/>
              </a:rPr>
              <a:t>Trạm STA-004 được cố tình tiêm lỗi mạng `ERROR` nhằm kiểm thử năng lực bắt lỗi ngoại lệ của hệ thống.</a:t>
            </a:r>
          </a:p>
          <a:p>
            <a:pPr>
              <a:spcBef>
                <a:spcPts val="200"/>
              </a:spcBef>
              <a:spcAft>
                <a:spcPts val="500"/>
              </a:spcAft>
            </a:pPr>
            <a:r>
              <a:rPr sz="1150" b="1">
                <a:solidFill>
                  <a:srgbClr val="2C3E50"/>
                </a:solidFill>
                <a:latin typeface="Arial"/>
              </a:rPr>
              <a:t>□ Mã băm mốc bất biến SHA-256 Digest: </a:t>
            </a:r>
            <a:r>
              <a:rPr sz="1150">
                <a:solidFill>
                  <a:srgbClr val="212F3D"/>
                </a:solidFill>
                <a:latin typeface="Arial"/>
              </a:rPr>
              <a:t>Kết quả đầu ra được khóa bằng mã SHA-256 Digest: `e8b4c91a...`. Mọi chế độ tối ưu hóa sau này bắt buộc phải cho ra mã băm trùng khớp 100%!</a:t>
            </a:r>
          </a:p>
        </p:txBody>
      </p:sp>
      <p:sp>
        <p:nvSpPr>
          <p:cNvPr id="8" name="Rounded Rectangle 7"/>
          <p:cNvSpPr/>
          <p:nvPr/>
        </p:nvSpPr>
        <p:spPr>
          <a:xfrm>
            <a:off x="359918" y="4127500"/>
            <a:ext cx="9334500" cy="2413000"/>
          </a:xfrm>
          <a:prstGeom prst="roundRect">
            <a:avLst/>
          </a:prstGeom>
          <a:solidFill>
            <a:srgbClr val="F8F9FA"/>
          </a:solidFill>
          <a:ln w="1524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tIns="101600" lIns="152400" rIns="152400" bIns="101600"/>
          <a:lstStyle/>
          <a:p>
            <a:pPr algn="ctr">
              <a:spcAft>
                <a:spcPts val="400"/>
              </a:spcAft>
              <a:defRPr sz="1150" b="1">
                <a:solidFill>
                  <a:srgbClr val="2C3E50"/>
                </a:solidFill>
                <a:latin typeface="Arial"/>
              </a:defRPr>
            </a:pPr>
            <a:r>
              <a:t>BỘ DỮ LIỆU ĐỐI SOÁT CHUẨN MỰC CỦA BÀI HỌC</a:t>
            </a:r>
          </a:p>
          <a:p>
            <a:pPr>
              <a:spcAft>
                <a:spcPts val="300"/>
              </a:spcAft>
              <a:defRPr sz="1000">
                <a:solidFill>
                  <a:srgbClr val="212F3D"/>
                </a:solidFill>
                <a:latin typeface="Arial"/>
              </a:defRPr>
            </a:pPr>
            <a:r>
              <a:rPr b="1">
                <a:solidFill>
                  <a:srgbClr val="2C3E50"/>
                </a:solidFill>
              </a:rPr>
              <a:t>• Cấu hình kiểm thử: </a:t>
            </a:r>
            <a:r>
              <a:rPr>
                <a:solidFill>
                  <a:srgbClr val="212F3D"/>
                </a:solidFill>
              </a:rPr>
              <a:t>8 trạm quan trắc môi trường Cần Thơ (STA-001 đến STA-008). Seed = 42.</a:t>
            </a:r>
          </a:p>
          <a:p>
            <a:pPr>
              <a:spcAft>
                <a:spcPts val="300"/>
              </a:spcAft>
              <a:defRPr sz="1000">
                <a:solidFill>
                  <a:srgbClr val="212F3D"/>
                </a:solidFill>
                <a:latin typeface="Arial"/>
              </a:defRPr>
            </a:pPr>
            <a:r>
              <a:rPr b="1">
                <a:solidFill>
                  <a:srgbClr val="2C3E50"/>
                </a:solidFill>
              </a:rPr>
              <a:t>• Thời gian đo chuẩn (T_seq): </a:t>
            </a:r>
            <a:r>
              <a:rPr>
                <a:solidFill>
                  <a:srgbClr val="212F3D"/>
                </a:solidFill>
              </a:rPr>
              <a:t>1.1524 giây (Khớp hoàn toàn với tổng độ trễ mạng trạm và thời gian tính toán).</a:t>
            </a:r>
          </a:p>
          <a:p>
            <a:pPr>
              <a:spcAft>
                <a:spcPts val="300"/>
              </a:spcAft>
              <a:defRPr sz="1000">
                <a:solidFill>
                  <a:srgbClr val="212F3D"/>
                </a:solidFill>
                <a:latin typeface="Arial"/>
              </a:defRPr>
            </a:pPr>
            <a:r>
              <a:rPr b="1">
                <a:solidFill>
                  <a:srgbClr val="2C3E50"/>
                </a:solidFill>
              </a:rPr>
              <a:t>• Kết quả phân loại: </a:t>
            </a:r>
            <a:r>
              <a:rPr>
                <a:solidFill>
                  <a:srgbClr val="212F3D"/>
                </a:solidFill>
              </a:rPr>
              <a:t>7 trạm VALID | 1 trạm lỗi phát hiện chính xác tuyệt đối (STA-004: ERROR).</a:t>
            </a:r>
          </a:p>
          <a:p>
            <a:pPr>
              <a:spcAft>
                <a:spcPts val="300"/>
              </a:spcAft>
              <a:defRPr sz="1000">
                <a:solidFill>
                  <a:srgbClr val="212F3D"/>
                </a:solidFill>
                <a:latin typeface="Arial"/>
              </a:defRPr>
            </a:pPr>
            <a:r>
              <a:rPr b="1">
                <a:solidFill>
                  <a:srgbClr val="2C3E50"/>
                </a:solidFill>
              </a:rPr>
              <a:t>• Result Digest SHA-256: </a:t>
            </a:r>
            <a:r>
              <a:rPr>
                <a:solidFill>
                  <a:srgbClr val="212F3D"/>
                </a:solidFill>
              </a:rPr>
              <a:t>e8b4c91a7f340cd8... (CHÂN LÝ ĐỐI SOÁT DUY NHẤT CỦA CẢ NHÓM)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79832"/>
            <a:ext cx="9720072" cy="126034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wrap="square" lIns="359918"/>
          <a:lstStyle/>
          <a:p>
            <a:pPr algn="ctr">
              <a:defRPr sz="2500" b="1">
                <a:solidFill>
                  <a:srgbClr val="FFFFFF"/>
                </a:solidFill>
                <a:latin typeface="Arial"/>
              </a:defRPr>
            </a:pPr>
            <a:r>
              <a:t>LỘ TRÌNH CHƯƠNG 4</a:t>
            </a:r>
          </a:p>
        </p:txBody>
      </p:sp>
      <p:sp>
        <p:nvSpPr>
          <p:cNvPr id="3" name="Rectangle 2"/>
          <p:cNvSpPr/>
          <p:nvPr/>
        </p:nvSpPr>
        <p:spPr>
          <a:xfrm>
            <a:off x="179832" y="6839711"/>
            <a:ext cx="539496"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rial"/>
              </a:defRPr>
            </a:pPr>
            <a:r>
              <a:t>20</a:t>
            </a:r>
          </a:p>
        </p:txBody>
      </p:sp>
      <p:sp>
        <p:nvSpPr>
          <p:cNvPr id="4" name="Rectangle 3"/>
          <p:cNvSpPr/>
          <p:nvPr/>
        </p:nvSpPr>
        <p:spPr>
          <a:xfrm>
            <a:off x="900684" y="6839711"/>
            <a:ext cx="6480048" cy="541020"/>
          </a:xfrm>
          <a:prstGeom prst="rect">
            <a:avLst/>
          </a:prstGeom>
          <a:solidFill>
            <a:srgbClr val="BDC3C7"/>
          </a:solidFill>
          <a:ln>
            <a:noFill/>
          </a:ln>
        </p:spPr>
        <p:style>
          <a:lnRef idx="1">
            <a:schemeClr val="accent1"/>
          </a:lnRef>
          <a:fillRef idx="3">
            <a:schemeClr val="accent1"/>
          </a:fillRef>
          <a:effectRef idx="2">
            <a:schemeClr val="accent1"/>
          </a:effectRef>
          <a:fontRef idx="minor">
            <a:schemeClr val="lt1"/>
          </a:fontRef>
        </p:style>
        <p:txBody>
          <a:bodyPr rtlCol="0" anchor="ctr" lIns="190500"/>
          <a:lstStyle/>
          <a:p>
            <a:pPr algn="ctr">
              <a:defRPr sz="1200">
                <a:solidFill>
                  <a:srgbClr val="2C3E50"/>
                </a:solidFill>
                <a:latin typeface="Arial"/>
              </a:defRPr>
            </a:pPr>
            <a:r>
              <a:t>Bản đồ Kiến trúc Toàn chương: Mạch nối từ TV1 đến TV6</a:t>
            </a:r>
          </a:p>
        </p:txBody>
      </p:sp>
      <p:sp>
        <p:nvSpPr>
          <p:cNvPr id="5" name="Rectangle 4"/>
          <p:cNvSpPr/>
          <p:nvPr/>
        </p:nvSpPr>
        <p:spPr>
          <a:xfrm>
            <a:off x="7560564" y="6839711"/>
            <a:ext cx="2519172"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01 - 2026</a:t>
            </a:r>
          </a:p>
        </p:txBody>
      </p:sp>
      <p:sp>
        <p:nvSpPr>
          <p:cNvPr id="6" name="TextBox 5"/>
          <p:cNvSpPr txBox="1"/>
          <p:nvPr/>
        </p:nvSpPr>
        <p:spPr>
          <a:xfrm>
            <a:off x="359918" y="1549400"/>
            <a:ext cx="9334500" cy="406400"/>
          </a:xfrm>
          <a:prstGeom prst="rect">
            <a:avLst/>
          </a:prstGeom>
          <a:noFill/>
        </p:spPr>
        <p:txBody>
          <a:bodyPr wrap="square" tIns="0" lIns="0">
            <a:spAutoFit/>
          </a:bodyPr>
          <a:lstStyle/>
          <a:p>
            <a:pPr>
              <a:defRPr sz="1700" b="1">
                <a:solidFill>
                  <a:srgbClr val="2C3E50"/>
                </a:solidFill>
                <a:latin typeface="Arial"/>
              </a:defRPr>
            </a:pPr>
            <a:r>
              <a:t>➢ Cầu nối logic xuyên suốt: Giải quyết triệt để từng điểm nghẽn hệ thống</a:t>
            </a:r>
          </a:p>
        </p:txBody>
      </p:sp>
      <p:sp>
        <p:nvSpPr>
          <p:cNvPr id="7" name="TextBox 6"/>
          <p:cNvSpPr txBox="1"/>
          <p:nvPr/>
        </p:nvSpPr>
        <p:spPr>
          <a:xfrm>
            <a:off x="359918" y="1905000"/>
            <a:ext cx="9334500" cy="1841500"/>
          </a:xfrm>
          <a:prstGeom prst="rect">
            <a:avLst/>
          </a:prstGeom>
          <a:noFill/>
        </p:spPr>
        <p:txBody>
          <a:bodyPr wrap="square" tIns="0" lIns="0">
            <a:spAutoFit/>
          </a:bodyPr>
          <a:lstStyle/>
          <a:p>
            <a:pPr>
              <a:spcBef>
                <a:spcPts val="200"/>
              </a:spcBef>
              <a:spcAft>
                <a:spcPts val="500"/>
              </a:spcAft>
            </a:pPr>
            <a:r>
              <a:rPr sz="1150" b="1">
                <a:solidFill>
                  <a:srgbClr val="2C3E50"/>
                </a:solidFill>
                <a:latin typeface="Arial"/>
              </a:rPr>
              <a:t>□ Bài 1 (Nền tảng &amp; Oracle - TV1): </a:t>
            </a:r>
            <a:r>
              <a:rPr sz="1150">
                <a:solidFill>
                  <a:srgbClr val="212F3D"/>
                </a:solidFill>
                <a:latin typeface="Arial"/>
              </a:rPr>
              <a:t>Nhận diện lãng phí I/O, taxonomy 7 khái niệm, phân loại workload, Amdahl và dựng Sequential Oracle.</a:t>
            </a:r>
          </a:p>
          <a:p>
            <a:pPr>
              <a:spcBef>
                <a:spcPts val="200"/>
              </a:spcBef>
              <a:spcAft>
                <a:spcPts val="500"/>
              </a:spcAft>
            </a:pPr>
            <a:r>
              <a:rPr sz="1150" b="1">
                <a:solidFill>
                  <a:srgbClr val="2C3E50"/>
                </a:solidFill>
                <a:latin typeface="Arial"/>
              </a:rPr>
              <a:t>□ Bài 2 (ThreadPoolExecutor - TV2): </a:t>
            </a:r>
            <a:r>
              <a:rPr sz="1150">
                <a:solidFill>
                  <a:srgbClr val="212F3D"/>
                </a:solidFill>
                <a:latin typeface="Arial"/>
              </a:rPr>
              <a:t>Giải quyết câu hỏi: 'Làm sao bọc các thao tác blocking I/O trong worker pool mà không phải tự quản lý luồng?'</a:t>
            </a:r>
          </a:p>
          <a:p>
            <a:pPr>
              <a:spcBef>
                <a:spcPts val="200"/>
              </a:spcBef>
              <a:spcAft>
                <a:spcPts val="500"/>
              </a:spcAft>
            </a:pPr>
            <a:r>
              <a:rPr sz="1150" b="1">
                <a:solidFill>
                  <a:srgbClr val="2C3E50"/>
                </a:solidFill>
                <a:latin typeface="Arial"/>
              </a:rPr>
              <a:t>□ Bài 3 (ProcessPoolExecutor &amp; GIL - TV3): </a:t>
            </a:r>
            <a:r>
              <a:rPr sz="1150">
                <a:solidFill>
                  <a:srgbClr val="212F3D"/>
                </a:solidFill>
                <a:latin typeface="Arial"/>
              </a:rPr>
              <a:t>Giải quyết câu hỏi: 'Tại sao ThreadPool không tăng tốc CPU trong Python và cách vượt qua GIL bằng ProcessPool?'</a:t>
            </a:r>
          </a:p>
          <a:p>
            <a:pPr>
              <a:spcBef>
                <a:spcPts val="200"/>
              </a:spcBef>
              <a:spcAft>
                <a:spcPts val="500"/>
              </a:spcAft>
            </a:pPr>
            <a:r>
              <a:rPr sz="1150" b="1">
                <a:solidFill>
                  <a:srgbClr val="2C3E50"/>
                </a:solidFill>
                <a:latin typeface="Arial"/>
              </a:rPr>
              <a:t>□ Bài 4 (Asyncio Runtime &amp; Event Loop - TV4): </a:t>
            </a:r>
            <a:r>
              <a:rPr sz="1150">
                <a:solidFill>
                  <a:srgbClr val="212F3D"/>
                </a:solidFill>
                <a:latin typeface="Arial"/>
              </a:rPr>
              <a:t>Giải quyết câu hỏi: 'Làm sao 1 luồng đơn lẻ điều phối hàng chục vạn coroutine nhường quyền hợp tác?'</a:t>
            </a:r>
          </a:p>
          <a:p>
            <a:pPr>
              <a:spcBef>
                <a:spcPts val="200"/>
              </a:spcBef>
              <a:spcAft>
                <a:spcPts val="500"/>
              </a:spcAft>
            </a:pPr>
            <a:r>
              <a:rPr sz="1150" b="1">
                <a:solidFill>
                  <a:srgbClr val="2C3E50"/>
                </a:solidFill>
                <a:latin typeface="Arial"/>
              </a:rPr>
              <a:t>□ Bài 5 &amp; 6 (Độ tin cậy &amp; Kiến trúc Lai - TV5 / TV6): </a:t>
            </a:r>
            <a:r>
              <a:rPr sz="1150">
                <a:solidFill>
                  <a:srgbClr val="212F3D"/>
                </a:solidFill>
                <a:latin typeface="Arial"/>
              </a:rPr>
              <a:t>Chống sập hệ thống bằng Timeout/Cancellation/Backpressure và hoàn thiện Kiến trúc Lai tối ưu.</a:t>
            </a:r>
          </a:p>
        </p:txBody>
      </p:sp>
      <p:pic>
        <p:nvPicPr>
          <p:cNvPr id="8" name="Picture 7" descr="diag_s8_baseline_pipeline.png"/>
          <p:cNvPicPr>
            <a:picLocks noChangeAspect="1"/>
          </p:cNvPicPr>
          <p:nvPr/>
        </p:nvPicPr>
        <p:blipFill>
          <a:blip r:embed="rId2"/>
          <a:stretch>
            <a:fillRect/>
          </a:stretch>
        </p:blipFill>
        <p:spPr>
          <a:xfrm>
            <a:off x="359918" y="3873500"/>
            <a:ext cx="9334500" cy="27305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79832"/>
            <a:ext cx="9720072" cy="126034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wrap="square" lIns="359918"/>
          <a:lstStyle/>
          <a:p>
            <a:pPr algn="ctr">
              <a:defRPr sz="2500" b="1">
                <a:solidFill>
                  <a:srgbClr val="FFFFFF"/>
                </a:solidFill>
                <a:latin typeface="Arial"/>
              </a:defRPr>
            </a:pPr>
            <a:r>
              <a:t>PHỤ LỤC TRA CỨU</a:t>
            </a:r>
          </a:p>
        </p:txBody>
      </p:sp>
      <p:sp>
        <p:nvSpPr>
          <p:cNvPr id="3" name="Rectangle 2"/>
          <p:cNvSpPr/>
          <p:nvPr/>
        </p:nvSpPr>
        <p:spPr>
          <a:xfrm>
            <a:off x="179832" y="6839711"/>
            <a:ext cx="539496"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rial"/>
              </a:defRPr>
            </a:pPr>
            <a:r>
              <a:t>21</a:t>
            </a:r>
          </a:p>
        </p:txBody>
      </p:sp>
      <p:sp>
        <p:nvSpPr>
          <p:cNvPr id="4" name="Rectangle 3"/>
          <p:cNvSpPr/>
          <p:nvPr/>
        </p:nvSpPr>
        <p:spPr>
          <a:xfrm>
            <a:off x="900684" y="6839711"/>
            <a:ext cx="6480048" cy="541020"/>
          </a:xfrm>
          <a:prstGeom prst="rect">
            <a:avLst/>
          </a:prstGeom>
          <a:solidFill>
            <a:srgbClr val="BDC3C7"/>
          </a:solidFill>
          <a:ln>
            <a:noFill/>
          </a:ln>
        </p:spPr>
        <p:style>
          <a:lnRef idx="1">
            <a:schemeClr val="accent1"/>
          </a:lnRef>
          <a:fillRef idx="3">
            <a:schemeClr val="accent1"/>
          </a:fillRef>
          <a:effectRef idx="2">
            <a:schemeClr val="accent1"/>
          </a:effectRef>
          <a:fontRef idx="minor">
            <a:schemeClr val="lt1"/>
          </a:fontRef>
        </p:style>
        <p:txBody>
          <a:bodyPr rtlCol="0" anchor="ctr" lIns="190500"/>
          <a:lstStyle/>
          <a:p>
            <a:pPr algn="ctr">
              <a:defRPr sz="1200">
                <a:solidFill>
                  <a:srgbClr val="2C3E50"/>
                </a:solidFill>
                <a:latin typeface="Arial"/>
              </a:defRPr>
            </a:pPr>
            <a:r>
              <a:t>Phụ lục P01: Ma trận Tra cứu Thuật ngữ Chuyên sâu A-Z</a:t>
            </a:r>
          </a:p>
        </p:txBody>
      </p:sp>
      <p:sp>
        <p:nvSpPr>
          <p:cNvPr id="5" name="Rectangle 4"/>
          <p:cNvSpPr/>
          <p:nvPr/>
        </p:nvSpPr>
        <p:spPr>
          <a:xfrm>
            <a:off x="7560564" y="6839711"/>
            <a:ext cx="2519172"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PHỤ LỤC BÀI GIẢNG</a:t>
            </a:r>
          </a:p>
        </p:txBody>
      </p:sp>
      <p:sp>
        <p:nvSpPr>
          <p:cNvPr id="6" name="TextBox 5"/>
          <p:cNvSpPr txBox="1"/>
          <p:nvPr/>
        </p:nvSpPr>
        <p:spPr>
          <a:xfrm>
            <a:off x="359918" y="1549400"/>
            <a:ext cx="9334500" cy="406400"/>
          </a:xfrm>
          <a:prstGeom prst="rect">
            <a:avLst/>
          </a:prstGeom>
          <a:noFill/>
        </p:spPr>
        <p:txBody>
          <a:bodyPr wrap="square" tIns="0" lIns="0">
            <a:spAutoFit/>
          </a:bodyPr>
          <a:lstStyle/>
          <a:p>
            <a:pPr>
              <a:defRPr sz="1700" b="1">
                <a:solidFill>
                  <a:srgbClr val="2C3E50"/>
                </a:solidFill>
                <a:latin typeface="Arial"/>
              </a:defRPr>
            </a:pPr>
            <a:r>
              <a:t>➢ Sổ tay tra cứu 7 khái niệm cốt lõi, góc nhìn kiến trúc và ví dụ thực tế</a:t>
            </a:r>
          </a:p>
        </p:txBody>
      </p:sp>
      <p:graphicFrame>
        <p:nvGraphicFramePr>
          <p:cNvPr id="7" name="Table 6"/>
          <p:cNvGraphicFramePr>
            <a:graphicFrameLocks noGrp="1"/>
          </p:cNvGraphicFramePr>
          <p:nvPr/>
        </p:nvGraphicFramePr>
        <p:xfrm>
          <a:off x="359918" y="2095500"/>
          <a:ext cx="9334500" cy="4445000"/>
        </p:xfrm>
        <a:graphic>
          <a:graphicData uri="http://schemas.openxmlformats.org/drawingml/2006/table">
            <a:tbl>
              <a:tblPr firstRow="1" bandRow="1">
                <a:tableStyleId>{5C22544A-7EE6-4342-B048-85BDC9FD1C3A}</a:tableStyleId>
              </a:tblPr>
              <a:tblGrid>
                <a:gridCol w="1587500"/>
                <a:gridCol w="1524000"/>
                <a:gridCol w="2413000"/>
                <a:gridCol w="1905000"/>
                <a:gridCol w="1905000"/>
              </a:tblGrid>
              <a:tr h="555625">
                <a:tc>
                  <a:txBody>
                    <a:bodyPr/>
                    <a:lstStyle/>
                    <a:p>
                      <a:pPr algn="ctr">
                        <a:defRPr sz="1050" b="1">
                          <a:solidFill>
                            <a:srgbClr val="FFFFFF"/>
                          </a:solidFill>
                          <a:latin typeface="Arial"/>
                        </a:defRPr>
                      </a:pPr>
                      <a:r>
                        <a:t>Thuật ngữ</a:t>
                      </a:r>
                    </a:p>
                  </a:txBody>
                  <a:tcPr anchor="ctr">
                    <a:solidFill>
                      <a:srgbClr val="E74C3C"/>
                    </a:solidFill>
                  </a:tcPr>
                </a:tc>
                <a:tc>
                  <a:txBody>
                    <a:bodyPr/>
                    <a:lstStyle/>
                    <a:p>
                      <a:pPr algn="ctr">
                        <a:defRPr sz="1050" b="1">
                          <a:solidFill>
                            <a:srgbClr val="FFFFFF"/>
                          </a:solidFill>
                          <a:latin typeface="Arial"/>
                        </a:defRPr>
                      </a:pPr>
                      <a:r>
                        <a:t>Góc nhìn kiến trúc</a:t>
                      </a:r>
                    </a:p>
                  </a:txBody>
                  <a:tcPr anchor="ctr">
                    <a:solidFill>
                      <a:srgbClr val="E74C3C"/>
                    </a:solidFill>
                  </a:tcPr>
                </a:tc>
                <a:tc>
                  <a:txBody>
                    <a:bodyPr/>
                    <a:lstStyle/>
                    <a:p>
                      <a:pPr algn="ctr">
                        <a:defRPr sz="1050" b="1">
                          <a:solidFill>
                            <a:srgbClr val="FFFFFF"/>
                          </a:solidFill>
                          <a:latin typeface="Arial"/>
                        </a:defRPr>
                      </a:pPr>
                      <a:r>
                        <a:t>Định nghĩa cốt lõi</a:t>
                      </a:r>
                    </a:p>
                  </a:txBody>
                  <a:tcPr anchor="ctr">
                    <a:solidFill>
                      <a:srgbClr val="E74C3C"/>
                    </a:solidFill>
                  </a:tcPr>
                </a:tc>
                <a:tc>
                  <a:txBody>
                    <a:bodyPr/>
                    <a:lstStyle/>
                    <a:p>
                      <a:pPr algn="ctr">
                        <a:defRPr sz="1050" b="1">
                          <a:solidFill>
                            <a:srgbClr val="FFFFFF"/>
                          </a:solidFill>
                          <a:latin typeface="Arial"/>
                        </a:defRPr>
                      </a:pPr>
                      <a:r>
                        <a:t>Ví dụ chuẩn mực</a:t>
                      </a:r>
                    </a:p>
                  </a:txBody>
                  <a:tcPr anchor="ctr">
                    <a:solidFill>
                      <a:srgbClr val="E74C3C"/>
                    </a:solidFill>
                  </a:tcPr>
                </a:tc>
                <a:tc>
                  <a:txBody>
                    <a:bodyPr/>
                    <a:lstStyle/>
                    <a:p>
                      <a:pPr algn="ctr">
                        <a:defRPr sz="1050" b="1">
                          <a:solidFill>
                            <a:srgbClr val="FFFFFF"/>
                          </a:solidFill>
                          <a:latin typeface="Arial"/>
                        </a:defRPr>
                      </a:pPr>
                      <a:r>
                        <a:t>Phản ví dụ / Sai lầm</a:t>
                      </a:r>
                    </a:p>
                  </a:txBody>
                  <a:tcPr anchor="ctr">
                    <a:solidFill>
                      <a:srgbClr val="E74C3C"/>
                    </a:solidFill>
                  </a:tcPr>
                </a:tc>
              </a:tr>
              <a:tr h="555625">
                <a:tc>
                  <a:txBody>
                    <a:bodyPr/>
                    <a:lstStyle/>
                    <a:p>
                      <a:pPr>
                        <a:defRPr sz="950">
                          <a:solidFill>
                            <a:srgbClr val="212F3D"/>
                          </a:solidFill>
                          <a:latin typeface="Arial"/>
                        </a:defRPr>
                      </a:pPr>
                      <a:r>
                        <a:t>Tuần tự (Sequential)</a:t>
                      </a:r>
                    </a:p>
                  </a:txBody>
                  <a:tcPr anchor="ctr">
                    <a:solidFill>
                      <a:srgbClr val="FFFFFF"/>
                    </a:solidFill>
                  </a:tcPr>
                </a:tc>
                <a:tc>
                  <a:txBody>
                    <a:bodyPr/>
                    <a:lstStyle/>
                    <a:p>
                      <a:pPr>
                        <a:defRPr sz="950">
                          <a:solidFill>
                            <a:srgbClr val="212F3D"/>
                          </a:solidFill>
                          <a:latin typeface="Arial"/>
                        </a:defRPr>
                      </a:pPr>
                      <a:r>
                        <a:t>Trục thời gian</a:t>
                      </a:r>
                    </a:p>
                  </a:txBody>
                  <a:tcPr anchor="ctr">
                    <a:solidFill>
                      <a:srgbClr val="FFFFFF"/>
                    </a:solidFill>
                  </a:tcPr>
                </a:tc>
                <a:tc>
                  <a:txBody>
                    <a:bodyPr/>
                    <a:lstStyle/>
                    <a:p>
                      <a:pPr>
                        <a:defRPr sz="950">
                          <a:solidFill>
                            <a:srgbClr val="212F3D"/>
                          </a:solidFill>
                          <a:latin typeface="Arial"/>
                        </a:defRPr>
                      </a:pPr>
                      <a:r>
                        <a:t>Các tác vụ chạy nối tiếp nhau lần lượt</a:t>
                      </a:r>
                    </a:p>
                  </a:txBody>
                  <a:tcPr anchor="ctr">
                    <a:solidFill>
                      <a:srgbClr val="FFFFFF"/>
                    </a:solidFill>
                  </a:tcPr>
                </a:tc>
                <a:tc>
                  <a:txBody>
                    <a:bodyPr/>
                    <a:lstStyle/>
                    <a:p>
                      <a:pPr>
                        <a:defRPr sz="950">
                          <a:solidFill>
                            <a:srgbClr val="212F3D"/>
                          </a:solidFill>
                          <a:latin typeface="Arial"/>
                        </a:defRPr>
                      </a:pPr>
                      <a:r>
                        <a:t>Vòng lặp for gọi trạm lần lượt</a:t>
                      </a:r>
                    </a:p>
                  </a:txBody>
                  <a:tcPr anchor="ctr">
                    <a:solidFill>
                      <a:srgbClr val="FFFFFF"/>
                    </a:solidFill>
                  </a:tcPr>
                </a:tc>
                <a:tc>
                  <a:txBody>
                    <a:bodyPr/>
                    <a:lstStyle/>
                    <a:p>
                      <a:pPr>
                        <a:defRPr sz="950">
                          <a:solidFill>
                            <a:srgbClr val="212F3D"/>
                          </a:solidFill>
                          <a:latin typeface="Arial"/>
                        </a:defRPr>
                      </a:pPr>
                      <a:r>
                        <a:t>Tưởng nhầm là không thể tối ưu</a:t>
                      </a:r>
                    </a:p>
                  </a:txBody>
                  <a:tcPr anchor="ctr">
                    <a:solidFill>
                      <a:srgbClr val="FFFFFF"/>
                    </a:solidFill>
                  </a:tcPr>
                </a:tc>
              </a:tr>
              <a:tr h="555625">
                <a:tc>
                  <a:txBody>
                    <a:bodyPr/>
                    <a:lstStyle/>
                    <a:p>
                      <a:pPr>
                        <a:defRPr sz="950">
                          <a:solidFill>
                            <a:srgbClr val="212F3D"/>
                          </a:solidFill>
                          <a:latin typeface="Arial"/>
                        </a:defRPr>
                      </a:pPr>
                      <a:r>
                        <a:t>Đồng thời (Concurrent)</a:t>
                      </a:r>
                    </a:p>
                  </a:txBody>
                  <a:tcPr anchor="ctr">
                    <a:solidFill>
                      <a:srgbClr val="F8F9FA"/>
                    </a:solidFill>
                  </a:tcPr>
                </a:tc>
                <a:tc>
                  <a:txBody>
                    <a:bodyPr/>
                    <a:lstStyle/>
                    <a:p>
                      <a:pPr>
                        <a:defRPr sz="950">
                          <a:solidFill>
                            <a:srgbClr val="212F3D"/>
                          </a:solidFill>
                          <a:latin typeface="Arial"/>
                        </a:defRPr>
                      </a:pPr>
                      <a:r>
                        <a:t>Tiến triển (Progress)</a:t>
                      </a:r>
                    </a:p>
                  </a:txBody>
                  <a:tcPr anchor="ctr">
                    <a:solidFill>
                      <a:srgbClr val="F8F9FA"/>
                    </a:solidFill>
                  </a:tcPr>
                </a:tc>
                <a:tc>
                  <a:txBody>
                    <a:bodyPr/>
                    <a:lstStyle/>
                    <a:p>
                      <a:pPr>
                        <a:defRPr sz="950">
                          <a:solidFill>
                            <a:srgbClr val="212F3D"/>
                          </a:solidFill>
                          <a:latin typeface="Arial"/>
                        </a:defRPr>
                      </a:pPr>
                      <a:r>
                        <a:t>Nhiều việc cùng tiến triển xen kẽ nhau</a:t>
                      </a:r>
                    </a:p>
                  </a:txBody>
                  <a:tcPr anchor="ctr">
                    <a:solidFill>
                      <a:srgbClr val="F8F9FA"/>
                    </a:solidFill>
                  </a:tcPr>
                </a:tc>
                <a:tc>
                  <a:txBody>
                    <a:bodyPr/>
                    <a:lstStyle/>
                    <a:p>
                      <a:pPr>
                        <a:defRPr sz="950">
                          <a:solidFill>
                            <a:srgbClr val="212F3D"/>
                          </a:solidFill>
                          <a:latin typeface="Arial"/>
                        </a:defRPr>
                      </a:pPr>
                      <a:r>
                        <a:t>asyncio.create_task() trên 1 core</a:t>
                      </a:r>
                    </a:p>
                  </a:txBody>
                  <a:tcPr anchor="ctr">
                    <a:solidFill>
                      <a:srgbClr val="F8F9FA"/>
                    </a:solidFill>
                  </a:tcPr>
                </a:tc>
                <a:tc>
                  <a:txBody>
                    <a:bodyPr/>
                    <a:lstStyle/>
                    <a:p>
                      <a:pPr>
                        <a:defRPr sz="950">
                          <a:solidFill>
                            <a:srgbClr val="212F3D"/>
                          </a:solidFill>
                          <a:latin typeface="Arial"/>
                        </a:defRPr>
                      </a:pPr>
                      <a:r>
                        <a:t>Nhầm là phải có đa nhân phần cứng</a:t>
                      </a:r>
                    </a:p>
                  </a:txBody>
                  <a:tcPr anchor="ctr">
                    <a:solidFill>
                      <a:srgbClr val="F8F9FA"/>
                    </a:solidFill>
                  </a:tcPr>
                </a:tc>
              </a:tr>
              <a:tr h="555625">
                <a:tc>
                  <a:txBody>
                    <a:bodyPr/>
                    <a:lstStyle/>
                    <a:p>
                      <a:pPr>
                        <a:defRPr sz="950">
                          <a:solidFill>
                            <a:srgbClr val="212F3D"/>
                          </a:solidFill>
                          <a:latin typeface="Arial"/>
                        </a:defRPr>
                      </a:pPr>
                      <a:r>
                        <a:t>Song song (Parallel)</a:t>
                      </a:r>
                    </a:p>
                  </a:txBody>
                  <a:tcPr anchor="ctr">
                    <a:solidFill>
                      <a:srgbClr val="FFFFFF"/>
                    </a:solidFill>
                  </a:tcPr>
                </a:tc>
                <a:tc>
                  <a:txBody>
                    <a:bodyPr/>
                    <a:lstStyle/>
                    <a:p>
                      <a:pPr>
                        <a:defRPr sz="950">
                          <a:solidFill>
                            <a:srgbClr val="212F3D"/>
                          </a:solidFill>
                          <a:latin typeface="Arial"/>
                        </a:defRPr>
                      </a:pPr>
                      <a:r>
                        <a:t>Thực thi vật lý</a:t>
                      </a:r>
                    </a:p>
                  </a:txBody>
                  <a:tcPr anchor="ctr">
                    <a:solidFill>
                      <a:srgbClr val="FFFFFF"/>
                    </a:solidFill>
                  </a:tcPr>
                </a:tc>
                <a:tc>
                  <a:txBody>
                    <a:bodyPr/>
                    <a:lstStyle/>
                    <a:p>
                      <a:pPr>
                        <a:defRPr sz="950">
                          <a:solidFill>
                            <a:srgbClr val="212F3D"/>
                          </a:solidFill>
                          <a:latin typeface="Arial"/>
                        </a:defRPr>
                      </a:pPr>
                      <a:r>
                        <a:t>Nhiều việc chạy tại cùng thời điểm t0</a:t>
                      </a:r>
                    </a:p>
                  </a:txBody>
                  <a:tcPr anchor="ctr">
                    <a:solidFill>
                      <a:srgbClr val="FFFFFF"/>
                    </a:solidFill>
                  </a:tcPr>
                </a:tc>
                <a:tc>
                  <a:txBody>
                    <a:bodyPr/>
                    <a:lstStyle/>
                    <a:p>
                      <a:pPr>
                        <a:defRPr sz="950">
                          <a:solidFill>
                            <a:srgbClr val="212F3D"/>
                          </a:solidFill>
                          <a:latin typeface="Arial"/>
                        </a:defRPr>
                      </a:pPr>
                      <a:r>
                        <a:t>ProcessPool trên CPU 8 cores</a:t>
                      </a:r>
                    </a:p>
                  </a:txBody>
                  <a:tcPr anchor="ctr">
                    <a:solidFill>
                      <a:srgbClr val="FFFFFF"/>
                    </a:solidFill>
                  </a:tcPr>
                </a:tc>
                <a:tc>
                  <a:txBody>
                    <a:bodyPr/>
                    <a:lstStyle/>
                    <a:p>
                      <a:pPr>
                        <a:defRPr sz="950">
                          <a:solidFill>
                            <a:srgbClr val="212F3D"/>
                          </a:solidFill>
                          <a:latin typeface="Arial"/>
                        </a:defRPr>
                      </a:pPr>
                      <a:r>
                        <a:t>Dùng ThreadPool thuần Python để tính toán</a:t>
                      </a:r>
                    </a:p>
                  </a:txBody>
                  <a:tcPr anchor="ctr">
                    <a:solidFill>
                      <a:srgbClr val="FFFFFF"/>
                    </a:solidFill>
                  </a:tcPr>
                </a:tc>
              </a:tr>
              <a:tr h="555625">
                <a:tc>
                  <a:txBody>
                    <a:bodyPr/>
                    <a:lstStyle/>
                    <a:p>
                      <a:pPr>
                        <a:defRPr sz="950">
                          <a:solidFill>
                            <a:srgbClr val="212F3D"/>
                          </a:solidFill>
                          <a:latin typeface="Arial"/>
                        </a:defRPr>
                      </a:pPr>
                      <a:r>
                        <a:t>Đồng bộ (Synchronous)</a:t>
                      </a:r>
                    </a:p>
                  </a:txBody>
                  <a:tcPr anchor="ctr">
                    <a:solidFill>
                      <a:srgbClr val="F8F9FA"/>
                    </a:solidFill>
                  </a:tcPr>
                </a:tc>
                <a:tc>
                  <a:txBody>
                    <a:bodyPr/>
                    <a:lstStyle/>
                    <a:p>
                      <a:pPr>
                        <a:defRPr sz="950">
                          <a:solidFill>
                            <a:srgbClr val="212F3D"/>
                          </a:solidFill>
                          <a:latin typeface="Arial"/>
                        </a:defRPr>
                      </a:pPr>
                      <a:r>
                        <a:t>Contract bên gọi</a:t>
                      </a:r>
                    </a:p>
                  </a:txBody>
                  <a:tcPr anchor="ctr">
                    <a:solidFill>
                      <a:srgbClr val="F8F9FA"/>
                    </a:solidFill>
                  </a:tcPr>
                </a:tc>
                <a:tc>
                  <a:txBody>
                    <a:bodyPr/>
                    <a:lstStyle/>
                    <a:p>
                      <a:pPr>
                        <a:defRPr sz="950">
                          <a:solidFill>
                            <a:srgbClr val="212F3D"/>
                          </a:solidFill>
                          <a:latin typeface="Arial"/>
                        </a:defRPr>
                      </a:pPr>
                      <a:r>
                        <a:t>Caller bị chặn đợi callee trả kết quả</a:t>
                      </a:r>
                    </a:p>
                  </a:txBody>
                  <a:tcPr anchor="ctr">
                    <a:solidFill>
                      <a:srgbClr val="F8F9FA"/>
                    </a:solidFill>
                  </a:tcPr>
                </a:tc>
                <a:tc>
                  <a:txBody>
                    <a:bodyPr/>
                    <a:lstStyle/>
                    <a:p>
                      <a:pPr>
                        <a:defRPr sz="950">
                          <a:solidFill>
                            <a:srgbClr val="212F3D"/>
                          </a:solidFill>
                          <a:latin typeface="Arial"/>
                        </a:defRPr>
                      </a:pPr>
                      <a:r>
                        <a:t>Hàm def thông thường gọi hàm</a:t>
                      </a:r>
                    </a:p>
                  </a:txBody>
                  <a:tcPr anchor="ctr">
                    <a:solidFill>
                      <a:srgbClr val="F8F9FA"/>
                    </a:solidFill>
                  </a:tcPr>
                </a:tc>
                <a:tc>
                  <a:txBody>
                    <a:bodyPr/>
                    <a:lstStyle/>
                    <a:p>
                      <a:pPr>
                        <a:defRPr sz="950">
                          <a:solidFill>
                            <a:srgbClr val="212F3D"/>
                          </a:solidFill>
                          <a:latin typeface="Arial"/>
                        </a:defRPr>
                      </a:pPr>
                      <a:r>
                        <a:t>Nhầm đồng bộ là luôn luôn chậm</a:t>
                      </a:r>
                    </a:p>
                  </a:txBody>
                  <a:tcPr anchor="ctr">
                    <a:solidFill>
                      <a:srgbClr val="F8F9FA"/>
                    </a:solidFill>
                  </a:tcPr>
                </a:tc>
              </a:tr>
              <a:tr h="555625">
                <a:tc>
                  <a:txBody>
                    <a:bodyPr/>
                    <a:lstStyle/>
                    <a:p>
                      <a:pPr>
                        <a:defRPr sz="950">
                          <a:solidFill>
                            <a:srgbClr val="212F3D"/>
                          </a:solidFill>
                          <a:latin typeface="Arial"/>
                        </a:defRPr>
                      </a:pPr>
                      <a:r>
                        <a:t>Bất đồng bộ (Async)</a:t>
                      </a:r>
                    </a:p>
                  </a:txBody>
                  <a:tcPr anchor="ctr">
                    <a:solidFill>
                      <a:srgbClr val="FFFFFF"/>
                    </a:solidFill>
                  </a:tcPr>
                </a:tc>
                <a:tc>
                  <a:txBody>
                    <a:bodyPr/>
                    <a:lstStyle/>
                    <a:p>
                      <a:pPr>
                        <a:defRPr sz="950">
                          <a:solidFill>
                            <a:srgbClr val="212F3D"/>
                          </a:solidFill>
                          <a:latin typeface="Arial"/>
                        </a:defRPr>
                      </a:pPr>
                      <a:r>
                        <a:t>Contract bên gọi</a:t>
                      </a:r>
                    </a:p>
                  </a:txBody>
                  <a:tcPr anchor="ctr">
                    <a:solidFill>
                      <a:srgbClr val="FFFFFF"/>
                    </a:solidFill>
                  </a:tcPr>
                </a:tc>
                <a:tc>
                  <a:txBody>
                    <a:bodyPr/>
                    <a:lstStyle/>
                    <a:p>
                      <a:pPr>
                        <a:defRPr sz="950">
                          <a:solidFill>
                            <a:srgbClr val="212F3D"/>
                          </a:solidFill>
                          <a:latin typeface="Arial"/>
                        </a:defRPr>
                      </a:pPr>
                      <a:r>
                        <a:t>Caller nhận handle/Future rồi đi tiếp</a:t>
                      </a:r>
                    </a:p>
                  </a:txBody>
                  <a:tcPr anchor="ctr">
                    <a:solidFill>
                      <a:srgbClr val="FFFFFF"/>
                    </a:solidFill>
                  </a:tcPr>
                </a:tc>
                <a:tc>
                  <a:txBody>
                    <a:bodyPr/>
                    <a:lstStyle/>
                    <a:p>
                      <a:pPr>
                        <a:defRPr sz="950">
                          <a:solidFill>
                            <a:srgbClr val="212F3D"/>
                          </a:solidFill>
                          <a:latin typeface="Arial"/>
                        </a:defRPr>
                      </a:pPr>
                      <a:r>
                        <a:t>async def trả về Coroutine object</a:t>
                      </a:r>
                    </a:p>
                  </a:txBody>
                  <a:tcPr anchor="ctr">
                    <a:solidFill>
                      <a:srgbClr val="FFFFFF"/>
                    </a:solidFill>
                  </a:tcPr>
                </a:tc>
                <a:tc>
                  <a:txBody>
                    <a:bodyPr/>
                    <a:lstStyle/>
                    <a:p>
                      <a:pPr>
                        <a:defRPr sz="950">
                          <a:solidFill>
                            <a:srgbClr val="212F3D"/>
                          </a:solidFill>
                          <a:latin typeface="Arial"/>
                        </a:defRPr>
                      </a:pPr>
                      <a:r>
                        <a:t>Tưởng async là tự động chạy đa luồng</a:t>
                      </a:r>
                    </a:p>
                  </a:txBody>
                  <a:tcPr anchor="ctr">
                    <a:solidFill>
                      <a:srgbClr val="FFFFFF"/>
                    </a:solidFill>
                  </a:tcPr>
                </a:tc>
              </a:tr>
              <a:tr h="555625">
                <a:tc>
                  <a:txBody>
                    <a:bodyPr/>
                    <a:lstStyle/>
                    <a:p>
                      <a:pPr>
                        <a:defRPr sz="950">
                          <a:solidFill>
                            <a:srgbClr val="212F3D"/>
                          </a:solidFill>
                          <a:latin typeface="Arial"/>
                        </a:defRPr>
                      </a:pPr>
                      <a:r>
                        <a:t>Blocking</a:t>
                      </a:r>
                    </a:p>
                  </a:txBody>
                  <a:tcPr anchor="ctr">
                    <a:solidFill>
                      <a:srgbClr val="F8F9FA"/>
                    </a:solidFill>
                  </a:tcPr>
                </a:tc>
                <a:tc>
                  <a:txBody>
                    <a:bodyPr/>
                    <a:lstStyle/>
                    <a:p>
                      <a:pPr>
                        <a:defRPr sz="950">
                          <a:solidFill>
                            <a:srgbClr val="212F3D"/>
                          </a:solidFill>
                          <a:latin typeface="Arial"/>
                        </a:defRPr>
                      </a:pPr>
                      <a:r>
                        <a:t>Trạng thái luồng OS</a:t>
                      </a:r>
                    </a:p>
                  </a:txBody>
                  <a:tcPr anchor="ctr">
                    <a:solidFill>
                      <a:srgbClr val="F8F9FA"/>
                    </a:solidFill>
                  </a:tcPr>
                </a:tc>
                <a:tc>
                  <a:txBody>
                    <a:bodyPr/>
                    <a:lstStyle/>
                    <a:p>
                      <a:pPr>
                        <a:defRPr sz="950">
                          <a:solidFill>
                            <a:srgbClr val="212F3D"/>
                          </a:solidFill>
                          <a:latin typeface="Arial"/>
                        </a:defRPr>
                      </a:pPr>
                      <a:r>
                        <a:t>Luồng bị OS đưa vào trạng thái ngủ</a:t>
                      </a:r>
                    </a:p>
                  </a:txBody>
                  <a:tcPr anchor="ctr">
                    <a:solidFill>
                      <a:srgbClr val="F8F9FA"/>
                    </a:solidFill>
                  </a:tcPr>
                </a:tc>
                <a:tc>
                  <a:txBody>
                    <a:bodyPr/>
                    <a:lstStyle/>
                    <a:p>
                      <a:pPr>
                        <a:defRPr sz="950">
                          <a:solidFill>
                            <a:srgbClr val="212F3D"/>
                          </a:solidFill>
                          <a:latin typeface="Arial"/>
                        </a:defRPr>
                      </a:pPr>
                      <a:r>
                        <a:t>time.sleep(1), socket.recv()</a:t>
                      </a:r>
                    </a:p>
                  </a:txBody>
                  <a:tcPr anchor="ctr">
                    <a:solidFill>
                      <a:srgbClr val="F8F9FA"/>
                    </a:solidFill>
                  </a:tcPr>
                </a:tc>
                <a:tc>
                  <a:txBody>
                    <a:bodyPr/>
                    <a:lstStyle/>
                    <a:p>
                      <a:pPr>
                        <a:defRPr sz="950">
                          <a:solidFill>
                            <a:srgbClr val="212F3D"/>
                          </a:solidFill>
                          <a:latin typeface="Arial"/>
                        </a:defRPr>
                      </a:pPr>
                      <a:r>
                        <a:t>Gọi hàm blocking bên trong async def!</a:t>
                      </a:r>
                    </a:p>
                  </a:txBody>
                  <a:tcPr anchor="ctr">
                    <a:solidFill>
                      <a:srgbClr val="F8F9FA"/>
                    </a:solidFill>
                  </a:tcPr>
                </a:tc>
              </a:tr>
              <a:tr h="555625">
                <a:tc>
                  <a:txBody>
                    <a:bodyPr/>
                    <a:lstStyle/>
                    <a:p>
                      <a:pPr>
                        <a:defRPr sz="950">
                          <a:solidFill>
                            <a:srgbClr val="212F3D"/>
                          </a:solidFill>
                          <a:latin typeface="Arial"/>
                        </a:defRPr>
                      </a:pPr>
                      <a:r>
                        <a:t>Non-blocking</a:t>
                      </a:r>
                    </a:p>
                  </a:txBody>
                  <a:tcPr anchor="ctr">
                    <a:solidFill>
                      <a:srgbClr val="FFFFFF"/>
                    </a:solidFill>
                  </a:tcPr>
                </a:tc>
                <a:tc>
                  <a:txBody>
                    <a:bodyPr/>
                    <a:lstStyle/>
                    <a:p>
                      <a:pPr>
                        <a:defRPr sz="950">
                          <a:solidFill>
                            <a:srgbClr val="212F3D"/>
                          </a:solidFill>
                          <a:latin typeface="Arial"/>
                        </a:defRPr>
                      </a:pPr>
                      <a:r>
                        <a:t>Trạng thái luồng OS</a:t>
                      </a:r>
                    </a:p>
                  </a:txBody>
                  <a:tcPr anchor="ctr">
                    <a:solidFill>
                      <a:srgbClr val="FFFFFF"/>
                    </a:solidFill>
                  </a:tcPr>
                </a:tc>
                <a:tc>
                  <a:txBody>
                    <a:bodyPr/>
                    <a:lstStyle/>
                    <a:p>
                      <a:pPr>
                        <a:defRPr sz="950">
                          <a:solidFill>
                            <a:srgbClr val="212F3D"/>
                          </a:solidFill>
                          <a:latin typeface="Arial"/>
                        </a:defRPr>
                      </a:pPr>
                      <a:r>
                        <a:t>System Call trả về ngay (EWOULDBLOCK)</a:t>
                      </a:r>
                    </a:p>
                  </a:txBody>
                  <a:tcPr anchor="ctr">
                    <a:solidFill>
                      <a:srgbClr val="FFFFFF"/>
                    </a:solidFill>
                  </a:tcPr>
                </a:tc>
                <a:tc>
                  <a:txBody>
                    <a:bodyPr/>
                    <a:lstStyle/>
                    <a:p>
                      <a:pPr>
                        <a:defRPr sz="950">
                          <a:solidFill>
                            <a:srgbClr val="212F3D"/>
                          </a:solidFill>
                          <a:latin typeface="Arial"/>
                        </a:defRPr>
                      </a:pPr>
                      <a:r>
                        <a:t>socket.setblocking(False), epoll</a:t>
                      </a:r>
                    </a:p>
                  </a:txBody>
                  <a:tcPr anchor="ctr">
                    <a:solidFill>
                      <a:srgbClr val="FFFFFF"/>
                    </a:solidFill>
                  </a:tcPr>
                </a:tc>
                <a:tc>
                  <a:txBody>
                    <a:bodyPr/>
                    <a:lstStyle/>
                    <a:p>
                      <a:pPr>
                        <a:defRPr sz="950">
                          <a:solidFill>
                            <a:srgbClr val="212F3D"/>
                          </a:solidFill>
                          <a:latin typeface="Arial"/>
                        </a:defRPr>
                      </a:pPr>
                      <a:r>
                        <a:t>Dùng vòng lặp while True hỏi dồn (Spinlock)</a:t>
                      </a:r>
                    </a:p>
                  </a:txBody>
                  <a:tcPr anchor="ctr">
                    <a:solidFill>
                      <a:srgbClr val="FFFFFF"/>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79832"/>
            <a:ext cx="9720072" cy="126034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wrap="square" lIns="359918"/>
          <a:lstStyle/>
          <a:p>
            <a:pPr algn="ctr">
              <a:defRPr sz="2500" b="1">
                <a:solidFill>
                  <a:srgbClr val="FFFFFF"/>
                </a:solidFill>
                <a:latin typeface="Arial"/>
              </a:defRPr>
            </a:pPr>
            <a:r>
              <a:t>PHỤ LỤC TOÁN HỌC</a:t>
            </a:r>
          </a:p>
        </p:txBody>
      </p:sp>
      <p:sp>
        <p:nvSpPr>
          <p:cNvPr id="3" name="Rectangle 2"/>
          <p:cNvSpPr/>
          <p:nvPr/>
        </p:nvSpPr>
        <p:spPr>
          <a:xfrm>
            <a:off x="179832" y="6839711"/>
            <a:ext cx="539496"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rial"/>
              </a:defRPr>
            </a:pPr>
            <a:r>
              <a:t>22</a:t>
            </a:r>
          </a:p>
        </p:txBody>
      </p:sp>
      <p:sp>
        <p:nvSpPr>
          <p:cNvPr id="4" name="Rectangle 3"/>
          <p:cNvSpPr/>
          <p:nvPr/>
        </p:nvSpPr>
        <p:spPr>
          <a:xfrm>
            <a:off x="900684" y="6839711"/>
            <a:ext cx="6480048" cy="541020"/>
          </a:xfrm>
          <a:prstGeom prst="rect">
            <a:avLst/>
          </a:prstGeom>
          <a:solidFill>
            <a:srgbClr val="BDC3C7"/>
          </a:solidFill>
          <a:ln>
            <a:noFill/>
          </a:ln>
        </p:spPr>
        <p:style>
          <a:lnRef idx="1">
            <a:schemeClr val="accent1"/>
          </a:lnRef>
          <a:fillRef idx="3">
            <a:schemeClr val="accent1"/>
          </a:fillRef>
          <a:effectRef idx="2">
            <a:schemeClr val="accent1"/>
          </a:effectRef>
          <a:fontRef idx="minor">
            <a:schemeClr val="lt1"/>
          </a:fontRef>
        </p:style>
        <p:txBody>
          <a:bodyPr rtlCol="0" anchor="ctr" lIns="190500"/>
          <a:lstStyle/>
          <a:p>
            <a:pPr algn="ctr">
              <a:defRPr sz="1200">
                <a:solidFill>
                  <a:srgbClr val="2C3E50"/>
                </a:solidFill>
                <a:latin typeface="Arial"/>
              </a:defRPr>
            </a:pPr>
            <a:r>
              <a:t>Phụ lục P02: Chứng minh Toán học Định luật Amdahl &amp; Bài toán Mẫu</a:t>
            </a:r>
          </a:p>
        </p:txBody>
      </p:sp>
      <p:sp>
        <p:nvSpPr>
          <p:cNvPr id="5" name="Rectangle 4"/>
          <p:cNvSpPr/>
          <p:nvPr/>
        </p:nvSpPr>
        <p:spPr>
          <a:xfrm>
            <a:off x="7560564" y="6839711"/>
            <a:ext cx="2519172"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PHỤ LỤC BÀI GIẢNG</a:t>
            </a:r>
          </a:p>
        </p:txBody>
      </p:sp>
      <p:sp>
        <p:nvSpPr>
          <p:cNvPr id="6" name="TextBox 5"/>
          <p:cNvSpPr txBox="1"/>
          <p:nvPr/>
        </p:nvSpPr>
        <p:spPr>
          <a:xfrm>
            <a:off x="359918" y="1549400"/>
            <a:ext cx="9334500" cy="406400"/>
          </a:xfrm>
          <a:prstGeom prst="rect">
            <a:avLst/>
          </a:prstGeom>
          <a:noFill/>
        </p:spPr>
        <p:txBody>
          <a:bodyPr wrap="square" tIns="0" lIns="0">
            <a:spAutoFit/>
          </a:bodyPr>
          <a:lstStyle/>
          <a:p>
            <a:pPr>
              <a:defRPr sz="1700" b="1">
                <a:solidFill>
                  <a:srgbClr val="2C3E50"/>
                </a:solidFill>
                <a:latin typeface="Arial"/>
              </a:defRPr>
            </a:pPr>
            <a:r>
              <a:t>➢ Phân tích giới hạn tiệm cận và Bài toán xử lý ảnh viễn thám môi trường</a:t>
            </a:r>
          </a:p>
        </p:txBody>
      </p:sp>
      <p:sp>
        <p:nvSpPr>
          <p:cNvPr id="7" name="TextBox 6"/>
          <p:cNvSpPr txBox="1"/>
          <p:nvPr/>
        </p:nvSpPr>
        <p:spPr>
          <a:xfrm>
            <a:off x="359918" y="1905000"/>
            <a:ext cx="9334500" cy="1841500"/>
          </a:xfrm>
          <a:prstGeom prst="rect">
            <a:avLst/>
          </a:prstGeom>
          <a:noFill/>
        </p:spPr>
        <p:txBody>
          <a:bodyPr wrap="square" tIns="0" lIns="0">
            <a:spAutoFit/>
          </a:bodyPr>
          <a:lstStyle/>
          <a:p>
            <a:pPr>
              <a:spcBef>
                <a:spcPts val="200"/>
              </a:spcBef>
              <a:spcAft>
                <a:spcPts val="500"/>
              </a:spcAft>
            </a:pPr>
            <a:r>
              <a:rPr sz="1150" b="1">
                <a:solidFill>
                  <a:srgbClr val="2C3E50"/>
                </a:solidFill>
                <a:latin typeface="Arial"/>
              </a:rPr>
              <a:t>□ Công thức nguyên thủy: </a:t>
            </a:r>
            <a:r>
              <a:rPr sz="1150">
                <a:solidFill>
                  <a:srgbClr val="212F3D"/>
                </a:solidFill>
                <a:latin typeface="Arial"/>
              </a:rPr>
              <a:t>Thời gian khi dùng N worker: T(N) = (1 - p)*T(1) + (p / N)*T(1).  Hệ số tăng tốc Speedup: S(N) = T(1) / T(N) = 1 / [ (1 - p) + p/N ].</a:t>
            </a:r>
          </a:p>
          <a:p>
            <a:pPr>
              <a:spcBef>
                <a:spcPts val="200"/>
              </a:spcBef>
              <a:spcAft>
                <a:spcPts val="500"/>
              </a:spcAft>
            </a:pPr>
            <a:r>
              <a:rPr sz="1150" b="1">
                <a:solidFill>
                  <a:srgbClr val="2C3E50"/>
                </a:solidFill>
                <a:latin typeface="Arial"/>
              </a:rPr>
              <a:t>□ Chứng minh trần tiệm cận: </a:t>
            </a:r>
            <a:r>
              <a:rPr sz="1150">
                <a:solidFill>
                  <a:srgbClr val="212F3D"/>
                </a:solidFill>
                <a:latin typeface="Arial"/>
              </a:rPr>
              <a:t>Khi N tiến tới vô cùng: lim(N-&gt;∞) (p / N) = 0. Do đó: S_max = 1 / (1 - p) = 1 / s (với s là tỷ lệ bắt buộc tuần tự).</a:t>
            </a:r>
          </a:p>
          <a:p>
            <a:pPr>
              <a:spcBef>
                <a:spcPts val="200"/>
              </a:spcBef>
              <a:spcAft>
                <a:spcPts val="500"/>
              </a:spcAft>
            </a:pPr>
            <a:r>
              <a:rPr sz="1150" b="1">
                <a:solidFill>
                  <a:srgbClr val="2C3E50"/>
                </a:solidFill>
                <a:latin typeface="Arial"/>
              </a:rPr>
              <a:t>□ Bài toán thực tế viễn thám: </a:t>
            </a:r>
            <a:r>
              <a:rPr sz="1150">
                <a:solidFill>
                  <a:srgbClr val="212F3D"/>
                </a:solidFill>
                <a:latin typeface="Arial"/>
              </a:rPr>
              <a:t>Xử lý ảnh viễn thám: 20% nạp ảnh tuần tự (s = 0.20), 80% tính toán pixel (p = 0.80). Trần tốc độ S_max = 1 / 0.20 = 5.0 lần!</a:t>
            </a:r>
          </a:p>
        </p:txBody>
      </p:sp>
      <p:graphicFrame>
        <p:nvGraphicFramePr>
          <p:cNvPr id="8" name="Table 7"/>
          <p:cNvGraphicFramePr>
            <a:graphicFrameLocks noGrp="1"/>
          </p:cNvGraphicFramePr>
          <p:nvPr/>
        </p:nvGraphicFramePr>
        <p:xfrm>
          <a:off x="359918" y="3873500"/>
          <a:ext cx="9334500" cy="2667000"/>
        </p:xfrm>
        <a:graphic>
          <a:graphicData uri="http://schemas.openxmlformats.org/drawingml/2006/table">
            <a:tbl>
              <a:tblPr firstRow="1" bandRow="1">
                <a:tableStyleId>{5C22544A-7EE6-4342-B048-85BDC9FD1C3A}</a:tableStyleId>
              </a:tblPr>
              <a:tblGrid>
                <a:gridCol w="1333500"/>
                <a:gridCol w="1968500"/>
                <a:gridCol w="1841500"/>
                <a:gridCol w="1841500"/>
                <a:gridCol w="2349500"/>
              </a:tblGrid>
              <a:tr h="381000">
                <a:tc>
                  <a:txBody>
                    <a:bodyPr/>
                    <a:lstStyle/>
                    <a:p>
                      <a:pPr algn="ctr">
                        <a:defRPr sz="1050" b="1">
                          <a:solidFill>
                            <a:srgbClr val="FFFFFF"/>
                          </a:solidFill>
                          <a:latin typeface="Arial"/>
                        </a:defRPr>
                      </a:pPr>
                      <a:r>
                        <a:t>Số Worker (N)</a:t>
                      </a:r>
                    </a:p>
                  </a:txBody>
                  <a:tcPr anchor="ctr">
                    <a:solidFill>
                      <a:srgbClr val="E74C3C"/>
                    </a:solidFill>
                  </a:tcPr>
                </a:tc>
                <a:tc>
                  <a:txBody>
                    <a:bodyPr/>
                    <a:lstStyle/>
                    <a:p>
                      <a:pPr algn="ctr">
                        <a:defRPr sz="1050" b="1">
                          <a:solidFill>
                            <a:srgbClr val="FFFFFF"/>
                          </a:solidFill>
                          <a:latin typeface="Arial"/>
                        </a:defRPr>
                      </a:pPr>
                      <a:r>
                        <a:t>Công thức tính S(N)</a:t>
                      </a:r>
                    </a:p>
                  </a:txBody>
                  <a:tcPr anchor="ctr">
                    <a:solidFill>
                      <a:srgbClr val="E74C3C"/>
                    </a:solidFill>
                  </a:tcPr>
                </a:tc>
                <a:tc>
                  <a:txBody>
                    <a:bodyPr/>
                    <a:lstStyle/>
                    <a:p>
                      <a:pPr algn="ctr">
                        <a:defRPr sz="1050" b="1">
                          <a:solidFill>
                            <a:srgbClr val="FFFFFF"/>
                          </a:solidFill>
                          <a:latin typeface="Arial"/>
                        </a:defRPr>
                      </a:pPr>
                      <a:r>
                        <a:t>Hệ số Tăng tốc S(N)</a:t>
                      </a:r>
                    </a:p>
                  </a:txBody>
                  <a:tcPr anchor="ctr">
                    <a:solidFill>
                      <a:srgbClr val="E74C3C"/>
                    </a:solidFill>
                  </a:tcPr>
                </a:tc>
                <a:tc>
                  <a:txBody>
                    <a:bodyPr/>
                    <a:lstStyle/>
                    <a:p>
                      <a:pPr algn="ctr">
                        <a:defRPr sz="1050" b="1">
                          <a:solidFill>
                            <a:srgbClr val="FFFFFF"/>
                          </a:solidFill>
                          <a:latin typeface="Arial"/>
                        </a:defRPr>
                      </a:pPr>
                      <a:r>
                        <a:t>Hiệu suất tài nguyên E(N)</a:t>
                      </a:r>
                    </a:p>
                  </a:txBody>
                  <a:tcPr anchor="ctr">
                    <a:solidFill>
                      <a:srgbClr val="E74C3C"/>
                    </a:solidFill>
                  </a:tcPr>
                </a:tc>
                <a:tc>
                  <a:txBody>
                    <a:bodyPr/>
                    <a:lstStyle/>
                    <a:p>
                      <a:pPr algn="ctr">
                        <a:defRPr sz="1050" b="1">
                          <a:solidFill>
                            <a:srgbClr val="FFFFFF"/>
                          </a:solidFill>
                          <a:latin typeface="Arial"/>
                        </a:defRPr>
                      </a:pPr>
                      <a:r>
                        <a:t>Ý nghĩa Kỹ thuật</a:t>
                      </a:r>
                    </a:p>
                  </a:txBody>
                  <a:tcPr anchor="ctr">
                    <a:solidFill>
                      <a:srgbClr val="E74C3C"/>
                    </a:solidFill>
                  </a:tcPr>
                </a:tc>
              </a:tr>
              <a:tr h="381000">
                <a:tc>
                  <a:txBody>
                    <a:bodyPr/>
                    <a:lstStyle/>
                    <a:p>
                      <a:pPr>
                        <a:defRPr sz="950">
                          <a:solidFill>
                            <a:srgbClr val="212F3D"/>
                          </a:solidFill>
                          <a:latin typeface="Arial"/>
                        </a:defRPr>
                      </a:pPr>
                      <a:r>
                        <a:t>N = 1 worker</a:t>
                      </a:r>
                    </a:p>
                  </a:txBody>
                  <a:tcPr anchor="ctr">
                    <a:solidFill>
                      <a:srgbClr val="FFFFFF"/>
                    </a:solidFill>
                  </a:tcPr>
                </a:tc>
                <a:tc>
                  <a:txBody>
                    <a:bodyPr/>
                    <a:lstStyle/>
                    <a:p>
                      <a:pPr>
                        <a:defRPr sz="950">
                          <a:solidFill>
                            <a:srgbClr val="212F3D"/>
                          </a:solidFill>
                          <a:latin typeface="Arial"/>
                        </a:defRPr>
                      </a:pPr>
                      <a:r>
                        <a:t>1 / (0.20 + 0.80 / 1)</a:t>
                      </a:r>
                    </a:p>
                  </a:txBody>
                  <a:tcPr anchor="ctr">
                    <a:solidFill>
                      <a:srgbClr val="FFFFFF"/>
                    </a:solidFill>
                  </a:tcPr>
                </a:tc>
                <a:tc>
                  <a:txBody>
                    <a:bodyPr/>
                    <a:lstStyle/>
                    <a:p>
                      <a:pPr>
                        <a:defRPr sz="950">
                          <a:solidFill>
                            <a:srgbClr val="212F3D"/>
                          </a:solidFill>
                          <a:latin typeface="Arial"/>
                        </a:defRPr>
                      </a:pPr>
                      <a:r>
                        <a:t>1.00 x</a:t>
                      </a:r>
                    </a:p>
                  </a:txBody>
                  <a:tcPr anchor="ctr">
                    <a:solidFill>
                      <a:srgbClr val="FFFFFF"/>
                    </a:solidFill>
                  </a:tcPr>
                </a:tc>
                <a:tc>
                  <a:txBody>
                    <a:bodyPr/>
                    <a:lstStyle/>
                    <a:p>
                      <a:pPr>
                        <a:defRPr sz="950">
                          <a:solidFill>
                            <a:srgbClr val="212F3D"/>
                          </a:solidFill>
                          <a:latin typeface="Arial"/>
                        </a:defRPr>
                      </a:pPr>
                      <a:r>
                        <a:t>100.0%</a:t>
                      </a:r>
                    </a:p>
                  </a:txBody>
                  <a:tcPr anchor="ctr">
                    <a:solidFill>
                      <a:srgbClr val="FFFFFF"/>
                    </a:solidFill>
                  </a:tcPr>
                </a:tc>
                <a:tc>
                  <a:txBody>
                    <a:bodyPr/>
                    <a:lstStyle/>
                    <a:p>
                      <a:pPr>
                        <a:defRPr sz="950">
                          <a:solidFill>
                            <a:srgbClr val="212F3D"/>
                          </a:solidFill>
                          <a:latin typeface="Arial"/>
                        </a:defRPr>
                      </a:pPr>
                      <a:r>
                        <a:t>Mốc chuẩn tuần tự (Baseline)</a:t>
                      </a:r>
                    </a:p>
                  </a:txBody>
                  <a:tcPr anchor="ctr">
                    <a:solidFill>
                      <a:srgbClr val="FFFFFF"/>
                    </a:solidFill>
                  </a:tcPr>
                </a:tc>
              </a:tr>
              <a:tr h="381000">
                <a:tc>
                  <a:txBody>
                    <a:bodyPr/>
                    <a:lstStyle/>
                    <a:p>
                      <a:pPr>
                        <a:defRPr sz="950">
                          <a:solidFill>
                            <a:srgbClr val="212F3D"/>
                          </a:solidFill>
                          <a:latin typeface="Arial"/>
                        </a:defRPr>
                      </a:pPr>
                      <a:r>
                        <a:t>N = 2 workers</a:t>
                      </a:r>
                    </a:p>
                  </a:txBody>
                  <a:tcPr anchor="ctr">
                    <a:solidFill>
                      <a:srgbClr val="F8F9FA"/>
                    </a:solidFill>
                  </a:tcPr>
                </a:tc>
                <a:tc>
                  <a:txBody>
                    <a:bodyPr/>
                    <a:lstStyle/>
                    <a:p>
                      <a:pPr>
                        <a:defRPr sz="950">
                          <a:solidFill>
                            <a:srgbClr val="212F3D"/>
                          </a:solidFill>
                          <a:latin typeface="Arial"/>
                        </a:defRPr>
                      </a:pPr>
                      <a:r>
                        <a:t>1 / (0.20 + 0.80 / 2)</a:t>
                      </a:r>
                    </a:p>
                  </a:txBody>
                  <a:tcPr anchor="ctr">
                    <a:solidFill>
                      <a:srgbClr val="F8F9FA"/>
                    </a:solidFill>
                  </a:tcPr>
                </a:tc>
                <a:tc>
                  <a:txBody>
                    <a:bodyPr/>
                    <a:lstStyle/>
                    <a:p>
                      <a:pPr>
                        <a:defRPr sz="950">
                          <a:solidFill>
                            <a:srgbClr val="212F3D"/>
                          </a:solidFill>
                          <a:latin typeface="Arial"/>
                        </a:defRPr>
                      </a:pPr>
                      <a:r>
                        <a:t>1.67 x</a:t>
                      </a:r>
                    </a:p>
                  </a:txBody>
                  <a:tcPr anchor="ctr">
                    <a:solidFill>
                      <a:srgbClr val="F8F9FA"/>
                    </a:solidFill>
                  </a:tcPr>
                </a:tc>
                <a:tc>
                  <a:txBody>
                    <a:bodyPr/>
                    <a:lstStyle/>
                    <a:p>
                      <a:pPr>
                        <a:defRPr sz="950">
                          <a:solidFill>
                            <a:srgbClr val="212F3D"/>
                          </a:solidFill>
                          <a:latin typeface="Arial"/>
                        </a:defRPr>
                      </a:pPr>
                      <a:r>
                        <a:t>83.5%</a:t>
                      </a:r>
                    </a:p>
                  </a:txBody>
                  <a:tcPr anchor="ctr">
                    <a:solidFill>
                      <a:srgbClr val="F8F9FA"/>
                    </a:solidFill>
                  </a:tcPr>
                </a:tc>
                <a:tc>
                  <a:txBody>
                    <a:bodyPr/>
                    <a:lstStyle/>
                    <a:p>
                      <a:pPr>
                        <a:defRPr sz="950">
                          <a:solidFill>
                            <a:srgbClr val="212F3D"/>
                          </a:solidFill>
                          <a:latin typeface="Arial"/>
                        </a:defRPr>
                      </a:pPr>
                      <a:r>
                        <a:t>Tăng tốc tốt, hiệu suất cao</a:t>
                      </a:r>
                    </a:p>
                  </a:txBody>
                  <a:tcPr anchor="ctr">
                    <a:solidFill>
                      <a:srgbClr val="F8F9FA"/>
                    </a:solidFill>
                  </a:tcPr>
                </a:tc>
              </a:tr>
              <a:tr h="381000">
                <a:tc>
                  <a:txBody>
                    <a:bodyPr/>
                    <a:lstStyle/>
                    <a:p>
                      <a:pPr>
                        <a:defRPr sz="950">
                          <a:solidFill>
                            <a:srgbClr val="212F3D"/>
                          </a:solidFill>
                          <a:latin typeface="Arial"/>
                        </a:defRPr>
                      </a:pPr>
                      <a:r>
                        <a:t>N = 4 workers</a:t>
                      </a:r>
                    </a:p>
                  </a:txBody>
                  <a:tcPr anchor="ctr">
                    <a:solidFill>
                      <a:srgbClr val="FFFFFF"/>
                    </a:solidFill>
                  </a:tcPr>
                </a:tc>
                <a:tc>
                  <a:txBody>
                    <a:bodyPr/>
                    <a:lstStyle/>
                    <a:p>
                      <a:pPr>
                        <a:defRPr sz="950">
                          <a:solidFill>
                            <a:srgbClr val="212F3D"/>
                          </a:solidFill>
                          <a:latin typeface="Arial"/>
                        </a:defRPr>
                      </a:pPr>
                      <a:r>
                        <a:t>1 / (0.20 + 0.80 / 4)</a:t>
                      </a:r>
                    </a:p>
                  </a:txBody>
                  <a:tcPr anchor="ctr">
                    <a:solidFill>
                      <a:srgbClr val="FFFFFF"/>
                    </a:solidFill>
                  </a:tcPr>
                </a:tc>
                <a:tc>
                  <a:txBody>
                    <a:bodyPr/>
                    <a:lstStyle/>
                    <a:p>
                      <a:pPr>
                        <a:defRPr sz="950">
                          <a:solidFill>
                            <a:srgbClr val="212F3D"/>
                          </a:solidFill>
                          <a:latin typeface="Arial"/>
                        </a:defRPr>
                      </a:pPr>
                      <a:r>
                        <a:t>2.50 x</a:t>
                      </a:r>
                    </a:p>
                  </a:txBody>
                  <a:tcPr anchor="ctr">
                    <a:solidFill>
                      <a:srgbClr val="FFFFFF"/>
                    </a:solidFill>
                  </a:tcPr>
                </a:tc>
                <a:tc>
                  <a:txBody>
                    <a:bodyPr/>
                    <a:lstStyle/>
                    <a:p>
                      <a:pPr>
                        <a:defRPr sz="950">
                          <a:solidFill>
                            <a:srgbClr val="212F3D"/>
                          </a:solidFill>
                          <a:latin typeface="Arial"/>
                        </a:defRPr>
                      </a:pPr>
                      <a:r>
                        <a:t>62.5%</a:t>
                      </a:r>
                    </a:p>
                  </a:txBody>
                  <a:tcPr anchor="ctr">
                    <a:solidFill>
                      <a:srgbClr val="FFFFFF"/>
                    </a:solidFill>
                  </a:tcPr>
                </a:tc>
                <a:tc>
                  <a:txBody>
                    <a:bodyPr/>
                    <a:lstStyle/>
                    <a:p>
                      <a:pPr>
                        <a:defRPr sz="950">
                          <a:solidFill>
                            <a:srgbClr val="212F3D"/>
                          </a:solidFill>
                          <a:latin typeface="Arial"/>
                        </a:defRPr>
                      </a:pPr>
                      <a:r>
                        <a:t>Bắt đầu xuất hiện lãng phí tài nguyên</a:t>
                      </a:r>
                    </a:p>
                  </a:txBody>
                  <a:tcPr anchor="ctr">
                    <a:solidFill>
                      <a:srgbClr val="FFFFFF"/>
                    </a:solidFill>
                  </a:tcPr>
                </a:tc>
              </a:tr>
              <a:tr h="381000">
                <a:tc>
                  <a:txBody>
                    <a:bodyPr/>
                    <a:lstStyle/>
                    <a:p>
                      <a:pPr>
                        <a:defRPr sz="950">
                          <a:solidFill>
                            <a:srgbClr val="212F3D"/>
                          </a:solidFill>
                          <a:latin typeface="Arial"/>
                        </a:defRPr>
                      </a:pPr>
                      <a:r>
                        <a:t>N = 8 workers</a:t>
                      </a:r>
                    </a:p>
                  </a:txBody>
                  <a:tcPr anchor="ctr">
                    <a:solidFill>
                      <a:srgbClr val="F8F9FA"/>
                    </a:solidFill>
                  </a:tcPr>
                </a:tc>
                <a:tc>
                  <a:txBody>
                    <a:bodyPr/>
                    <a:lstStyle/>
                    <a:p>
                      <a:pPr>
                        <a:defRPr sz="950">
                          <a:solidFill>
                            <a:srgbClr val="212F3D"/>
                          </a:solidFill>
                          <a:latin typeface="Arial"/>
                        </a:defRPr>
                      </a:pPr>
                      <a:r>
                        <a:t>1 / (0.20 + 0.80 / 8)</a:t>
                      </a:r>
                    </a:p>
                  </a:txBody>
                  <a:tcPr anchor="ctr">
                    <a:solidFill>
                      <a:srgbClr val="F8F9FA"/>
                    </a:solidFill>
                  </a:tcPr>
                </a:tc>
                <a:tc>
                  <a:txBody>
                    <a:bodyPr/>
                    <a:lstStyle/>
                    <a:p>
                      <a:pPr>
                        <a:defRPr sz="950">
                          <a:solidFill>
                            <a:srgbClr val="212F3D"/>
                          </a:solidFill>
                          <a:latin typeface="Arial"/>
                        </a:defRPr>
                      </a:pPr>
                      <a:r>
                        <a:t>3.33 x</a:t>
                      </a:r>
                    </a:p>
                  </a:txBody>
                  <a:tcPr anchor="ctr">
                    <a:solidFill>
                      <a:srgbClr val="F8F9FA"/>
                    </a:solidFill>
                  </a:tcPr>
                </a:tc>
                <a:tc>
                  <a:txBody>
                    <a:bodyPr/>
                    <a:lstStyle/>
                    <a:p>
                      <a:pPr>
                        <a:defRPr sz="950">
                          <a:solidFill>
                            <a:srgbClr val="212F3D"/>
                          </a:solidFill>
                          <a:latin typeface="Arial"/>
                        </a:defRPr>
                      </a:pPr>
                      <a:r>
                        <a:t>41.6%</a:t>
                      </a:r>
                    </a:p>
                  </a:txBody>
                  <a:tcPr anchor="ctr">
                    <a:solidFill>
                      <a:srgbClr val="F8F9FA"/>
                    </a:solidFill>
                  </a:tcPr>
                </a:tc>
                <a:tc>
                  <a:txBody>
                    <a:bodyPr/>
                    <a:lstStyle/>
                    <a:p>
                      <a:pPr>
                        <a:defRPr sz="950">
                          <a:solidFill>
                            <a:srgbClr val="212F3D"/>
                          </a:solidFill>
                          <a:latin typeface="Arial"/>
                        </a:defRPr>
                      </a:pPr>
                      <a:r>
                        <a:t>Hiệu suất rớt xuống dưới 50%</a:t>
                      </a:r>
                    </a:p>
                  </a:txBody>
                  <a:tcPr anchor="ctr">
                    <a:solidFill>
                      <a:srgbClr val="F8F9FA"/>
                    </a:solidFill>
                  </a:tcPr>
                </a:tc>
              </a:tr>
              <a:tr h="381000">
                <a:tc>
                  <a:txBody>
                    <a:bodyPr/>
                    <a:lstStyle/>
                    <a:p>
                      <a:pPr>
                        <a:defRPr sz="950">
                          <a:solidFill>
                            <a:srgbClr val="212F3D"/>
                          </a:solidFill>
                          <a:latin typeface="Arial"/>
                        </a:defRPr>
                      </a:pPr>
                      <a:r>
                        <a:t>N = 16 workers</a:t>
                      </a:r>
                    </a:p>
                  </a:txBody>
                  <a:tcPr anchor="ctr">
                    <a:solidFill>
                      <a:srgbClr val="FFFFFF"/>
                    </a:solidFill>
                  </a:tcPr>
                </a:tc>
                <a:tc>
                  <a:txBody>
                    <a:bodyPr/>
                    <a:lstStyle/>
                    <a:p>
                      <a:pPr>
                        <a:defRPr sz="950">
                          <a:solidFill>
                            <a:srgbClr val="212F3D"/>
                          </a:solidFill>
                          <a:latin typeface="Arial"/>
                        </a:defRPr>
                      </a:pPr>
                      <a:r>
                        <a:t>1 / (0.20 + 0.80 / 16)</a:t>
                      </a:r>
                    </a:p>
                  </a:txBody>
                  <a:tcPr anchor="ctr">
                    <a:solidFill>
                      <a:srgbClr val="FFFFFF"/>
                    </a:solidFill>
                  </a:tcPr>
                </a:tc>
                <a:tc>
                  <a:txBody>
                    <a:bodyPr/>
                    <a:lstStyle/>
                    <a:p>
                      <a:pPr>
                        <a:defRPr sz="950">
                          <a:solidFill>
                            <a:srgbClr val="212F3D"/>
                          </a:solidFill>
                          <a:latin typeface="Arial"/>
                        </a:defRPr>
                      </a:pPr>
                      <a:r>
                        <a:t>4.00 x</a:t>
                      </a:r>
                    </a:p>
                  </a:txBody>
                  <a:tcPr anchor="ctr">
                    <a:solidFill>
                      <a:srgbClr val="FFFFFF"/>
                    </a:solidFill>
                  </a:tcPr>
                </a:tc>
                <a:tc>
                  <a:txBody>
                    <a:bodyPr/>
                    <a:lstStyle/>
                    <a:p>
                      <a:pPr>
                        <a:defRPr sz="950">
                          <a:solidFill>
                            <a:srgbClr val="212F3D"/>
                          </a:solidFill>
                          <a:latin typeface="Arial"/>
                        </a:defRPr>
                      </a:pPr>
                      <a:r>
                        <a:t>25.0%</a:t>
                      </a:r>
                    </a:p>
                  </a:txBody>
                  <a:tcPr anchor="ctr">
                    <a:solidFill>
                      <a:srgbClr val="FFFFFF"/>
                    </a:solidFill>
                  </a:tcPr>
                </a:tc>
                <a:tc>
                  <a:txBody>
                    <a:bodyPr/>
                    <a:lstStyle/>
                    <a:p>
                      <a:pPr>
                        <a:defRPr sz="950">
                          <a:solidFill>
                            <a:srgbClr val="212F3D"/>
                          </a:solidFill>
                          <a:latin typeface="Arial"/>
                        </a:defRPr>
                      </a:pPr>
                      <a:r>
                        <a:t>Thêm gấp đôi phần cứng nhưng tốc độ tăng rất ít</a:t>
                      </a:r>
                    </a:p>
                  </a:txBody>
                  <a:tcPr anchor="ctr">
                    <a:solidFill>
                      <a:srgbClr val="FFFFFF"/>
                    </a:solidFill>
                  </a:tcPr>
                </a:tc>
              </a:tr>
              <a:tr h="381000">
                <a:tc>
                  <a:txBody>
                    <a:bodyPr/>
                    <a:lstStyle/>
                    <a:p>
                      <a:pPr>
                        <a:defRPr sz="950">
                          <a:solidFill>
                            <a:srgbClr val="212F3D"/>
                          </a:solidFill>
                          <a:latin typeface="Arial"/>
                        </a:defRPr>
                      </a:pPr>
                      <a:r>
                        <a:t>N ➔ Vô cùng (∞)</a:t>
                      </a:r>
                    </a:p>
                  </a:txBody>
                  <a:tcPr anchor="ctr">
                    <a:solidFill>
                      <a:srgbClr val="F8F9FA"/>
                    </a:solidFill>
                  </a:tcPr>
                </a:tc>
                <a:tc>
                  <a:txBody>
                    <a:bodyPr/>
                    <a:lstStyle/>
                    <a:p>
                      <a:pPr>
                        <a:defRPr sz="950">
                          <a:solidFill>
                            <a:srgbClr val="212F3D"/>
                          </a:solidFill>
                          <a:latin typeface="Arial"/>
                        </a:defRPr>
                      </a:pPr>
                      <a:r>
                        <a:t>1 / (0.20 + 0)</a:t>
                      </a:r>
                    </a:p>
                  </a:txBody>
                  <a:tcPr anchor="ctr">
                    <a:solidFill>
                      <a:srgbClr val="F8F9FA"/>
                    </a:solidFill>
                  </a:tcPr>
                </a:tc>
                <a:tc>
                  <a:txBody>
                    <a:bodyPr/>
                    <a:lstStyle/>
                    <a:p>
                      <a:pPr>
                        <a:defRPr sz="950">
                          <a:solidFill>
                            <a:srgbClr val="212F3D"/>
                          </a:solidFill>
                          <a:latin typeface="Arial"/>
                        </a:defRPr>
                      </a:pPr>
                      <a:r>
                        <a:t>5.00 x (TRẦN TỐI ĐA)</a:t>
                      </a:r>
                    </a:p>
                  </a:txBody>
                  <a:tcPr anchor="ctr">
                    <a:solidFill>
                      <a:srgbClr val="F8F9FA"/>
                    </a:solidFill>
                  </a:tcPr>
                </a:tc>
                <a:tc>
                  <a:txBody>
                    <a:bodyPr/>
                    <a:lstStyle/>
                    <a:p>
                      <a:pPr>
                        <a:defRPr sz="950">
                          <a:solidFill>
                            <a:srgbClr val="212F3D"/>
                          </a:solidFill>
                          <a:latin typeface="Arial"/>
                        </a:defRPr>
                      </a:pPr>
                      <a:r>
                        <a:t>➔ 0.0%</a:t>
                      </a:r>
                    </a:p>
                  </a:txBody>
                  <a:tcPr anchor="ctr">
                    <a:solidFill>
                      <a:srgbClr val="F8F9FA"/>
                    </a:solidFill>
                  </a:tcPr>
                </a:tc>
                <a:tc>
                  <a:txBody>
                    <a:bodyPr/>
                    <a:lstStyle/>
                    <a:p>
                      <a:pPr>
                        <a:defRPr sz="950">
                          <a:solidFill>
                            <a:srgbClr val="212F3D"/>
                          </a:solidFill>
                          <a:latin typeface="Arial"/>
                        </a:defRPr>
                      </a:pPr>
                      <a:r>
                        <a:t>Trần toán học bất biến, không thể vượt qua!</a:t>
                      </a:r>
                    </a:p>
                  </a:txBody>
                  <a:tcPr anchor="ctr">
                    <a:solidFill>
                      <a:srgbClr val="F8F9FA"/>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79832"/>
            <a:ext cx="9720072" cy="126034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wrap="square" lIns="359918"/>
          <a:lstStyle/>
          <a:p>
            <a:pPr algn="ctr">
              <a:defRPr sz="2500" b="1">
                <a:solidFill>
                  <a:srgbClr val="FFFFFF"/>
                </a:solidFill>
                <a:latin typeface="Arial"/>
              </a:defRPr>
            </a:pPr>
            <a:r>
              <a:t>PHỤ LỤC KIỂM CHUẨN</a:t>
            </a:r>
          </a:p>
        </p:txBody>
      </p:sp>
      <p:sp>
        <p:nvSpPr>
          <p:cNvPr id="3" name="Rectangle 2"/>
          <p:cNvSpPr/>
          <p:nvPr/>
        </p:nvSpPr>
        <p:spPr>
          <a:xfrm>
            <a:off x="179832" y="6839711"/>
            <a:ext cx="539496"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rial"/>
              </a:defRPr>
            </a:pPr>
            <a:r>
              <a:t>23</a:t>
            </a:r>
          </a:p>
        </p:txBody>
      </p:sp>
      <p:sp>
        <p:nvSpPr>
          <p:cNvPr id="4" name="Rectangle 3"/>
          <p:cNvSpPr/>
          <p:nvPr/>
        </p:nvSpPr>
        <p:spPr>
          <a:xfrm>
            <a:off x="900684" y="6839711"/>
            <a:ext cx="6480048" cy="541020"/>
          </a:xfrm>
          <a:prstGeom prst="rect">
            <a:avLst/>
          </a:prstGeom>
          <a:solidFill>
            <a:srgbClr val="BDC3C7"/>
          </a:solidFill>
          <a:ln>
            <a:noFill/>
          </a:ln>
        </p:spPr>
        <p:style>
          <a:lnRef idx="1">
            <a:schemeClr val="accent1"/>
          </a:lnRef>
          <a:fillRef idx="3">
            <a:schemeClr val="accent1"/>
          </a:fillRef>
          <a:effectRef idx="2">
            <a:schemeClr val="accent1"/>
          </a:effectRef>
          <a:fontRef idx="minor">
            <a:schemeClr val="lt1"/>
          </a:fontRef>
        </p:style>
        <p:txBody>
          <a:bodyPr rtlCol="0" anchor="ctr" lIns="190500"/>
          <a:lstStyle/>
          <a:p>
            <a:pPr algn="ctr">
              <a:defRPr sz="1200">
                <a:solidFill>
                  <a:srgbClr val="2C3E50"/>
                </a:solidFill>
                <a:latin typeface="Arial"/>
              </a:defRPr>
            </a:pPr>
            <a:r>
              <a:t>Phụ lục P03: Checklist 10 Tiêu chí Benchmark Khoa học</a:t>
            </a:r>
          </a:p>
        </p:txBody>
      </p:sp>
      <p:sp>
        <p:nvSpPr>
          <p:cNvPr id="5" name="Rectangle 4"/>
          <p:cNvSpPr/>
          <p:nvPr/>
        </p:nvSpPr>
        <p:spPr>
          <a:xfrm>
            <a:off x="7560564" y="6839711"/>
            <a:ext cx="2519172"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PHỤ LỤC BÀI GIẢNG</a:t>
            </a:r>
          </a:p>
        </p:txBody>
      </p:sp>
      <p:sp>
        <p:nvSpPr>
          <p:cNvPr id="6" name="TextBox 5"/>
          <p:cNvSpPr txBox="1"/>
          <p:nvPr/>
        </p:nvSpPr>
        <p:spPr>
          <a:xfrm>
            <a:off x="359918" y="1549400"/>
            <a:ext cx="9334500" cy="406400"/>
          </a:xfrm>
          <a:prstGeom prst="rect">
            <a:avLst/>
          </a:prstGeom>
          <a:noFill/>
        </p:spPr>
        <p:txBody>
          <a:bodyPr wrap="square" tIns="0" lIns="0">
            <a:spAutoFit/>
          </a:bodyPr>
          <a:lstStyle/>
          <a:p>
            <a:pPr>
              <a:defRPr sz="1700" b="1">
                <a:solidFill>
                  <a:srgbClr val="2C3E50"/>
                </a:solidFill>
                <a:latin typeface="Arial"/>
              </a:defRPr>
            </a:pPr>
            <a:r>
              <a:t>➢ Bảng kiểm 10 tiêu chuẩn bắt buộc cho mọi bài thực hành đo lường hiệu năng</a:t>
            </a:r>
          </a:p>
        </p:txBody>
      </p:sp>
      <p:graphicFrame>
        <p:nvGraphicFramePr>
          <p:cNvPr id="7" name="Table 6"/>
          <p:cNvGraphicFramePr>
            <a:graphicFrameLocks noGrp="1"/>
          </p:cNvGraphicFramePr>
          <p:nvPr/>
        </p:nvGraphicFramePr>
        <p:xfrm>
          <a:off x="359918" y="2095500"/>
          <a:ext cx="9334500" cy="4445000"/>
        </p:xfrm>
        <a:graphic>
          <a:graphicData uri="http://schemas.openxmlformats.org/drawingml/2006/table">
            <a:tbl>
              <a:tblPr firstRow="1" bandRow="1">
                <a:tableStyleId>{5C22544A-7EE6-4342-B048-85BDC9FD1C3A}</a:tableStyleId>
              </a:tblPr>
              <a:tblGrid>
                <a:gridCol w="444500"/>
                <a:gridCol w="2159000"/>
                <a:gridCol w="3302000"/>
                <a:gridCol w="3429000"/>
              </a:tblGrid>
              <a:tr h="493888">
                <a:tc>
                  <a:txBody>
                    <a:bodyPr/>
                    <a:lstStyle/>
                    <a:p>
                      <a:pPr algn="ctr">
                        <a:defRPr sz="1050" b="1">
                          <a:solidFill>
                            <a:srgbClr val="FFFFFF"/>
                          </a:solidFill>
                          <a:latin typeface="Arial"/>
                        </a:defRPr>
                      </a:pPr>
                      <a:r>
                        <a:t>STT</a:t>
                      </a:r>
                    </a:p>
                  </a:txBody>
                  <a:tcPr anchor="ctr">
                    <a:solidFill>
                      <a:srgbClr val="E74C3C"/>
                    </a:solidFill>
                  </a:tcPr>
                </a:tc>
                <a:tc>
                  <a:txBody>
                    <a:bodyPr/>
                    <a:lstStyle/>
                    <a:p>
                      <a:pPr algn="ctr">
                        <a:defRPr sz="1050" b="1">
                          <a:solidFill>
                            <a:srgbClr val="FFFFFF"/>
                          </a:solidFill>
                          <a:latin typeface="Arial"/>
                        </a:defRPr>
                      </a:pPr>
                      <a:r>
                        <a:t>Tiêu chí Kiểm chuẩn</a:t>
                      </a:r>
                    </a:p>
                  </a:txBody>
                  <a:tcPr anchor="ctr">
                    <a:solidFill>
                      <a:srgbClr val="E74C3C"/>
                    </a:solidFill>
                  </a:tcPr>
                </a:tc>
                <a:tc>
                  <a:txBody>
                    <a:bodyPr/>
                    <a:lstStyle/>
                    <a:p>
                      <a:pPr algn="ctr">
                        <a:defRPr sz="1050" b="1">
                          <a:solidFill>
                            <a:srgbClr val="FFFFFF"/>
                          </a:solidFill>
                          <a:latin typeface="Arial"/>
                        </a:defRPr>
                      </a:pPr>
                      <a:r>
                        <a:t>Quy định Bắt buộc trong Báo cáo</a:t>
                      </a:r>
                    </a:p>
                  </a:txBody>
                  <a:tcPr anchor="ctr">
                    <a:solidFill>
                      <a:srgbClr val="E74C3C"/>
                    </a:solidFill>
                  </a:tcPr>
                </a:tc>
                <a:tc>
                  <a:txBody>
                    <a:bodyPr/>
                    <a:lstStyle/>
                    <a:p>
                      <a:pPr algn="ctr">
                        <a:defRPr sz="1050" b="1">
                          <a:solidFill>
                            <a:srgbClr val="FFFFFF"/>
                          </a:solidFill>
                          <a:latin typeface="Arial"/>
                        </a:defRPr>
                      </a:pPr>
                      <a:r>
                        <a:t>Mục đích Kỹ thuật &amp; Chống sai lệch</a:t>
                      </a:r>
                    </a:p>
                  </a:txBody>
                  <a:tcPr anchor="ctr">
                    <a:solidFill>
                      <a:srgbClr val="E74C3C"/>
                    </a:solidFill>
                  </a:tcPr>
                </a:tc>
              </a:tr>
              <a:tr h="493888">
                <a:tc>
                  <a:txBody>
                    <a:bodyPr/>
                    <a:lstStyle/>
                    <a:p>
                      <a:pPr>
                        <a:defRPr sz="950">
                          <a:solidFill>
                            <a:srgbClr val="212F3D"/>
                          </a:solidFill>
                          <a:latin typeface="Arial"/>
                        </a:defRPr>
                      </a:pPr>
                      <a:r>
                        <a:t>1</a:t>
                      </a:r>
                    </a:p>
                  </a:txBody>
                  <a:tcPr anchor="ctr">
                    <a:solidFill>
                      <a:srgbClr val="FFFFFF"/>
                    </a:solidFill>
                  </a:tcPr>
                </a:tc>
                <a:tc>
                  <a:txBody>
                    <a:bodyPr/>
                    <a:lstStyle/>
                    <a:p>
                      <a:pPr>
                        <a:defRPr sz="950">
                          <a:solidFill>
                            <a:srgbClr val="212F3D"/>
                          </a:solidFill>
                          <a:latin typeface="Arial"/>
                        </a:defRPr>
                      </a:pPr>
                      <a:r>
                        <a:t>Fixed Input &amp; Seed</a:t>
                      </a:r>
                    </a:p>
                  </a:txBody>
                  <a:tcPr anchor="ctr">
                    <a:solidFill>
                      <a:srgbClr val="FFFFFF"/>
                    </a:solidFill>
                  </a:tcPr>
                </a:tc>
                <a:tc>
                  <a:txBody>
                    <a:bodyPr/>
                    <a:lstStyle/>
                    <a:p>
                      <a:pPr>
                        <a:defRPr sz="950">
                          <a:solidFill>
                            <a:srgbClr val="212F3D"/>
                          </a:solidFill>
                          <a:latin typeface="Arial"/>
                        </a:defRPr>
                      </a:pPr>
                      <a:r>
                        <a:t>Cố định 8 trạm, random.seed=42</a:t>
                      </a:r>
                    </a:p>
                  </a:txBody>
                  <a:tcPr anchor="ctr">
                    <a:solidFill>
                      <a:srgbClr val="FFFFFF"/>
                    </a:solidFill>
                  </a:tcPr>
                </a:tc>
                <a:tc>
                  <a:txBody>
                    <a:bodyPr/>
                    <a:lstStyle/>
                    <a:p>
                      <a:pPr>
                        <a:defRPr sz="950">
                          <a:solidFill>
                            <a:srgbClr val="212F3D"/>
                          </a:solidFill>
                          <a:latin typeface="Arial"/>
                        </a:defRPr>
                      </a:pPr>
                      <a:r>
                        <a:t>Đảm bảo tính tất định, cùng dữ liệu đầu vào</a:t>
                      </a:r>
                    </a:p>
                  </a:txBody>
                  <a:tcPr anchor="ctr">
                    <a:solidFill>
                      <a:srgbClr val="FFFFFF"/>
                    </a:solidFill>
                  </a:tcPr>
                </a:tc>
              </a:tr>
              <a:tr h="493888">
                <a:tc>
                  <a:txBody>
                    <a:bodyPr/>
                    <a:lstStyle/>
                    <a:p>
                      <a:pPr>
                        <a:defRPr sz="950">
                          <a:solidFill>
                            <a:srgbClr val="212F3D"/>
                          </a:solidFill>
                          <a:latin typeface="Arial"/>
                        </a:defRPr>
                      </a:pPr>
                      <a:r>
                        <a:t>2</a:t>
                      </a:r>
                    </a:p>
                  </a:txBody>
                  <a:tcPr anchor="ctr">
                    <a:solidFill>
                      <a:srgbClr val="F8F9FA"/>
                    </a:solidFill>
                  </a:tcPr>
                </a:tc>
                <a:tc>
                  <a:txBody>
                    <a:bodyPr/>
                    <a:lstStyle/>
                    <a:p>
                      <a:pPr>
                        <a:defRPr sz="950">
                          <a:solidFill>
                            <a:srgbClr val="212F3D"/>
                          </a:solidFill>
                          <a:latin typeface="Arial"/>
                        </a:defRPr>
                      </a:pPr>
                      <a:r>
                        <a:t>Correctness Oracle</a:t>
                      </a:r>
                    </a:p>
                  </a:txBody>
                  <a:tcPr anchor="ctr">
                    <a:solidFill>
                      <a:srgbClr val="F8F9FA"/>
                    </a:solidFill>
                  </a:tcPr>
                </a:tc>
                <a:tc>
                  <a:txBody>
                    <a:bodyPr/>
                    <a:lstStyle/>
                    <a:p>
                      <a:pPr>
                        <a:defRPr sz="950">
                          <a:solidFill>
                            <a:srgbClr val="212F3D"/>
                          </a:solidFill>
                          <a:latin typeface="Arial"/>
                        </a:defRPr>
                      </a:pPr>
                      <a:r>
                        <a:t>SHA-256 khớp 100% Sequential Baseline</a:t>
                      </a:r>
                    </a:p>
                  </a:txBody>
                  <a:tcPr anchor="ctr">
                    <a:solidFill>
                      <a:srgbClr val="F8F9FA"/>
                    </a:solidFill>
                  </a:tcPr>
                </a:tc>
                <a:tc>
                  <a:txBody>
                    <a:bodyPr/>
                    <a:lstStyle/>
                    <a:p>
                      <a:pPr>
                        <a:defRPr sz="950">
                          <a:solidFill>
                            <a:srgbClr val="212F3D"/>
                          </a:solidFill>
                          <a:latin typeface="Arial"/>
                        </a:defRPr>
                      </a:pPr>
                      <a:r>
                        <a:t>Chống việc chương trình chạy nhanh nhưng tính sai</a:t>
                      </a:r>
                    </a:p>
                  </a:txBody>
                  <a:tcPr anchor="ctr">
                    <a:solidFill>
                      <a:srgbClr val="F8F9FA"/>
                    </a:solidFill>
                  </a:tcPr>
                </a:tc>
              </a:tr>
              <a:tr h="493888">
                <a:tc>
                  <a:txBody>
                    <a:bodyPr/>
                    <a:lstStyle/>
                    <a:p>
                      <a:pPr>
                        <a:defRPr sz="950">
                          <a:solidFill>
                            <a:srgbClr val="212F3D"/>
                          </a:solidFill>
                          <a:latin typeface="Arial"/>
                        </a:defRPr>
                      </a:pPr>
                      <a:r>
                        <a:t>3</a:t>
                      </a:r>
                    </a:p>
                  </a:txBody>
                  <a:tcPr anchor="ctr">
                    <a:solidFill>
                      <a:srgbClr val="FFFFFF"/>
                    </a:solidFill>
                  </a:tcPr>
                </a:tc>
                <a:tc>
                  <a:txBody>
                    <a:bodyPr/>
                    <a:lstStyle/>
                    <a:p>
                      <a:pPr>
                        <a:defRPr sz="950">
                          <a:solidFill>
                            <a:srgbClr val="212F3D"/>
                          </a:solidFill>
                          <a:latin typeface="Arial"/>
                        </a:defRPr>
                      </a:pPr>
                      <a:r>
                        <a:t>Đồng hồ chuẩn xác</a:t>
                      </a:r>
                    </a:p>
                  </a:txBody>
                  <a:tcPr anchor="ctr">
                    <a:solidFill>
                      <a:srgbClr val="FFFFFF"/>
                    </a:solidFill>
                  </a:tcPr>
                </a:tc>
                <a:tc>
                  <a:txBody>
                    <a:bodyPr/>
                    <a:lstStyle/>
                    <a:p>
                      <a:pPr>
                        <a:defRPr sz="950">
                          <a:solidFill>
                            <a:srgbClr val="212F3D"/>
                          </a:solidFill>
                          <a:latin typeface="Arial"/>
                        </a:defRPr>
                      </a:pPr>
                      <a:r>
                        <a:t>Chỉ dùng time.perf_counter_ns()</a:t>
                      </a:r>
                    </a:p>
                  </a:txBody>
                  <a:tcPr anchor="ctr">
                    <a:solidFill>
                      <a:srgbClr val="FFFFFF"/>
                    </a:solidFill>
                  </a:tcPr>
                </a:tc>
                <a:tc>
                  <a:txBody>
                    <a:bodyPr/>
                    <a:lstStyle/>
                    <a:p>
                      <a:pPr>
                        <a:defRPr sz="950">
                          <a:solidFill>
                            <a:srgbClr val="212F3D"/>
                          </a:solidFill>
                          <a:latin typeface="Arial"/>
                        </a:defRPr>
                      </a:pPr>
                      <a:r>
                        <a:t>Tránh trôi đồng hồ của time.time() do cập nhật NTP</a:t>
                      </a:r>
                    </a:p>
                  </a:txBody>
                  <a:tcPr anchor="ctr">
                    <a:solidFill>
                      <a:srgbClr val="FFFFFF"/>
                    </a:solidFill>
                  </a:tcPr>
                </a:tc>
              </a:tr>
              <a:tr h="493888">
                <a:tc>
                  <a:txBody>
                    <a:bodyPr/>
                    <a:lstStyle/>
                    <a:p>
                      <a:pPr>
                        <a:defRPr sz="950">
                          <a:solidFill>
                            <a:srgbClr val="212F3D"/>
                          </a:solidFill>
                          <a:latin typeface="Arial"/>
                        </a:defRPr>
                      </a:pPr>
                      <a:r>
                        <a:t>4</a:t>
                      </a:r>
                    </a:p>
                  </a:txBody>
                  <a:tcPr anchor="ctr">
                    <a:solidFill>
                      <a:srgbClr val="F8F9FA"/>
                    </a:solidFill>
                  </a:tcPr>
                </a:tc>
                <a:tc>
                  <a:txBody>
                    <a:bodyPr/>
                    <a:lstStyle/>
                    <a:p>
                      <a:pPr>
                        <a:defRPr sz="950">
                          <a:solidFill>
                            <a:srgbClr val="212F3D"/>
                          </a:solidFill>
                          <a:latin typeface="Arial"/>
                        </a:defRPr>
                      </a:pPr>
                      <a:r>
                        <a:t>Warm-up Phase</a:t>
                      </a:r>
                    </a:p>
                  </a:txBody>
                  <a:tcPr anchor="ctr">
                    <a:solidFill>
                      <a:srgbClr val="F8F9FA"/>
                    </a:solidFill>
                  </a:tcPr>
                </a:tc>
                <a:tc>
                  <a:txBody>
                    <a:bodyPr/>
                    <a:lstStyle/>
                    <a:p>
                      <a:pPr>
                        <a:defRPr sz="950">
                          <a:solidFill>
                            <a:srgbClr val="212F3D"/>
                          </a:solidFill>
                          <a:latin typeface="Arial"/>
                        </a:defRPr>
                      </a:pPr>
                      <a:r>
                        <a:t>Chạy khởi động tối thiểu 1 lần</a:t>
                      </a:r>
                    </a:p>
                  </a:txBody>
                  <a:tcPr anchor="ctr">
                    <a:solidFill>
                      <a:srgbClr val="F8F9FA"/>
                    </a:solidFill>
                  </a:tcPr>
                </a:tc>
                <a:tc>
                  <a:txBody>
                    <a:bodyPr/>
                    <a:lstStyle/>
                    <a:p>
                      <a:pPr>
                        <a:defRPr sz="950">
                          <a:solidFill>
                            <a:srgbClr val="212F3D"/>
                          </a:solidFill>
                          <a:latin typeface="Arial"/>
                        </a:defRPr>
                      </a:pPr>
                      <a:r>
                        <a:t>Nạp sẵn cache bộ nhớ và bytecode JIT</a:t>
                      </a:r>
                    </a:p>
                  </a:txBody>
                  <a:tcPr anchor="ctr">
                    <a:solidFill>
                      <a:srgbClr val="F8F9FA"/>
                    </a:solidFill>
                  </a:tcPr>
                </a:tc>
              </a:tr>
              <a:tr h="493888">
                <a:tc>
                  <a:txBody>
                    <a:bodyPr/>
                    <a:lstStyle/>
                    <a:p>
                      <a:pPr>
                        <a:defRPr sz="950">
                          <a:solidFill>
                            <a:srgbClr val="212F3D"/>
                          </a:solidFill>
                          <a:latin typeface="Arial"/>
                        </a:defRPr>
                      </a:pPr>
                      <a:r>
                        <a:t>5</a:t>
                      </a:r>
                    </a:p>
                  </a:txBody>
                  <a:tcPr anchor="ctr">
                    <a:solidFill>
                      <a:srgbClr val="FFFFFF"/>
                    </a:solidFill>
                  </a:tcPr>
                </a:tc>
                <a:tc>
                  <a:txBody>
                    <a:bodyPr/>
                    <a:lstStyle/>
                    <a:p>
                      <a:pPr>
                        <a:defRPr sz="950">
                          <a:solidFill>
                            <a:srgbClr val="212F3D"/>
                          </a:solidFill>
                          <a:latin typeface="Arial"/>
                        </a:defRPr>
                      </a:pPr>
                      <a:r>
                        <a:t>Số lần lặp lại</a:t>
                      </a:r>
                    </a:p>
                  </a:txBody>
                  <a:tcPr anchor="ctr">
                    <a:solidFill>
                      <a:srgbClr val="FFFFFF"/>
                    </a:solidFill>
                  </a:tcPr>
                </a:tc>
                <a:tc>
                  <a:txBody>
                    <a:bodyPr/>
                    <a:lstStyle/>
                    <a:p>
                      <a:pPr>
                        <a:defRPr sz="950">
                          <a:solidFill>
                            <a:srgbClr val="212F3D"/>
                          </a:solidFill>
                          <a:latin typeface="Arial"/>
                        </a:defRPr>
                      </a:pPr>
                      <a:r>
                        <a:t>Lặp tối thiểu 5 đến 10 lần chạy độc lập</a:t>
                      </a:r>
                    </a:p>
                  </a:txBody>
                  <a:tcPr anchor="ctr">
                    <a:solidFill>
                      <a:srgbClr val="FFFFFF"/>
                    </a:solidFill>
                  </a:tcPr>
                </a:tc>
                <a:tc>
                  <a:txBody>
                    <a:bodyPr/>
                    <a:lstStyle/>
                    <a:p>
                      <a:pPr>
                        <a:defRPr sz="950">
                          <a:solidFill>
                            <a:srgbClr val="212F3D"/>
                          </a:solidFill>
                          <a:latin typeface="Arial"/>
                        </a:defRPr>
                      </a:pPr>
                      <a:r>
                        <a:t>Thu thập mẫu thống kê có ý nghĩa</a:t>
                      </a:r>
                    </a:p>
                  </a:txBody>
                  <a:tcPr anchor="ctr">
                    <a:solidFill>
                      <a:srgbClr val="FFFFFF"/>
                    </a:solidFill>
                  </a:tcPr>
                </a:tc>
              </a:tr>
              <a:tr h="493888">
                <a:tc>
                  <a:txBody>
                    <a:bodyPr/>
                    <a:lstStyle/>
                    <a:p>
                      <a:pPr>
                        <a:defRPr sz="950">
                          <a:solidFill>
                            <a:srgbClr val="212F3D"/>
                          </a:solidFill>
                          <a:latin typeface="Arial"/>
                        </a:defRPr>
                      </a:pPr>
                      <a:r>
                        <a:t>6</a:t>
                      </a:r>
                    </a:p>
                  </a:txBody>
                  <a:tcPr anchor="ctr">
                    <a:solidFill>
                      <a:srgbClr val="F8F9FA"/>
                    </a:solidFill>
                  </a:tcPr>
                </a:tc>
                <a:tc>
                  <a:txBody>
                    <a:bodyPr/>
                    <a:lstStyle/>
                    <a:p>
                      <a:pPr>
                        <a:defRPr sz="950">
                          <a:solidFill>
                            <a:srgbClr val="212F3D"/>
                          </a:solidFill>
                          <a:latin typeface="Arial"/>
                        </a:defRPr>
                      </a:pPr>
                      <a:r>
                        <a:t>Thống kê Trung vị</a:t>
                      </a:r>
                    </a:p>
                  </a:txBody>
                  <a:tcPr anchor="ctr">
                    <a:solidFill>
                      <a:srgbClr val="F8F9FA"/>
                    </a:solidFill>
                  </a:tcPr>
                </a:tc>
                <a:tc>
                  <a:txBody>
                    <a:bodyPr/>
                    <a:lstStyle/>
                    <a:p>
                      <a:pPr>
                        <a:defRPr sz="950">
                          <a:solidFill>
                            <a:srgbClr val="212F3D"/>
                          </a:solidFill>
                          <a:latin typeface="Arial"/>
                        </a:defRPr>
                      </a:pPr>
                      <a:r>
                        <a:t>Báo cáo bằng Median và dải min/max</a:t>
                      </a:r>
                    </a:p>
                  </a:txBody>
                  <a:tcPr anchor="ctr">
                    <a:solidFill>
                      <a:srgbClr val="F8F9FA"/>
                    </a:solidFill>
                  </a:tcPr>
                </a:tc>
                <a:tc>
                  <a:txBody>
                    <a:bodyPr/>
                    <a:lstStyle/>
                    <a:p>
                      <a:pPr>
                        <a:defRPr sz="950">
                          <a:solidFill>
                            <a:srgbClr val="212F3D"/>
                          </a:solidFill>
                          <a:latin typeface="Arial"/>
                        </a:defRPr>
                      </a:pPr>
                      <a:r>
                        <a:t>Loại trừ đột biến ngẫu nhiên từ tiến trình nền của OS</a:t>
                      </a:r>
                    </a:p>
                  </a:txBody>
                  <a:tcPr anchor="ctr">
                    <a:solidFill>
                      <a:srgbClr val="F8F9FA"/>
                    </a:solidFill>
                  </a:tcPr>
                </a:tc>
              </a:tr>
              <a:tr h="493888">
                <a:tc>
                  <a:txBody>
                    <a:bodyPr/>
                    <a:lstStyle/>
                    <a:p>
                      <a:pPr>
                        <a:defRPr sz="950">
                          <a:solidFill>
                            <a:srgbClr val="212F3D"/>
                          </a:solidFill>
                          <a:latin typeface="Arial"/>
                        </a:defRPr>
                      </a:pPr>
                      <a:r>
                        <a:t>7</a:t>
                      </a:r>
                    </a:p>
                  </a:txBody>
                  <a:tcPr anchor="ctr">
                    <a:solidFill>
                      <a:srgbClr val="FFFFFF"/>
                    </a:solidFill>
                  </a:tcPr>
                </a:tc>
                <a:tc>
                  <a:txBody>
                    <a:bodyPr/>
                    <a:lstStyle/>
                    <a:p>
                      <a:pPr>
                        <a:defRPr sz="950">
                          <a:solidFill>
                            <a:srgbClr val="212F3D"/>
                          </a:solidFill>
                          <a:latin typeface="Arial"/>
                        </a:defRPr>
                      </a:pPr>
                      <a:r>
                        <a:t>Console Isolation</a:t>
                      </a:r>
                    </a:p>
                  </a:txBody>
                  <a:tcPr anchor="ctr">
                    <a:solidFill>
                      <a:srgbClr val="FFFFFF"/>
                    </a:solidFill>
                  </a:tcPr>
                </a:tc>
                <a:tc>
                  <a:txBody>
                    <a:bodyPr/>
                    <a:lstStyle/>
                    <a:p>
                      <a:pPr>
                        <a:defRPr sz="950">
                          <a:solidFill>
                            <a:srgbClr val="212F3D"/>
                          </a:solidFill>
                          <a:latin typeface="Arial"/>
                        </a:defRPr>
                      </a:pPr>
                      <a:r>
                        <a:t>Không print() / ghi log trong vùng đo</a:t>
                      </a:r>
                    </a:p>
                  </a:txBody>
                  <a:tcPr anchor="ctr">
                    <a:solidFill>
                      <a:srgbClr val="FFFFFF"/>
                    </a:solidFill>
                  </a:tcPr>
                </a:tc>
                <a:tc>
                  <a:txBody>
                    <a:bodyPr/>
                    <a:lstStyle/>
                    <a:p>
                      <a:pPr>
                        <a:defRPr sz="950">
                          <a:solidFill>
                            <a:srgbClr val="212F3D"/>
                          </a:solidFill>
                          <a:latin typeface="Arial"/>
                        </a:defRPr>
                      </a:pPr>
                      <a:r>
                        <a:t>I/O console rất chậm và gây sai lệch đo lường</a:t>
                      </a:r>
                    </a:p>
                  </a:txBody>
                  <a:tcPr anchor="ctr">
                    <a:solidFill>
                      <a:srgbClr val="FFFFFF"/>
                    </a:solidFill>
                  </a:tcPr>
                </a:tc>
              </a:tr>
              <a:tr h="493896">
                <a:tc>
                  <a:txBody>
                    <a:bodyPr/>
                    <a:lstStyle/>
                    <a:p>
                      <a:pPr>
                        <a:defRPr sz="950">
                          <a:solidFill>
                            <a:srgbClr val="212F3D"/>
                          </a:solidFill>
                          <a:latin typeface="Arial"/>
                        </a:defRPr>
                      </a:pPr>
                      <a:r>
                        <a:t>8</a:t>
                      </a:r>
                    </a:p>
                  </a:txBody>
                  <a:tcPr anchor="ctr">
                    <a:solidFill>
                      <a:srgbClr val="F8F9FA"/>
                    </a:solidFill>
                  </a:tcPr>
                </a:tc>
                <a:tc>
                  <a:txBody>
                    <a:bodyPr/>
                    <a:lstStyle/>
                    <a:p>
                      <a:pPr>
                        <a:defRPr sz="950">
                          <a:solidFill>
                            <a:srgbClr val="212F3D"/>
                          </a:solidFill>
                          <a:latin typeface="Arial"/>
                        </a:defRPr>
                      </a:pPr>
                      <a:r>
                        <a:t>Cấu hình phần cứng</a:t>
                      </a:r>
                    </a:p>
                  </a:txBody>
                  <a:tcPr anchor="ctr">
                    <a:solidFill>
                      <a:srgbClr val="F8F9FA"/>
                    </a:solidFill>
                  </a:tcPr>
                </a:tc>
                <a:tc>
                  <a:txBody>
                    <a:bodyPr/>
                    <a:lstStyle/>
                    <a:p>
                      <a:pPr>
                        <a:defRPr sz="950">
                          <a:solidFill>
                            <a:srgbClr val="212F3D"/>
                          </a:solidFill>
                          <a:latin typeface="Arial"/>
                        </a:defRPr>
                      </a:pPr>
                      <a:r>
                        <a:t>Ghi rõ CPU model, số core, RAM, OS, Python</a:t>
                      </a:r>
                    </a:p>
                  </a:txBody>
                  <a:tcPr anchor="ctr">
                    <a:solidFill>
                      <a:srgbClr val="F8F9FA"/>
                    </a:solidFill>
                  </a:tcPr>
                </a:tc>
                <a:tc>
                  <a:txBody>
                    <a:bodyPr/>
                    <a:lstStyle/>
                    <a:p>
                      <a:pPr>
                        <a:defRPr sz="950">
                          <a:solidFill>
                            <a:srgbClr val="212F3D"/>
                          </a:solidFill>
                          <a:latin typeface="Arial"/>
                        </a:defRPr>
                      </a:pPr>
                      <a:r>
                        <a:t>Đảm bảo khả năng tái lập thí nghiệm (Reproducibility)</a:t>
                      </a:r>
                    </a:p>
                  </a:txBody>
                  <a:tcPr anchor="ctr">
                    <a:solidFill>
                      <a:srgbClr val="F8F9FA"/>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79832"/>
            <a:ext cx="9720072" cy="126034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wrap="square" lIns="359918"/>
          <a:lstStyle/>
          <a:p>
            <a:pPr algn="ctr">
              <a:defRPr sz="2500" b="1">
                <a:solidFill>
                  <a:srgbClr val="FFFFFF"/>
                </a:solidFill>
                <a:latin typeface="Arial"/>
              </a:defRPr>
            </a:pPr>
            <a:r>
              <a:t>TỔNG KẾT &amp; THẢO LUẬN</a:t>
            </a:r>
          </a:p>
        </p:txBody>
      </p:sp>
      <p:sp>
        <p:nvSpPr>
          <p:cNvPr id="3" name="Rectangle 2"/>
          <p:cNvSpPr/>
          <p:nvPr/>
        </p:nvSpPr>
        <p:spPr>
          <a:xfrm>
            <a:off x="179832" y="6839711"/>
            <a:ext cx="539496"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rial"/>
              </a:defRPr>
            </a:pPr>
            <a:r>
              <a:t>24</a:t>
            </a:r>
          </a:p>
        </p:txBody>
      </p:sp>
      <p:sp>
        <p:nvSpPr>
          <p:cNvPr id="4" name="Rectangle 3"/>
          <p:cNvSpPr/>
          <p:nvPr/>
        </p:nvSpPr>
        <p:spPr>
          <a:xfrm>
            <a:off x="900684" y="6839711"/>
            <a:ext cx="6480048" cy="541020"/>
          </a:xfrm>
          <a:prstGeom prst="rect">
            <a:avLst/>
          </a:prstGeom>
          <a:solidFill>
            <a:srgbClr val="BDC3C7"/>
          </a:solidFill>
          <a:ln>
            <a:noFill/>
          </a:ln>
        </p:spPr>
        <p:style>
          <a:lnRef idx="1">
            <a:schemeClr val="accent1"/>
          </a:lnRef>
          <a:fillRef idx="3">
            <a:schemeClr val="accent1"/>
          </a:fillRef>
          <a:effectRef idx="2">
            <a:schemeClr val="accent1"/>
          </a:effectRef>
          <a:fontRef idx="minor">
            <a:schemeClr val="lt1"/>
          </a:fontRef>
        </p:style>
        <p:txBody>
          <a:bodyPr rtlCol="0" anchor="ctr" lIns="190500"/>
          <a:lstStyle/>
          <a:p>
            <a:pPr algn="ctr">
              <a:defRPr sz="1200">
                <a:solidFill>
                  <a:srgbClr val="2C3E50"/>
                </a:solidFill>
                <a:latin typeface="Arial"/>
              </a:defRPr>
            </a:pPr>
            <a:r>
              <a:t>Tổng kết Ba Thông điệp &amp; 10 Câu hỏi Thảo luận</a:t>
            </a:r>
          </a:p>
        </p:txBody>
      </p:sp>
      <p:sp>
        <p:nvSpPr>
          <p:cNvPr id="5" name="Rectangle 4"/>
          <p:cNvSpPr/>
          <p:nvPr/>
        </p:nvSpPr>
        <p:spPr>
          <a:xfrm>
            <a:off x="7560564" y="6839711"/>
            <a:ext cx="2519172"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KẾT THÚC BÀI HỌC</a:t>
            </a:r>
          </a:p>
        </p:txBody>
      </p:sp>
      <p:sp>
        <p:nvSpPr>
          <p:cNvPr id="6" name="TextBox 5"/>
          <p:cNvSpPr txBox="1"/>
          <p:nvPr/>
        </p:nvSpPr>
        <p:spPr>
          <a:xfrm>
            <a:off x="359918" y="1549400"/>
            <a:ext cx="9334500" cy="406400"/>
          </a:xfrm>
          <a:prstGeom prst="rect">
            <a:avLst/>
          </a:prstGeom>
          <a:noFill/>
        </p:spPr>
        <p:txBody>
          <a:bodyPr wrap="square" tIns="0" lIns="0">
            <a:spAutoFit/>
          </a:bodyPr>
          <a:lstStyle/>
          <a:p>
            <a:pPr>
              <a:defRPr sz="1700" b="1">
                <a:solidFill>
                  <a:srgbClr val="2C3E50"/>
                </a:solidFill>
                <a:latin typeface="Arial"/>
              </a:defRPr>
            </a:pPr>
            <a:r>
              <a:t>➢ Ba thông điệp cốt tử và Bộ câu hỏi gợi mở thảo luận trên lớp</a:t>
            </a:r>
          </a:p>
        </p:txBody>
      </p:sp>
      <p:sp>
        <p:nvSpPr>
          <p:cNvPr id="7" name="Rounded Rectangle 6"/>
          <p:cNvSpPr/>
          <p:nvPr/>
        </p:nvSpPr>
        <p:spPr>
          <a:xfrm>
            <a:off x="359918" y="1968500"/>
            <a:ext cx="9334500" cy="1968500"/>
          </a:xfrm>
          <a:prstGeom prst="roundRect">
            <a:avLst/>
          </a:prstGeom>
          <a:solidFill>
            <a:srgbClr val="F8F9FA"/>
          </a:solidFill>
          <a:ln w="15240">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wrap="square" tIns="101600" lIns="152400" rIns="152400" bIns="101600"/>
          <a:lstStyle/>
          <a:p>
            <a:pPr algn="ctr">
              <a:spcAft>
                <a:spcPts val="400"/>
              </a:spcAft>
              <a:defRPr sz="1150" b="1">
                <a:solidFill>
                  <a:srgbClr val="2C3E50"/>
                </a:solidFill>
                <a:latin typeface="Arial"/>
              </a:defRPr>
            </a:pPr>
            <a:r>
              <a:t>BA THÔNG ĐIỆP KỸ THUẬT CỐT TỬ CỦA BÀI HỌC</a:t>
            </a:r>
          </a:p>
          <a:p>
            <a:pPr>
              <a:spcAft>
                <a:spcPts val="300"/>
              </a:spcAft>
              <a:defRPr sz="1000">
                <a:solidFill>
                  <a:srgbClr val="212F3D"/>
                </a:solidFill>
                <a:latin typeface="Arial"/>
              </a:defRPr>
            </a:pPr>
            <a:r>
              <a:rPr b="1">
                <a:solidFill>
                  <a:srgbClr val="2C3E50"/>
                </a:solidFill>
              </a:rPr>
              <a:t>• Thông điệp 1: Nắm đúng bản chất: </a:t>
            </a:r>
            <a:r>
              <a:rPr>
                <a:solidFill>
                  <a:srgbClr val="212F3D"/>
                </a:solidFill>
              </a:rPr>
              <a:t>Phân biệt rạch ròi Concurrency (cấu trúc xen kẽ), Parallelism (đa nhân vật lý), và Asynchrony (hợp đồng không chờ). Tuyệt đối không gọi blocking trong luồng async!</a:t>
            </a:r>
          </a:p>
          <a:p>
            <a:pPr>
              <a:spcAft>
                <a:spcPts val="300"/>
              </a:spcAft>
              <a:defRPr sz="1000">
                <a:solidFill>
                  <a:srgbClr val="212F3D"/>
                </a:solidFill>
                <a:latin typeface="Arial"/>
              </a:defRPr>
            </a:pPr>
            <a:r>
              <a:rPr b="1">
                <a:solidFill>
                  <a:srgbClr val="2C3E50"/>
                </a:solidFill>
              </a:rPr>
              <a:t>• Thông điệp 2: Nút thắt quyết định công cụ: </a:t>
            </a:r>
            <a:r>
              <a:rPr>
                <a:solidFill>
                  <a:srgbClr val="212F3D"/>
                </a:solidFill>
              </a:rPr>
              <a:t>I/O-bound chọn Asyncio / ThreadPool; CPU-bound chọn ProcessPool để vượt qua GIL. Hệ thống thực tế dùng Kiến trúc Lai (Hybrid).</a:t>
            </a:r>
          </a:p>
          <a:p>
            <a:pPr>
              <a:spcAft>
                <a:spcPts val="300"/>
              </a:spcAft>
              <a:defRPr sz="1000">
                <a:solidFill>
                  <a:srgbClr val="212F3D"/>
                </a:solidFill>
                <a:latin typeface="Arial"/>
              </a:defRPr>
            </a:pPr>
            <a:r>
              <a:rPr b="1">
                <a:solidFill>
                  <a:srgbClr val="2C3E50"/>
                </a:solidFill>
              </a:rPr>
              <a:t>• Thông điệp 3: Đúng trước, Nhanh sau: </a:t>
            </a:r>
            <a:r>
              <a:rPr>
                <a:solidFill>
                  <a:srgbClr val="212F3D"/>
                </a:solidFill>
              </a:rPr>
              <a:t>Mọi tối ưu hóa đều vô nghĩa nếu kết quả sai lệch. Tăng tốc luôn có trần giới hạn bởi Định luật Amdahl và các loại chi phí overhead thực tế.</a:t>
            </a:r>
          </a:p>
        </p:txBody>
      </p:sp>
      <p:sp>
        <p:nvSpPr>
          <p:cNvPr id="8" name="Rounded Rectangle 7"/>
          <p:cNvSpPr/>
          <p:nvPr/>
        </p:nvSpPr>
        <p:spPr>
          <a:xfrm>
            <a:off x="359918" y="4127500"/>
            <a:ext cx="4508500" cy="2413000"/>
          </a:xfrm>
          <a:prstGeom prst="roundRect">
            <a:avLst/>
          </a:prstGeom>
          <a:solidFill>
            <a:srgbClr val="F8F9FA"/>
          </a:solidFill>
          <a:ln w="1524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tIns="101600" lIns="152400" rIns="152400" bIns="101600"/>
          <a:lstStyle/>
          <a:p>
            <a:pPr algn="ctr">
              <a:spcAft>
                <a:spcPts val="400"/>
              </a:spcAft>
              <a:defRPr sz="1150" b="1">
                <a:solidFill>
                  <a:srgbClr val="2C3E50"/>
                </a:solidFill>
                <a:latin typeface="Arial"/>
              </a:defRPr>
            </a:pPr>
            <a:r>
              <a:t>GỢI MỞ THẢO LUẬN 1 (BẢN CHẤT KIẾN TRÚC)</a:t>
            </a:r>
          </a:p>
          <a:p>
            <a:pPr>
              <a:spcAft>
                <a:spcPts val="300"/>
              </a:spcAft>
              <a:defRPr sz="1000">
                <a:solidFill>
                  <a:srgbClr val="212F3D"/>
                </a:solidFill>
                <a:latin typeface="Arial"/>
              </a:defRPr>
            </a:pPr>
            <a:r>
              <a:rPr b="1">
                <a:solidFill>
                  <a:srgbClr val="2C3E50"/>
                </a:solidFill>
              </a:rPr>
              <a:t>• Q1: </a:t>
            </a:r>
            <a:r>
              <a:rPr>
                <a:solidFill>
                  <a:srgbClr val="212F3D"/>
                </a:solidFill>
              </a:rPr>
              <a:t>Một chương trình 1 thread đơn lẻ có concurrent được không? (Trả lời: Có, nhờ Event Loop và Cooperative Yield)</a:t>
            </a:r>
          </a:p>
          <a:p>
            <a:pPr>
              <a:spcAft>
                <a:spcPts val="300"/>
              </a:spcAft>
              <a:defRPr sz="1000">
                <a:solidFill>
                  <a:srgbClr val="212F3D"/>
                </a:solidFill>
                <a:latin typeface="Arial"/>
              </a:defRPr>
            </a:pPr>
            <a:r>
              <a:rPr b="1">
                <a:solidFill>
                  <a:srgbClr val="2C3E50"/>
                </a:solidFill>
              </a:rPr>
              <a:t>• Q2: </a:t>
            </a:r>
            <a:r>
              <a:rPr>
                <a:solidFill>
                  <a:srgbClr val="212F3D"/>
                </a:solidFill>
              </a:rPr>
              <a:t>Lệnh await có làm block luồng OS không? (Trả lời: Không, chỉ tạm dừng coroutine và nhường quyền)</a:t>
            </a:r>
          </a:p>
          <a:p>
            <a:pPr>
              <a:spcAft>
                <a:spcPts val="300"/>
              </a:spcAft>
              <a:defRPr sz="1000">
                <a:solidFill>
                  <a:srgbClr val="212F3D"/>
                </a:solidFill>
                <a:latin typeface="Arial"/>
              </a:defRPr>
            </a:pPr>
            <a:r>
              <a:rPr b="1">
                <a:solidFill>
                  <a:srgbClr val="2C3E50"/>
                </a:solidFill>
              </a:rPr>
              <a:t>• Q3: </a:t>
            </a:r>
            <a:r>
              <a:rPr>
                <a:solidFill>
                  <a:srgbClr val="212F3D"/>
                </a:solidFill>
              </a:rPr>
              <a:t>Async trên 1 máy tính có phải là hệ phân tán không? (Trả lời: Không, vẫn chung RAM vật lý và 1 Kernel)</a:t>
            </a:r>
          </a:p>
        </p:txBody>
      </p:sp>
      <p:sp>
        <p:nvSpPr>
          <p:cNvPr id="9" name="Rounded Rectangle 8"/>
          <p:cNvSpPr/>
          <p:nvPr/>
        </p:nvSpPr>
        <p:spPr>
          <a:xfrm>
            <a:off x="5181600" y="4127500"/>
            <a:ext cx="4508500" cy="2413000"/>
          </a:xfrm>
          <a:prstGeom prst="roundRect">
            <a:avLst/>
          </a:prstGeom>
          <a:solidFill>
            <a:srgbClr val="F8F9FA"/>
          </a:solidFill>
          <a:ln w="1524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wrap="square" tIns="101600" lIns="152400" rIns="152400" bIns="101600"/>
          <a:lstStyle/>
          <a:p>
            <a:pPr algn="ctr">
              <a:spcAft>
                <a:spcPts val="400"/>
              </a:spcAft>
              <a:defRPr sz="1150" b="1">
                <a:solidFill>
                  <a:srgbClr val="2C3E50"/>
                </a:solidFill>
                <a:latin typeface="Arial"/>
              </a:defRPr>
            </a:pPr>
            <a:r>
              <a:t>GỢI MỞ THẢO LUẬN 2 (HIỆU NĂNG &amp; BENCHMARK)</a:t>
            </a:r>
          </a:p>
          <a:p>
            <a:pPr>
              <a:spcAft>
                <a:spcPts val="300"/>
              </a:spcAft>
              <a:defRPr sz="1000">
                <a:solidFill>
                  <a:srgbClr val="212F3D"/>
                </a:solidFill>
                <a:latin typeface="Arial"/>
              </a:defRPr>
            </a:pPr>
            <a:r>
              <a:rPr b="1">
                <a:solidFill>
                  <a:srgbClr val="2C3E50"/>
                </a:solidFill>
              </a:rPr>
              <a:t>• Q4: </a:t>
            </a:r>
            <a:r>
              <a:rPr>
                <a:solidFill>
                  <a:srgbClr val="212F3D"/>
                </a:solidFill>
              </a:rPr>
              <a:t>Vì sao thêm worker có thể làm chậm chương trình? (Trả lời: Do hiện tượng Oversubscription và Context Switch)</a:t>
            </a:r>
          </a:p>
          <a:p>
            <a:pPr>
              <a:spcAft>
                <a:spcPts val="300"/>
              </a:spcAft>
              <a:defRPr sz="1000">
                <a:solidFill>
                  <a:srgbClr val="212F3D"/>
                </a:solidFill>
                <a:latin typeface="Arial"/>
              </a:defRPr>
            </a:pPr>
            <a:r>
              <a:rPr b="1">
                <a:solidFill>
                  <a:srgbClr val="2C3E50"/>
                </a:solidFill>
              </a:rPr>
              <a:t>• Q5: </a:t>
            </a:r>
            <a:r>
              <a:rPr>
                <a:solidFill>
                  <a:srgbClr val="212F3D"/>
                </a:solidFill>
              </a:rPr>
              <a:t>Định luật Amdahl bỏ qua những loại overhead nào? (Trả lời: Bỏ qua chi phí tạo worker, IPC và lock contention)</a:t>
            </a:r>
          </a:p>
          <a:p>
            <a:pPr>
              <a:spcAft>
                <a:spcPts val="300"/>
              </a:spcAft>
              <a:defRPr sz="1000">
                <a:solidFill>
                  <a:srgbClr val="212F3D"/>
                </a:solidFill>
                <a:latin typeface="Arial"/>
              </a:defRPr>
            </a:pPr>
            <a:r>
              <a:rPr b="1">
                <a:solidFill>
                  <a:srgbClr val="2C3E50"/>
                </a:solidFill>
              </a:rPr>
              <a:t>• Chuyển tiếp: </a:t>
            </a:r>
            <a:r>
              <a:rPr>
                <a:solidFill>
                  <a:srgbClr val="212F3D"/>
                </a:solidFill>
              </a:rPr>
              <a:t>Chuẩn bị cho Bài học tiếp theo: 'Chuyên đề 2: ThreadPoolExecutor và Quản lý Worker Pool'!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