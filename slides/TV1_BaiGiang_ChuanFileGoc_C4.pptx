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0081260" cy="755904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[GIÁO ÁN GIẢNG DẠY]:</a:t>
            </a:r>
          </a:p>
          <a:p>
            <a:r>
              <a:t>Kính chào cô và các bạn. Hôm nay em đại diện cho TV1 trình bày Phần I: Giới thiệu của Chương 4 - Tính toán bất đồng bộ trong Python, bao gồm 4 mô hình nền tảng: Tuần tự, Đồng thời, Song song và Bất đồng bộ.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[GIÁO ÁN GIẢNG DẠY]:</a:t>
            </a:r>
          </a:p>
          <a:p>
            <a:r>
              <a:t>Trước khi bước vào các thư viện cụ thể như concurrent.futures hay asyncio, chúng ta cần nắm vững 4 mô hình thực thi nền tảng này để hiểu rõ bản chất máy tính xử lý công việc ra sao.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[GIÁO ÁN GIẢNG DẠY]:</a:t>
            </a:r>
          </a:p>
          <a:p>
            <a:r>
              <a:t>Đây là nội dung Slide 2 bài giảng gốc: Xử lý tuần tự là mô hình cơ bản nhất. 1 task làm xong mới tới task tiếp theo. Nhược điểm là nếu task 1 mất thời gian chờ đĩa hoặc mạng, CPU sẽ bị nhàn rỗi lãng phí.</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[GIÁO ÁN GIẢNG DẠY]:</a:t>
            </a:r>
          </a:p>
          <a:p>
            <a:r>
              <a:t>Nội dung Slide 3 bài giảng gốc: HĐH quản lý các chương trình thông qua Process ID (PID). CPU Core thông minh ở chỗ nó băm nhỏ task và sắp xếp xen kẽ nhau để tận dụng thời gian rảnh.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[GIÁO ÁN GIẢNG DẠY]:</a:t>
            </a:r>
          </a:p>
          <a:p>
            <a:r>
              <a:t>Slide 4 bài giảng gốc chốt lại một nguyên lý cực kỳ quan trọng: Concurrency là điều phối nhiều task trong cùng 1 khoảng thời gian, nhưng tại 1 thời điểm trên 1 nhân CPU thì chỉ có 1 task được thi hành.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[GIÁO ÁN GIẢNG DẠY]:</a:t>
            </a:r>
          </a:p>
          <a:p>
            <a:r>
              <a:t>Slide 5 bài giảng gốc: Xử lý song song là nhiều task được xử lý thực sự cùng 1 thời điểm. Điều kiện tiên quyết: Máy tính bắt buộc phải có số core lớn hơn 1 và các task phải độc lập nhau.</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[GIÁO ÁN GIẢNG DẠY]:</a:t>
            </a:r>
          </a:p>
          <a:p>
            <a:r>
              <a:t>Slide 6 bài giảng gốc lưu ý điểm rất tinh tế: Trong thực tế, trên mỗi nhân CPU vẫn diễn ra xử lý đồng thời để chạy các tiến trình nền của OS, miễn là không chạy trùng 1 task trên 2 nhân cùng lúc.</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[GIÁO ÁN GIẢNG DẠY]:</a:t>
            </a:r>
          </a:p>
          <a:p>
            <a:r>
              <a:t>Slide 7 bài giảng gốc giới thiệu Bất đồng bộ: Cho phép các task xử lý không theo thứ tự, chuyển sang task khác trước khi task cũ xong. Giảng viên đưa ra 2 ví dụ đời sống rất hay: Đi thi và Bãi giữ xe.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[GIÁO ÁN GIẢNG DẠY]:</a:t>
            </a:r>
          </a:p>
          <a:p>
            <a:r>
              <a:t>Hai ví dụ đời sống trong slide gốc giúp sinh viên hiểu ngay bản chất: Bất đồng bộ là không chờ đợi một cách vô ích. Việc nào làm được trước thì làm trước, việc nào phải chờ thì nhận vé hẹn làm sau.</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[GIÁO ÁN GIẢNG DẠY]:</a:t>
            </a:r>
          </a:p>
          <a:p>
            <a:r>
              <a:t>Slide 8 bài giảng gốc là slide kết luận cực kỳ quan trọng của phần Giới thiệu: Mô hình bất đồng bộ thực thi đồng thời nằm trong MỘT LUỒNG DUY NHẤT. Task có thể tạm dừng rồi tiếp tục lại sau, áp dụng được cho cả máy 1 CPU lẫn đa CPU.</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[GIÁO ÁN GIẢNG DẠY]:</a:t>
            </a:r>
          </a:p>
          <a:p>
            <a:r>
              <a:t>Em xin kết thúc phần trình bày của Thành viên 1. Toàn bộ phần Giới thiệu từ slide 1 đến slide 8 đã được làm rõ. Xin mời bạn Thành viên 2 tiếp tục với module concurrent.futures ở slide 9!</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59918" y="571500"/>
            <a:ext cx="9334500" cy="825500"/>
          </a:xfrm>
          <a:prstGeom prst="rect">
            <a:avLst/>
          </a:prstGeom>
          <a:noFill/>
        </p:spPr>
        <p:txBody>
          <a:bodyPr wrap="none">
            <a:spAutoFit/>
          </a:bodyPr>
          <a:lstStyle/>
          <a:p>
            <a:pPr>
              <a:defRPr sz="1400" b="1">
                <a:solidFill>
                  <a:srgbClr val="2C3E50"/>
                </a:solidFill>
                <a:latin typeface="Arial"/>
              </a:defRPr>
            </a:pPr>
            <a:r>
              <a:t>TRƯỜNG ĐẠI HỌC KỸ THUẬT - CÔNG NGHỆ CẦN THƠ (CTUET)</a:t>
            </a:r>
          </a:p>
          <a:p>
            <a:pPr>
              <a:defRPr sz="1150">
                <a:solidFill>
                  <a:srgbClr val="BDC3C7"/>
                </a:solidFill>
                <a:latin typeface="Arial"/>
              </a:defRPr>
            </a:pPr>
            <a:r>
              <a:t>KHOA CÔNG NGHỆ THÔNG TIN — HỌC PHẦN: TÍNH TOÁN SONG SONG VÀ PHÂN TÁN</a:t>
            </a:r>
          </a:p>
        </p:txBody>
      </p:sp>
      <p:sp>
        <p:nvSpPr>
          <p:cNvPr id="3" name="Rectangle 2"/>
          <p:cNvSpPr/>
          <p:nvPr/>
        </p:nvSpPr>
        <p:spPr>
          <a:xfrm>
            <a:off x="0" y="2984500"/>
            <a:ext cx="9720072" cy="158750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lIns="359918"/>
          <a:lstStyle/>
          <a:p>
            <a:pPr algn="ctr">
              <a:defRPr sz="2600" b="1">
                <a:solidFill>
                  <a:srgbClr val="FFFFFF"/>
                </a:solidFill>
                <a:latin typeface="Arial"/>
              </a:defRPr>
            </a:pPr>
            <a:r>
              <a:t>CHƯƠNG  4:</a:t>
            </a:r>
          </a:p>
          <a:p>
            <a:pPr>
              <a:defRPr sz="3000" b="1">
                <a:solidFill>
                  <a:srgbClr val="FFFFFF"/>
                </a:solidFill>
                <a:latin typeface="Arial"/>
              </a:defRPr>
            </a:pPr>
            <a:r>
              <a:t>TÍNH TOÁN BẤT ĐỒNG BỘ TRONG PYTHON</a:t>
            </a:r>
          </a:p>
        </p:txBody>
      </p:sp>
      <p:sp>
        <p:nvSpPr>
          <p:cNvPr id="4" name="TextBox 3"/>
          <p:cNvSpPr txBox="1"/>
          <p:nvPr/>
        </p:nvSpPr>
        <p:spPr>
          <a:xfrm>
            <a:off x="359918" y="4889500"/>
            <a:ext cx="9334500" cy="1778000"/>
          </a:xfrm>
          <a:prstGeom prst="rect">
            <a:avLst/>
          </a:prstGeom>
          <a:noFill/>
        </p:spPr>
        <p:txBody>
          <a:bodyPr wrap="none">
            <a:spAutoFit/>
          </a:bodyPr>
          <a:lstStyle/>
          <a:p>
            <a:pPr>
              <a:defRPr sz="1400" b="1">
                <a:solidFill>
                  <a:srgbClr val="2C3E50"/>
                </a:solidFill>
                <a:latin typeface="Arial"/>
              </a:defRPr>
            </a:pPr>
            <a:r>
              <a:t>PHẦN I: GIỚI THIỆU (NỀN TẢNG CÁC MÔ HÌNH THỰC THI)</a:t>
            </a:r>
          </a:p>
          <a:p>
            <a:pPr>
              <a:defRPr sz="1250" b="1">
                <a:solidFill>
                  <a:srgbClr val="E67E22"/>
                </a:solidFill>
                <a:latin typeface="Arial"/>
              </a:defRPr>
            </a:pPr>
            <a:r>
              <a:t>Người thực hiện: Thành viên 1 (Phụ trách Slide 1 đến Slide 8 bài giảng gốc)</a:t>
            </a:r>
          </a:p>
          <a:p>
            <a:pPr>
              <a:defRPr sz="1100">
                <a:solidFill>
                  <a:srgbClr val="212F3D"/>
                </a:solidFill>
                <a:latin typeface="Arial"/>
              </a:defRPr>
            </a:pPr>
            <a:r>
              <a:t>Giảng viên hướng dẫn: ThS. Lê Anh Nhã Uyên (lanuyen@ctuet.edu.vn)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79832"/>
            <a:ext cx="9720072" cy="126034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wrap="square" lIns="359918"/>
          <a:lstStyle/>
          <a:p>
            <a:pPr algn="ctr">
              <a:defRPr sz="2600" b="1">
                <a:solidFill>
                  <a:srgbClr val="FFFFFF"/>
                </a:solidFill>
                <a:latin typeface="Arial"/>
              </a:defRPr>
            </a:pPr>
            <a:r>
              <a:t>GIỚI THIỆU</a:t>
            </a:r>
          </a:p>
        </p:txBody>
      </p:sp>
      <p:sp>
        <p:nvSpPr>
          <p:cNvPr id="3" name="Rectangle 2"/>
          <p:cNvSpPr/>
          <p:nvPr/>
        </p:nvSpPr>
        <p:spPr>
          <a:xfrm>
            <a:off x="179832" y="6839711"/>
            <a:ext cx="539496"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rial"/>
              </a:defRPr>
            </a:pPr>
            <a:r>
              <a:t>2</a:t>
            </a:r>
          </a:p>
        </p:txBody>
      </p:sp>
      <p:sp>
        <p:nvSpPr>
          <p:cNvPr id="4" name="Rectangle 3"/>
          <p:cNvSpPr/>
          <p:nvPr/>
        </p:nvSpPr>
        <p:spPr>
          <a:xfrm>
            <a:off x="900684" y="6839711"/>
            <a:ext cx="6480048" cy="541020"/>
          </a:xfrm>
          <a:prstGeom prst="rect">
            <a:avLst/>
          </a:prstGeom>
          <a:solidFill>
            <a:srgbClr val="BDC3C7"/>
          </a:solidFill>
          <a:ln>
            <a:noFill/>
          </a:ln>
        </p:spPr>
        <p:style>
          <a:lnRef idx="1">
            <a:schemeClr val="accent1"/>
          </a:lnRef>
          <a:fillRef idx="3">
            <a:schemeClr val="accent1"/>
          </a:fillRef>
          <a:effectRef idx="2">
            <a:schemeClr val="accent1"/>
          </a:effectRef>
          <a:fontRef idx="minor">
            <a:schemeClr val="lt1"/>
          </a:fontRef>
        </p:style>
        <p:txBody>
          <a:bodyPr rtlCol="0" anchor="ctr" lIns="190500"/>
          <a:lstStyle/>
          <a:p>
            <a:pPr algn="ctr">
              <a:defRPr sz="1250">
                <a:solidFill>
                  <a:srgbClr val="2C3E50"/>
                </a:solidFill>
                <a:latin typeface="Arial"/>
              </a:defRPr>
            </a:pPr>
            <a:r>
              <a:t>Tổng quan 4 Mô hình Thực thi Nền tảng</a:t>
            </a:r>
          </a:p>
        </p:txBody>
      </p:sp>
      <p:sp>
        <p:nvSpPr>
          <p:cNvPr id="5" name="Rectangle 4"/>
          <p:cNvSpPr/>
          <p:nvPr/>
        </p:nvSpPr>
        <p:spPr>
          <a:xfrm>
            <a:off x="7560564" y="6839711"/>
            <a:ext cx="2519172"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01 - 2026</a:t>
            </a:r>
          </a:p>
        </p:txBody>
      </p:sp>
      <p:sp>
        <p:nvSpPr>
          <p:cNvPr id="6" name="TextBox 5"/>
          <p:cNvSpPr txBox="1"/>
          <p:nvPr/>
        </p:nvSpPr>
        <p:spPr>
          <a:xfrm>
            <a:off x="359918" y="1549400"/>
            <a:ext cx="9334500" cy="406400"/>
          </a:xfrm>
          <a:prstGeom prst="rect">
            <a:avLst/>
          </a:prstGeom>
          <a:noFill/>
        </p:spPr>
        <p:txBody>
          <a:bodyPr wrap="square" tIns="0" lIns="0">
            <a:spAutoFit/>
          </a:bodyPr>
          <a:lstStyle/>
          <a:p>
            <a:pPr>
              <a:defRPr sz="1800" b="1">
                <a:solidFill>
                  <a:srgbClr val="2C3E50"/>
                </a:solidFill>
                <a:latin typeface="Arial"/>
              </a:defRPr>
            </a:pPr>
            <a:r>
              <a:t>➢ Bốn mô hình tính toán nền tảng của Chương 4</a:t>
            </a:r>
          </a:p>
        </p:txBody>
      </p:sp>
      <p:sp>
        <p:nvSpPr>
          <p:cNvPr id="7" name="TextBox 6"/>
          <p:cNvSpPr txBox="1"/>
          <p:nvPr/>
        </p:nvSpPr>
        <p:spPr>
          <a:xfrm>
            <a:off x="359918" y="1905000"/>
            <a:ext cx="9334500" cy="2159000"/>
          </a:xfrm>
          <a:prstGeom prst="rect">
            <a:avLst/>
          </a:prstGeom>
          <a:noFill/>
        </p:spPr>
        <p:txBody>
          <a:bodyPr wrap="square" tIns="0" lIns="0">
            <a:spAutoFit/>
          </a:bodyPr>
          <a:lstStyle/>
          <a:p>
            <a:pPr>
              <a:spcBef>
                <a:spcPts val="200"/>
              </a:spcBef>
              <a:spcAft>
                <a:spcPts val="600"/>
              </a:spcAft>
            </a:pPr>
            <a:r>
              <a:rPr sz="1250" b="1">
                <a:solidFill>
                  <a:srgbClr val="2C3E50"/>
                </a:solidFill>
                <a:latin typeface="Arial"/>
              </a:rPr>
              <a:t>□ Mô hình 1 — Xử lý Tuần tự (Sequential): </a:t>
            </a:r>
            <a:r>
              <a:rPr sz="1250">
                <a:solidFill>
                  <a:srgbClr val="212F3D"/>
                </a:solidFill>
                <a:latin typeface="Arial"/>
              </a:rPr>
              <a:t>Xử lý 1 tác vụ trong 1 khoảng thời gian; các task nối tiếp nhau theo thứ tự cố định.</a:t>
            </a:r>
          </a:p>
          <a:p>
            <a:pPr>
              <a:spcBef>
                <a:spcPts val="200"/>
              </a:spcBef>
              <a:spcAft>
                <a:spcPts val="600"/>
              </a:spcAft>
            </a:pPr>
            <a:r>
              <a:rPr sz="1250" b="1">
                <a:solidFill>
                  <a:srgbClr val="2C3E50"/>
                </a:solidFill>
                <a:latin typeface="Arial"/>
              </a:rPr>
              <a:t>□ Mô hình 2 — Xử lý Đồng thời (Concurrency): </a:t>
            </a:r>
            <a:r>
              <a:rPr sz="1250">
                <a:solidFill>
                  <a:srgbClr val="212F3D"/>
                </a:solidFill>
                <a:latin typeface="Arial"/>
              </a:rPr>
              <a:t>Phân chia và điều phối nhiều tác vụ cùng tiến triển xen kẽ nhau trên 1 nhân CPU.</a:t>
            </a:r>
          </a:p>
          <a:p>
            <a:pPr>
              <a:spcBef>
                <a:spcPts val="200"/>
              </a:spcBef>
              <a:spcAft>
                <a:spcPts val="600"/>
              </a:spcAft>
            </a:pPr>
            <a:r>
              <a:rPr sz="1250" b="1">
                <a:solidFill>
                  <a:srgbClr val="2C3E50"/>
                </a:solidFill>
                <a:latin typeface="Arial"/>
              </a:rPr>
              <a:t>□ Mô hình 3 — Xử lý Song song (Parallelism): </a:t>
            </a:r>
            <a:r>
              <a:rPr sz="1250">
                <a:solidFill>
                  <a:srgbClr val="212F3D"/>
                </a:solidFill>
                <a:latin typeface="Arial"/>
              </a:rPr>
              <a:t>Nhiều tác vụ độc lập được thực thi đồng thời vật lý tại cùng thời điểm trên nhiều nhân CPU.</a:t>
            </a:r>
          </a:p>
          <a:p>
            <a:pPr>
              <a:spcBef>
                <a:spcPts val="200"/>
              </a:spcBef>
              <a:spcAft>
                <a:spcPts val="600"/>
              </a:spcAft>
            </a:pPr>
            <a:r>
              <a:rPr sz="1250" b="1">
                <a:solidFill>
                  <a:srgbClr val="2C3E50"/>
                </a:solidFill>
                <a:latin typeface="Arial"/>
              </a:rPr>
              <a:t>□ Mô hình 4 — Xử lý Bất đồng bộ (Asynchronous): </a:t>
            </a:r>
            <a:r>
              <a:rPr sz="1250">
                <a:solidFill>
                  <a:srgbClr val="212F3D"/>
                </a:solidFill>
                <a:latin typeface="Arial"/>
              </a:rPr>
              <a:t>Xử lý không theo thứ tự, giải quyết nhiều yêu cầu đồng thời trong khoảng thời gian ngắn hơn.</a:t>
            </a:r>
          </a:p>
        </p:txBody>
      </p:sp>
      <p:pic>
        <p:nvPicPr>
          <p:cNvPr id="8" name="Picture 7" descr="diag_orig_compare_3_models.png"/>
          <p:cNvPicPr>
            <a:picLocks noChangeAspect="1"/>
          </p:cNvPicPr>
          <p:nvPr/>
        </p:nvPicPr>
        <p:blipFill>
          <a:blip r:embed="rId2"/>
          <a:stretch>
            <a:fillRect/>
          </a:stretch>
        </p:blipFill>
        <p:spPr>
          <a:xfrm>
            <a:off x="359918" y="4127500"/>
            <a:ext cx="9334500" cy="24765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79832"/>
            <a:ext cx="9720072" cy="126034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wrap="square" lIns="359918"/>
          <a:lstStyle/>
          <a:p>
            <a:pPr algn="ctr">
              <a:defRPr sz="2600" b="1">
                <a:solidFill>
                  <a:srgbClr val="FFFFFF"/>
                </a:solidFill>
                <a:latin typeface="Arial"/>
              </a:defRPr>
            </a:pPr>
            <a:r>
              <a:t>GIỚI THIỆU</a:t>
            </a:r>
          </a:p>
        </p:txBody>
      </p:sp>
      <p:sp>
        <p:nvSpPr>
          <p:cNvPr id="3" name="Rectangle 2"/>
          <p:cNvSpPr/>
          <p:nvPr/>
        </p:nvSpPr>
        <p:spPr>
          <a:xfrm>
            <a:off x="179832" y="6839711"/>
            <a:ext cx="539496"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rial"/>
              </a:defRPr>
            </a:pPr>
            <a:r>
              <a:t>3</a:t>
            </a:r>
          </a:p>
        </p:txBody>
      </p:sp>
      <p:sp>
        <p:nvSpPr>
          <p:cNvPr id="4" name="Rectangle 3"/>
          <p:cNvSpPr/>
          <p:nvPr/>
        </p:nvSpPr>
        <p:spPr>
          <a:xfrm>
            <a:off x="900684" y="6839711"/>
            <a:ext cx="6480048" cy="541020"/>
          </a:xfrm>
          <a:prstGeom prst="rect">
            <a:avLst/>
          </a:prstGeom>
          <a:solidFill>
            <a:srgbClr val="BDC3C7"/>
          </a:solidFill>
          <a:ln>
            <a:noFill/>
          </a:ln>
        </p:spPr>
        <p:style>
          <a:lnRef idx="1">
            <a:schemeClr val="accent1"/>
          </a:lnRef>
          <a:fillRef idx="3">
            <a:schemeClr val="accent1"/>
          </a:fillRef>
          <a:effectRef idx="2">
            <a:schemeClr val="accent1"/>
          </a:effectRef>
          <a:fontRef idx="minor">
            <a:schemeClr val="lt1"/>
          </a:fontRef>
        </p:style>
        <p:txBody>
          <a:bodyPr rtlCol="0" anchor="ctr" lIns="190500"/>
          <a:lstStyle/>
          <a:p>
            <a:pPr algn="ctr">
              <a:defRPr sz="1250">
                <a:solidFill>
                  <a:srgbClr val="2C3E50"/>
                </a:solidFill>
                <a:latin typeface="Arial"/>
              </a:defRPr>
            </a:pPr>
            <a:r>
              <a:t>Sequential - Tuần tự (Slide 2 gốc)</a:t>
            </a:r>
          </a:p>
        </p:txBody>
      </p:sp>
      <p:sp>
        <p:nvSpPr>
          <p:cNvPr id="5" name="Rectangle 4"/>
          <p:cNvSpPr/>
          <p:nvPr/>
        </p:nvSpPr>
        <p:spPr>
          <a:xfrm>
            <a:off x="7560564" y="6839711"/>
            <a:ext cx="2519172"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01 - 2026</a:t>
            </a:r>
          </a:p>
        </p:txBody>
      </p:sp>
      <p:sp>
        <p:nvSpPr>
          <p:cNvPr id="6" name="TextBox 5"/>
          <p:cNvSpPr txBox="1"/>
          <p:nvPr/>
        </p:nvSpPr>
        <p:spPr>
          <a:xfrm>
            <a:off x="359918" y="1549400"/>
            <a:ext cx="9334500" cy="406400"/>
          </a:xfrm>
          <a:prstGeom prst="rect">
            <a:avLst/>
          </a:prstGeom>
          <a:noFill/>
        </p:spPr>
        <p:txBody>
          <a:bodyPr wrap="square" tIns="0" lIns="0">
            <a:spAutoFit/>
          </a:bodyPr>
          <a:lstStyle/>
          <a:p>
            <a:pPr>
              <a:defRPr sz="1800" b="1">
                <a:solidFill>
                  <a:srgbClr val="2C3E50"/>
                </a:solidFill>
                <a:latin typeface="Arial"/>
              </a:defRPr>
            </a:pPr>
            <a:r>
              <a:t>➢ Xử lý tuần tự (Sequential Computing)</a:t>
            </a:r>
          </a:p>
        </p:txBody>
      </p:sp>
      <p:sp>
        <p:nvSpPr>
          <p:cNvPr id="7" name="TextBox 6"/>
          <p:cNvSpPr txBox="1"/>
          <p:nvPr/>
        </p:nvSpPr>
        <p:spPr>
          <a:xfrm>
            <a:off x="359918" y="1905000"/>
            <a:ext cx="9334500" cy="2095500"/>
          </a:xfrm>
          <a:prstGeom prst="rect">
            <a:avLst/>
          </a:prstGeom>
          <a:noFill/>
        </p:spPr>
        <p:txBody>
          <a:bodyPr wrap="square" tIns="0" lIns="0">
            <a:spAutoFit/>
          </a:bodyPr>
          <a:lstStyle/>
          <a:p>
            <a:pPr>
              <a:spcBef>
                <a:spcPts val="200"/>
              </a:spcBef>
              <a:spcAft>
                <a:spcPts val="600"/>
              </a:spcAft>
            </a:pPr>
            <a:r>
              <a:rPr sz="1250" b="1">
                <a:solidFill>
                  <a:srgbClr val="2C3E50"/>
                </a:solidFill>
                <a:latin typeface="Arial"/>
              </a:rPr>
              <a:t>□ Định nghĩa xử lý tuần tự: </a:t>
            </a:r>
            <a:r>
              <a:rPr sz="1250">
                <a:solidFill>
                  <a:srgbClr val="212F3D"/>
                </a:solidFill>
                <a:latin typeface="Arial"/>
              </a:rPr>
              <a:t>Xử lý 1 tác vụ (task) trong một khoảng thời gian xác định.</a:t>
            </a:r>
          </a:p>
          <a:p>
            <a:pPr>
              <a:spcBef>
                <a:spcPts val="200"/>
              </a:spcBef>
              <a:spcAft>
                <a:spcPts val="600"/>
              </a:spcAft>
            </a:pPr>
            <a:r>
              <a:rPr sz="1250" b="1">
                <a:solidFill>
                  <a:srgbClr val="2C3E50"/>
                </a:solidFill>
                <a:latin typeface="Arial"/>
              </a:rPr>
              <a:t>□ Thứ tự thực thi: </a:t>
            </a:r>
            <a:r>
              <a:rPr sz="1250">
                <a:solidFill>
                  <a:srgbClr val="212F3D"/>
                </a:solidFill>
                <a:latin typeface="Arial"/>
              </a:rPr>
              <a:t>Các task sẽ được thực thi tuần tự theo thứ tự: Tác vụ trước phải hoàn thành xong thì tác vụ sau mới được bắt đầu.</a:t>
            </a:r>
          </a:p>
          <a:p>
            <a:pPr>
              <a:spcBef>
                <a:spcPts val="200"/>
              </a:spcBef>
              <a:spcAft>
                <a:spcPts val="600"/>
              </a:spcAft>
            </a:pPr>
            <a:r>
              <a:rPr sz="1250" b="1">
                <a:solidFill>
                  <a:srgbClr val="2C3E50"/>
                </a:solidFill>
                <a:latin typeface="Arial"/>
              </a:rPr>
              <a:t>□ Đặc điểm vận hành: </a:t>
            </a:r>
            <a:r>
              <a:rPr sz="1250">
                <a:solidFill>
                  <a:srgbClr val="212F3D"/>
                </a:solidFill>
                <a:latin typeface="Arial"/>
              </a:rPr>
              <a:t>Chương trình chỉ duy trì một dòng thực thi duy nhất; không có sự chia sẻ hay xen kẽ giữa các tác vụ.</a:t>
            </a:r>
          </a:p>
          <a:p>
            <a:pPr>
              <a:spcBef>
                <a:spcPts val="200"/>
              </a:spcBef>
              <a:spcAft>
                <a:spcPts val="600"/>
              </a:spcAft>
            </a:pPr>
            <a:r>
              <a:rPr sz="1250" b="1">
                <a:solidFill>
                  <a:srgbClr val="2C3E50"/>
                </a:solidFill>
                <a:latin typeface="Arial"/>
              </a:rPr>
              <a:t>□ Hạn chế chính: </a:t>
            </a:r>
            <a:r>
              <a:rPr sz="1250">
                <a:solidFill>
                  <a:srgbClr val="212F3D"/>
                </a:solidFill>
                <a:latin typeface="Arial"/>
              </a:rPr>
              <a:t>Nếu một tác vụ bị nghẽn (ví dụ chờ dữ liệu nhập xuất I/O), toàn bộ các tác vụ phía sau đều bị chặn đứng và phải chờ đợi.</a:t>
            </a:r>
          </a:p>
        </p:txBody>
      </p:sp>
      <p:pic>
        <p:nvPicPr>
          <p:cNvPr id="8" name="Picture 7" descr="diag_orig_sequential.png"/>
          <p:cNvPicPr>
            <a:picLocks noChangeAspect="1"/>
          </p:cNvPicPr>
          <p:nvPr/>
        </p:nvPicPr>
        <p:blipFill>
          <a:blip r:embed="rId2"/>
          <a:stretch>
            <a:fillRect/>
          </a:stretch>
        </p:blipFill>
        <p:spPr>
          <a:xfrm>
            <a:off x="359918" y="4191000"/>
            <a:ext cx="9334500" cy="2413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79832"/>
            <a:ext cx="9720072" cy="126034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wrap="square" lIns="359918"/>
          <a:lstStyle/>
          <a:p>
            <a:pPr algn="ctr">
              <a:defRPr sz="2600" b="1">
                <a:solidFill>
                  <a:srgbClr val="FFFFFF"/>
                </a:solidFill>
                <a:latin typeface="Arial"/>
              </a:defRPr>
            </a:pPr>
            <a:r>
              <a:t>GIỚI THIỆU</a:t>
            </a:r>
          </a:p>
        </p:txBody>
      </p:sp>
      <p:sp>
        <p:nvSpPr>
          <p:cNvPr id="3" name="Rectangle 2"/>
          <p:cNvSpPr/>
          <p:nvPr/>
        </p:nvSpPr>
        <p:spPr>
          <a:xfrm>
            <a:off x="179832" y="6839711"/>
            <a:ext cx="539496"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rial"/>
              </a:defRPr>
            </a:pPr>
            <a:r>
              <a:t>4</a:t>
            </a:r>
          </a:p>
        </p:txBody>
      </p:sp>
      <p:sp>
        <p:nvSpPr>
          <p:cNvPr id="4" name="Rectangle 3"/>
          <p:cNvSpPr/>
          <p:nvPr/>
        </p:nvSpPr>
        <p:spPr>
          <a:xfrm>
            <a:off x="900684" y="6839711"/>
            <a:ext cx="6480048" cy="541020"/>
          </a:xfrm>
          <a:prstGeom prst="rect">
            <a:avLst/>
          </a:prstGeom>
          <a:solidFill>
            <a:srgbClr val="BDC3C7"/>
          </a:solidFill>
          <a:ln>
            <a:noFill/>
          </a:ln>
        </p:spPr>
        <p:style>
          <a:lnRef idx="1">
            <a:schemeClr val="accent1"/>
          </a:lnRef>
          <a:fillRef idx="3">
            <a:schemeClr val="accent1"/>
          </a:fillRef>
          <a:effectRef idx="2">
            <a:schemeClr val="accent1"/>
          </a:effectRef>
          <a:fontRef idx="minor">
            <a:schemeClr val="lt1"/>
          </a:fontRef>
        </p:style>
        <p:txBody>
          <a:bodyPr rtlCol="0" anchor="ctr" lIns="190500"/>
          <a:lstStyle/>
          <a:p>
            <a:pPr algn="ctr">
              <a:defRPr sz="1250">
                <a:solidFill>
                  <a:srgbClr val="2C3E50"/>
                </a:solidFill>
                <a:latin typeface="Arial"/>
              </a:defRPr>
            </a:pPr>
            <a:r>
              <a:t>Concurrency - Đồng thời (Slide 3 gốc)</a:t>
            </a:r>
          </a:p>
        </p:txBody>
      </p:sp>
      <p:sp>
        <p:nvSpPr>
          <p:cNvPr id="5" name="Rectangle 4"/>
          <p:cNvSpPr/>
          <p:nvPr/>
        </p:nvSpPr>
        <p:spPr>
          <a:xfrm>
            <a:off x="7560564" y="6839711"/>
            <a:ext cx="2519172"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01 - 2026</a:t>
            </a:r>
          </a:p>
        </p:txBody>
      </p:sp>
      <p:sp>
        <p:nvSpPr>
          <p:cNvPr id="6" name="TextBox 5"/>
          <p:cNvSpPr txBox="1"/>
          <p:nvPr/>
        </p:nvSpPr>
        <p:spPr>
          <a:xfrm>
            <a:off x="359918" y="1549400"/>
            <a:ext cx="9334500" cy="406400"/>
          </a:xfrm>
          <a:prstGeom prst="rect">
            <a:avLst/>
          </a:prstGeom>
          <a:noFill/>
        </p:spPr>
        <p:txBody>
          <a:bodyPr wrap="square" tIns="0" lIns="0">
            <a:spAutoFit/>
          </a:bodyPr>
          <a:lstStyle/>
          <a:p>
            <a:pPr>
              <a:defRPr sz="1800" b="1">
                <a:solidFill>
                  <a:srgbClr val="2C3E50"/>
                </a:solidFill>
                <a:latin typeface="Arial"/>
              </a:defRPr>
            </a:pPr>
            <a:r>
              <a:t>➢ Xử lý đồng thời: Vai trò của Hệ điều hành và Tiến trình</a:t>
            </a:r>
          </a:p>
        </p:txBody>
      </p:sp>
      <p:sp>
        <p:nvSpPr>
          <p:cNvPr id="7" name="TextBox 6"/>
          <p:cNvSpPr txBox="1"/>
          <p:nvPr/>
        </p:nvSpPr>
        <p:spPr>
          <a:xfrm>
            <a:off x="359918" y="1905000"/>
            <a:ext cx="9334500" cy="2095500"/>
          </a:xfrm>
          <a:prstGeom prst="rect">
            <a:avLst/>
          </a:prstGeom>
          <a:noFill/>
        </p:spPr>
        <p:txBody>
          <a:bodyPr wrap="square" tIns="0" lIns="0">
            <a:spAutoFit/>
          </a:bodyPr>
          <a:lstStyle/>
          <a:p>
            <a:pPr>
              <a:spcBef>
                <a:spcPts val="200"/>
              </a:spcBef>
              <a:spcAft>
                <a:spcPts val="600"/>
              </a:spcAft>
            </a:pPr>
            <a:r>
              <a:rPr sz="1250" b="1">
                <a:solidFill>
                  <a:srgbClr val="2C3E50"/>
                </a:solidFill>
                <a:latin typeface="Arial"/>
              </a:rPr>
              <a:t>□ Hệ điều hành quản lý chương trình: </a:t>
            </a:r>
            <a:r>
              <a:rPr sz="1250">
                <a:solidFill>
                  <a:srgbClr val="212F3D"/>
                </a:solidFill>
                <a:latin typeface="Arial"/>
              </a:rPr>
              <a:t>Mỗi chương trình chạy trong hệ thống tương ứng với một tiến trình (Process).</a:t>
            </a:r>
          </a:p>
          <a:p>
            <a:pPr>
              <a:spcBef>
                <a:spcPts val="200"/>
              </a:spcBef>
              <a:spcAft>
                <a:spcPts val="600"/>
              </a:spcAft>
            </a:pPr>
            <a:r>
              <a:rPr sz="1250" b="1">
                <a:solidFill>
                  <a:srgbClr val="2C3E50"/>
                </a:solidFill>
                <a:latin typeface="Arial"/>
              </a:rPr>
              <a:t>□ Định danh tiến trình (PID): </a:t>
            </a:r>
            <a:r>
              <a:rPr sz="1250">
                <a:solidFill>
                  <a:srgbClr val="212F3D"/>
                </a:solidFill>
                <a:latin typeface="Arial"/>
              </a:rPr>
              <a:t>Hệ điều hành cấp phát một mã số Process ID (PID) duy nhất để nhận diện, theo dõi và quản lý tài nguyên.</a:t>
            </a:r>
          </a:p>
          <a:p>
            <a:pPr>
              <a:spcBef>
                <a:spcPts val="200"/>
              </a:spcBef>
              <a:spcAft>
                <a:spcPts val="600"/>
              </a:spcAft>
            </a:pPr>
            <a:r>
              <a:rPr sz="1250" b="1">
                <a:solidFill>
                  <a:srgbClr val="2C3E50"/>
                </a:solidFill>
                <a:latin typeface="Arial"/>
              </a:rPr>
              <a:t>□ Cơ chế phân chia của CPU Core: </a:t>
            </a:r>
            <a:r>
              <a:rPr sz="1250">
                <a:solidFill>
                  <a:srgbClr val="212F3D"/>
                </a:solidFill>
                <a:latin typeface="Arial"/>
              </a:rPr>
              <a:t>Nhân CPU (CPU Core) chia các task của process thành các task nhỏ hơn + sắp xếp xen kẽ nhau.</a:t>
            </a:r>
          </a:p>
          <a:p>
            <a:pPr>
              <a:spcBef>
                <a:spcPts val="200"/>
              </a:spcBef>
              <a:spcAft>
                <a:spcPts val="600"/>
              </a:spcAft>
            </a:pPr>
            <a:r>
              <a:rPr sz="1250" b="1">
                <a:solidFill>
                  <a:srgbClr val="2C3E50"/>
                </a:solidFill>
                <a:latin typeface="Arial"/>
              </a:rPr>
              <a:t>□ Mục tiêu tối ưu: </a:t>
            </a:r>
            <a:r>
              <a:rPr sz="1250">
                <a:solidFill>
                  <a:srgbClr val="212F3D"/>
                </a:solidFill>
                <a:latin typeface="Arial"/>
              </a:rPr>
              <a:t>Tận dụng tối đa thời gian rảnh của task này để chuyển sang thực hiện task khác, không để CPU rơi vào trạng thái lãng phí.</a:t>
            </a:r>
          </a:p>
        </p:txBody>
      </p:sp>
      <p:pic>
        <p:nvPicPr>
          <p:cNvPr id="8" name="Picture 7" descr="diag_orig_concurrency_pid.png"/>
          <p:cNvPicPr>
            <a:picLocks noChangeAspect="1"/>
          </p:cNvPicPr>
          <p:nvPr/>
        </p:nvPicPr>
        <p:blipFill>
          <a:blip r:embed="rId2"/>
          <a:stretch>
            <a:fillRect/>
          </a:stretch>
        </p:blipFill>
        <p:spPr>
          <a:xfrm>
            <a:off x="359918" y="4127500"/>
            <a:ext cx="9334500" cy="24765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79832"/>
            <a:ext cx="9720072" cy="126034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wrap="square" lIns="359918"/>
          <a:lstStyle/>
          <a:p>
            <a:pPr algn="ctr">
              <a:defRPr sz="2600" b="1">
                <a:solidFill>
                  <a:srgbClr val="FFFFFF"/>
                </a:solidFill>
                <a:latin typeface="Arial"/>
              </a:defRPr>
            </a:pPr>
            <a:r>
              <a:t>GIỚI THIỆU</a:t>
            </a:r>
          </a:p>
        </p:txBody>
      </p:sp>
      <p:sp>
        <p:nvSpPr>
          <p:cNvPr id="3" name="Rectangle 2"/>
          <p:cNvSpPr/>
          <p:nvPr/>
        </p:nvSpPr>
        <p:spPr>
          <a:xfrm>
            <a:off x="179832" y="6839711"/>
            <a:ext cx="539496"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rial"/>
              </a:defRPr>
            </a:pPr>
            <a:r>
              <a:t>5</a:t>
            </a:r>
          </a:p>
        </p:txBody>
      </p:sp>
      <p:sp>
        <p:nvSpPr>
          <p:cNvPr id="4" name="Rectangle 3"/>
          <p:cNvSpPr/>
          <p:nvPr/>
        </p:nvSpPr>
        <p:spPr>
          <a:xfrm>
            <a:off x="900684" y="6839711"/>
            <a:ext cx="6480048" cy="541020"/>
          </a:xfrm>
          <a:prstGeom prst="rect">
            <a:avLst/>
          </a:prstGeom>
          <a:solidFill>
            <a:srgbClr val="BDC3C7"/>
          </a:solidFill>
          <a:ln>
            <a:noFill/>
          </a:ln>
        </p:spPr>
        <p:style>
          <a:lnRef idx="1">
            <a:schemeClr val="accent1"/>
          </a:lnRef>
          <a:fillRef idx="3">
            <a:schemeClr val="accent1"/>
          </a:fillRef>
          <a:effectRef idx="2">
            <a:schemeClr val="accent1"/>
          </a:effectRef>
          <a:fontRef idx="minor">
            <a:schemeClr val="lt1"/>
          </a:fontRef>
        </p:style>
        <p:txBody>
          <a:bodyPr rtlCol="0" anchor="ctr" lIns="190500"/>
          <a:lstStyle/>
          <a:p>
            <a:pPr algn="ctr">
              <a:defRPr sz="1250">
                <a:solidFill>
                  <a:srgbClr val="2C3E50"/>
                </a:solidFill>
                <a:latin typeface="Arial"/>
              </a:defRPr>
            </a:pPr>
            <a:r>
              <a:t>Concurrency - Đồng thời (Slide 4 gốc)</a:t>
            </a:r>
          </a:p>
        </p:txBody>
      </p:sp>
      <p:sp>
        <p:nvSpPr>
          <p:cNvPr id="5" name="Rectangle 4"/>
          <p:cNvSpPr/>
          <p:nvPr/>
        </p:nvSpPr>
        <p:spPr>
          <a:xfrm>
            <a:off x="7560564" y="6839711"/>
            <a:ext cx="2519172"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01 - 2026</a:t>
            </a:r>
          </a:p>
        </p:txBody>
      </p:sp>
      <p:sp>
        <p:nvSpPr>
          <p:cNvPr id="6" name="TextBox 5"/>
          <p:cNvSpPr txBox="1"/>
          <p:nvPr/>
        </p:nvSpPr>
        <p:spPr>
          <a:xfrm>
            <a:off x="359918" y="1549400"/>
            <a:ext cx="9334500" cy="406400"/>
          </a:xfrm>
          <a:prstGeom prst="rect">
            <a:avLst/>
          </a:prstGeom>
          <a:noFill/>
        </p:spPr>
        <p:txBody>
          <a:bodyPr wrap="square" tIns="0" lIns="0">
            <a:spAutoFit/>
          </a:bodyPr>
          <a:lstStyle/>
          <a:p>
            <a:pPr>
              <a:defRPr sz="1800" b="1">
                <a:solidFill>
                  <a:srgbClr val="2C3E50"/>
                </a:solidFill>
                <a:latin typeface="Arial"/>
              </a:defRPr>
            </a:pPr>
            <a:r>
              <a:t>➢ Xử lý đồng thời: Điều phối nhiều tác vụ trong cùng khoảng thời gian</a:t>
            </a:r>
          </a:p>
        </p:txBody>
      </p:sp>
      <p:sp>
        <p:nvSpPr>
          <p:cNvPr id="7" name="TextBox 6"/>
          <p:cNvSpPr txBox="1"/>
          <p:nvPr/>
        </p:nvSpPr>
        <p:spPr>
          <a:xfrm>
            <a:off x="359918" y="1905000"/>
            <a:ext cx="9334500" cy="2095500"/>
          </a:xfrm>
          <a:prstGeom prst="rect">
            <a:avLst/>
          </a:prstGeom>
          <a:noFill/>
        </p:spPr>
        <p:txBody>
          <a:bodyPr wrap="square" tIns="0" lIns="0">
            <a:spAutoFit/>
          </a:bodyPr>
          <a:lstStyle/>
          <a:p>
            <a:pPr>
              <a:spcBef>
                <a:spcPts val="200"/>
              </a:spcBef>
              <a:spcAft>
                <a:spcPts val="600"/>
              </a:spcAft>
            </a:pPr>
            <a:r>
              <a:rPr sz="1250" b="1">
                <a:solidFill>
                  <a:srgbClr val="2C3E50"/>
                </a:solidFill>
                <a:latin typeface="Arial"/>
              </a:rPr>
              <a:t>□ Phân chia và điều phối tác vụ: </a:t>
            </a:r>
            <a:r>
              <a:rPr sz="1250">
                <a:solidFill>
                  <a:srgbClr val="212F3D"/>
                </a:solidFill>
                <a:latin typeface="Arial"/>
              </a:rPr>
              <a:t>Hệ thống phân chia, điều phối nhiều tác vụ (task) khác nhau trong cùng một khoảng thời gian.</a:t>
            </a:r>
          </a:p>
          <a:p>
            <a:pPr>
              <a:spcBef>
                <a:spcPts val="200"/>
              </a:spcBef>
              <a:spcAft>
                <a:spcPts val="600"/>
              </a:spcAft>
            </a:pPr>
            <a:r>
              <a:rPr sz="1250" b="1">
                <a:solidFill>
                  <a:srgbClr val="2C3E50"/>
                </a:solidFill>
                <a:latin typeface="Arial"/>
              </a:rPr>
              <a:t>□ Quy tắc vật lý vi mô bên dưới: </a:t>
            </a:r>
            <a:r>
              <a:rPr sz="1250">
                <a:solidFill>
                  <a:srgbClr val="212F3D"/>
                </a:solidFill>
                <a:latin typeface="Arial"/>
              </a:rPr>
              <a:t>Bên dưới CPU core chỉ có thể thực thi MỘT TASK NHỎ trong task lớn tại một thời điểm vi mô.</a:t>
            </a:r>
          </a:p>
          <a:p>
            <a:pPr>
              <a:spcBef>
                <a:spcPts val="200"/>
              </a:spcBef>
              <a:spcAft>
                <a:spcPts val="600"/>
              </a:spcAft>
            </a:pPr>
            <a:r>
              <a:rPr sz="1250" b="1">
                <a:solidFill>
                  <a:srgbClr val="2C3E50"/>
                </a:solidFill>
                <a:latin typeface="Arial"/>
              </a:rPr>
              <a:t>□ Bản chất thực tế: </a:t>
            </a:r>
            <a:r>
              <a:rPr sz="1250">
                <a:solidFill>
                  <a:srgbClr val="212F3D"/>
                </a:solidFill>
                <a:latin typeface="Arial"/>
              </a:rPr>
              <a:t>Máy tính xử lý nhiều việc cùng lúc tại cùng thời điểm dưới góc nhìn của người dùng; nhưng tại 1 thời điểm vi mô trên 1 core, chỉ xử lý 1 task.</a:t>
            </a:r>
          </a:p>
          <a:p>
            <a:pPr>
              <a:spcBef>
                <a:spcPts val="200"/>
              </a:spcBef>
              <a:spcAft>
                <a:spcPts val="600"/>
              </a:spcAft>
            </a:pPr>
            <a:r>
              <a:rPr sz="1250" b="1">
                <a:solidFill>
                  <a:srgbClr val="2C3E50"/>
                </a:solidFill>
                <a:latin typeface="Arial"/>
              </a:rPr>
              <a:t>□ Kết luận cốt lõi: </a:t>
            </a:r>
            <a:r>
              <a:rPr sz="1250">
                <a:solidFill>
                  <a:srgbClr val="212F3D"/>
                </a:solidFill>
                <a:latin typeface="Arial"/>
              </a:rPr>
              <a:t>Concurrency là sự TIẾN TRIỂN XEN KẼ (Interleaving), giải quyết bài toán quản lý nhiều việc cùng lúc trên tài nguyên hạn chế.</a:t>
            </a:r>
          </a:p>
        </p:txBody>
      </p:sp>
      <p:sp>
        <p:nvSpPr>
          <p:cNvPr id="8" name="Rounded Rectangle 7"/>
          <p:cNvSpPr/>
          <p:nvPr/>
        </p:nvSpPr>
        <p:spPr>
          <a:xfrm>
            <a:off x="359918" y="4254500"/>
            <a:ext cx="9334500" cy="2286000"/>
          </a:xfrm>
          <a:prstGeom prst="roundRect">
            <a:avLst/>
          </a:prstGeom>
          <a:solidFill>
            <a:srgbClr val="F8F9FA"/>
          </a:solidFill>
          <a:ln w="1905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lIns="254000" tIns="190500"/>
          <a:lstStyle/>
          <a:p>
            <a:pPr algn="ctr">
              <a:defRPr sz="1300" b="1">
                <a:solidFill>
                  <a:srgbClr val="2C3E50"/>
                </a:solidFill>
                <a:latin typeface="Arial"/>
              </a:defRPr>
            </a:pPr>
            <a:r>
              <a:t>TỔNG KẾT BẢN CHẤT XỬ LÝ ĐỒNG THỜI (CONCURRENCY TRÊN 1 CORE):</a:t>
            </a:r>
          </a:p>
          <a:p>
            <a:pPr>
              <a:spcBef>
                <a:spcPts val="800"/>
              </a:spcBef>
            </a:pPr>
            <a:r>
              <a:rPr b="1" sz="1100">
                <a:solidFill>
                  <a:srgbClr val="E67E22"/>
                </a:solidFill>
              </a:rPr>
              <a:t>• Nguyên lý Concurrency: </a:t>
            </a:r>
            <a:r>
              <a:rPr sz="1100">
                <a:solidFill>
                  <a:srgbClr val="212F3D"/>
                </a:solidFill>
              </a:rPr>
              <a:t>Phân chia và sắp xếp xen kẽ nhiều tác vụ trong cùng một khoảng thời gian.</a:t>
            </a:r>
          </a:p>
          <a:p>
            <a:pPr>
              <a:spcBef>
                <a:spcPts val="800"/>
              </a:spcBef>
            </a:pPr>
            <a:r>
              <a:rPr b="1" sz="1100">
                <a:solidFill>
                  <a:srgbClr val="E67E22"/>
                </a:solidFill>
              </a:rPr>
              <a:t>• Góc nhìn người dùng (Vĩ mô): </a:t>
            </a:r>
            <a:r>
              <a:rPr sz="1100">
                <a:solidFill>
                  <a:srgbClr val="212F3D"/>
                </a:solidFill>
              </a:rPr>
              <a:t>Cảm giác các chương trình chạy đồng thời mượt mà cùng một lúc.</a:t>
            </a:r>
          </a:p>
          <a:p>
            <a:pPr>
              <a:spcBef>
                <a:spcPts val="800"/>
              </a:spcBef>
            </a:pPr>
            <a:r>
              <a:rPr b="1" sz="1100">
                <a:solidFill>
                  <a:srgbClr val="E67E22"/>
                </a:solidFill>
              </a:rPr>
              <a:t>• Góc nhìn CPU Core (Vi mô): </a:t>
            </a:r>
            <a:r>
              <a:rPr sz="1100">
                <a:solidFill>
                  <a:srgbClr val="212F3D"/>
                </a:solidFill>
              </a:rPr>
              <a:t>Tại mỗi thời điểm cực vi mô, 1 nhân CPU chỉ xử lý lệnh của đúng 1 task!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79832"/>
            <a:ext cx="9720072" cy="126034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wrap="square" lIns="359918"/>
          <a:lstStyle/>
          <a:p>
            <a:pPr algn="ctr">
              <a:defRPr sz="2600" b="1">
                <a:solidFill>
                  <a:srgbClr val="FFFFFF"/>
                </a:solidFill>
                <a:latin typeface="Arial"/>
              </a:defRPr>
            </a:pPr>
            <a:r>
              <a:t>GIỚI THIỆU</a:t>
            </a:r>
          </a:p>
        </p:txBody>
      </p:sp>
      <p:sp>
        <p:nvSpPr>
          <p:cNvPr id="3" name="Rectangle 2"/>
          <p:cNvSpPr/>
          <p:nvPr/>
        </p:nvSpPr>
        <p:spPr>
          <a:xfrm>
            <a:off x="179832" y="6839711"/>
            <a:ext cx="539496"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rial"/>
              </a:defRPr>
            </a:pPr>
            <a:r>
              <a:t>6</a:t>
            </a:r>
          </a:p>
        </p:txBody>
      </p:sp>
      <p:sp>
        <p:nvSpPr>
          <p:cNvPr id="4" name="Rectangle 3"/>
          <p:cNvSpPr/>
          <p:nvPr/>
        </p:nvSpPr>
        <p:spPr>
          <a:xfrm>
            <a:off x="900684" y="6839711"/>
            <a:ext cx="6480048" cy="541020"/>
          </a:xfrm>
          <a:prstGeom prst="rect">
            <a:avLst/>
          </a:prstGeom>
          <a:solidFill>
            <a:srgbClr val="BDC3C7"/>
          </a:solidFill>
          <a:ln>
            <a:noFill/>
          </a:ln>
        </p:spPr>
        <p:style>
          <a:lnRef idx="1">
            <a:schemeClr val="accent1"/>
          </a:lnRef>
          <a:fillRef idx="3">
            <a:schemeClr val="accent1"/>
          </a:fillRef>
          <a:effectRef idx="2">
            <a:schemeClr val="accent1"/>
          </a:effectRef>
          <a:fontRef idx="minor">
            <a:schemeClr val="lt1"/>
          </a:fontRef>
        </p:style>
        <p:txBody>
          <a:bodyPr rtlCol="0" anchor="ctr" lIns="190500"/>
          <a:lstStyle/>
          <a:p>
            <a:pPr algn="ctr">
              <a:defRPr sz="1250">
                <a:solidFill>
                  <a:srgbClr val="2C3E50"/>
                </a:solidFill>
                <a:latin typeface="Arial"/>
              </a:defRPr>
            </a:pPr>
            <a:r>
              <a:t>Parallel - Song song (Slide 5 gốc)</a:t>
            </a:r>
          </a:p>
        </p:txBody>
      </p:sp>
      <p:sp>
        <p:nvSpPr>
          <p:cNvPr id="5" name="Rectangle 4"/>
          <p:cNvSpPr/>
          <p:nvPr/>
        </p:nvSpPr>
        <p:spPr>
          <a:xfrm>
            <a:off x="7560564" y="6839711"/>
            <a:ext cx="2519172"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01 - 2026</a:t>
            </a:r>
          </a:p>
        </p:txBody>
      </p:sp>
      <p:sp>
        <p:nvSpPr>
          <p:cNvPr id="6" name="TextBox 5"/>
          <p:cNvSpPr txBox="1"/>
          <p:nvPr/>
        </p:nvSpPr>
        <p:spPr>
          <a:xfrm>
            <a:off x="359918" y="1549400"/>
            <a:ext cx="9334500" cy="406400"/>
          </a:xfrm>
          <a:prstGeom prst="rect">
            <a:avLst/>
          </a:prstGeom>
          <a:noFill/>
        </p:spPr>
        <p:txBody>
          <a:bodyPr wrap="square" tIns="0" lIns="0">
            <a:spAutoFit/>
          </a:bodyPr>
          <a:lstStyle/>
          <a:p>
            <a:pPr>
              <a:defRPr sz="1800" b="1">
                <a:solidFill>
                  <a:srgbClr val="2C3E50"/>
                </a:solidFill>
                <a:latin typeface="Arial"/>
              </a:defRPr>
            </a:pPr>
            <a:r>
              <a:t>➢ Xử lý song song (Parallel Computing)</a:t>
            </a:r>
          </a:p>
        </p:txBody>
      </p:sp>
      <p:sp>
        <p:nvSpPr>
          <p:cNvPr id="7" name="TextBox 6"/>
          <p:cNvSpPr txBox="1"/>
          <p:nvPr/>
        </p:nvSpPr>
        <p:spPr>
          <a:xfrm>
            <a:off x="359918" y="1905000"/>
            <a:ext cx="9334500" cy="2095500"/>
          </a:xfrm>
          <a:prstGeom prst="rect">
            <a:avLst/>
          </a:prstGeom>
          <a:noFill/>
        </p:spPr>
        <p:txBody>
          <a:bodyPr wrap="square" tIns="0" lIns="0">
            <a:spAutoFit/>
          </a:bodyPr>
          <a:lstStyle/>
          <a:p>
            <a:pPr>
              <a:spcBef>
                <a:spcPts val="200"/>
              </a:spcBef>
              <a:spcAft>
                <a:spcPts val="600"/>
              </a:spcAft>
            </a:pPr>
            <a:r>
              <a:rPr sz="1250" b="1">
                <a:solidFill>
                  <a:srgbClr val="2C3E50"/>
                </a:solidFill>
                <a:latin typeface="Arial"/>
              </a:rPr>
              <a:t>□ Định nghĩa xử lý song song: </a:t>
            </a:r>
            <a:r>
              <a:rPr sz="1250">
                <a:solidFill>
                  <a:srgbClr val="212F3D"/>
                </a:solidFill>
                <a:latin typeface="Arial"/>
              </a:rPr>
              <a:t>Nhiều task khác nhau được xử lý trong CÙNG 1 THỜI ĐIỂM (thực thi đồng thời vật lý).</a:t>
            </a:r>
          </a:p>
          <a:p>
            <a:pPr>
              <a:spcBef>
                <a:spcPts val="200"/>
              </a:spcBef>
              <a:spcAft>
                <a:spcPts val="600"/>
              </a:spcAft>
            </a:pPr>
            <a:r>
              <a:rPr sz="1250" b="1">
                <a:solidFill>
                  <a:srgbClr val="2C3E50"/>
                </a:solidFill>
                <a:latin typeface="Arial"/>
              </a:rPr>
              <a:t>□ Tính độc lập dữ liệu: </a:t>
            </a:r>
            <a:r>
              <a:rPr sz="1250">
                <a:solidFill>
                  <a:srgbClr val="212F3D"/>
                </a:solidFill>
                <a:latin typeface="Arial"/>
              </a:rPr>
              <a:t>Các task phải hoàn toàn độc lập với nhau để có thể chạy song song mà không tranh chấp bộ nhớ.</a:t>
            </a:r>
          </a:p>
          <a:p>
            <a:pPr>
              <a:spcBef>
                <a:spcPts val="200"/>
              </a:spcBef>
              <a:spcAft>
                <a:spcPts val="600"/>
              </a:spcAft>
            </a:pPr>
            <a:r>
              <a:rPr sz="1250" b="1">
                <a:solidFill>
                  <a:srgbClr val="2C3E50"/>
                </a:solidFill>
                <a:latin typeface="Arial"/>
              </a:rPr>
              <a:t>□ Điều kiện phần cứng bắt buộc: </a:t>
            </a:r>
            <a:r>
              <a:rPr sz="1250">
                <a:solidFill>
                  <a:srgbClr val="212F3D"/>
                </a:solidFill>
                <a:latin typeface="Arial"/>
              </a:rPr>
              <a:t>Chỉ có thể thực hiện trên máy tính có số nhân (core) vật lý lớn hơn 1 (Multi-core CPU, Multi-CPU hoặc GPU).</a:t>
            </a:r>
          </a:p>
          <a:p>
            <a:pPr>
              <a:spcBef>
                <a:spcPts val="200"/>
              </a:spcBef>
              <a:spcAft>
                <a:spcPts val="600"/>
              </a:spcAft>
            </a:pPr>
            <a:r>
              <a:rPr sz="1250" b="1">
                <a:solidFill>
                  <a:srgbClr val="2C3E50"/>
                </a:solidFill>
                <a:latin typeface="Arial"/>
              </a:rPr>
              <a:t>□ Hiệu quả đạt được: </a:t>
            </a:r>
            <a:r>
              <a:rPr sz="1250">
                <a:solidFill>
                  <a:srgbClr val="212F3D"/>
                </a:solidFill>
                <a:latin typeface="Arial"/>
              </a:rPr>
              <a:t>Rút ngắn thời gian thực thi thực tế của toàn bộ chương trình nhờ tận dụng sức mạnh của nhiều bộ xử lý cùng lúc.</a:t>
            </a:r>
          </a:p>
        </p:txBody>
      </p:sp>
      <p:pic>
        <p:nvPicPr>
          <p:cNvPr id="8" name="Picture 7" descr="diag_orig_parallel_multicore.png"/>
          <p:cNvPicPr>
            <a:picLocks noChangeAspect="1"/>
          </p:cNvPicPr>
          <p:nvPr/>
        </p:nvPicPr>
        <p:blipFill>
          <a:blip r:embed="rId2"/>
          <a:stretch>
            <a:fillRect/>
          </a:stretch>
        </p:blipFill>
        <p:spPr>
          <a:xfrm>
            <a:off x="359918" y="4127500"/>
            <a:ext cx="9334500" cy="24765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79832"/>
            <a:ext cx="9720072" cy="126034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wrap="square" lIns="359918"/>
          <a:lstStyle/>
          <a:p>
            <a:pPr algn="ctr">
              <a:defRPr sz="2600" b="1">
                <a:solidFill>
                  <a:srgbClr val="FFFFFF"/>
                </a:solidFill>
                <a:latin typeface="Arial"/>
              </a:defRPr>
            </a:pPr>
            <a:r>
              <a:t>GIỚI THIỆU</a:t>
            </a:r>
          </a:p>
        </p:txBody>
      </p:sp>
      <p:sp>
        <p:nvSpPr>
          <p:cNvPr id="3" name="Rectangle 2"/>
          <p:cNvSpPr/>
          <p:nvPr/>
        </p:nvSpPr>
        <p:spPr>
          <a:xfrm>
            <a:off x="179832" y="6839711"/>
            <a:ext cx="539496"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rial"/>
              </a:defRPr>
            </a:pPr>
            <a:r>
              <a:t>7</a:t>
            </a:r>
          </a:p>
        </p:txBody>
      </p:sp>
      <p:sp>
        <p:nvSpPr>
          <p:cNvPr id="4" name="Rectangle 3"/>
          <p:cNvSpPr/>
          <p:nvPr/>
        </p:nvSpPr>
        <p:spPr>
          <a:xfrm>
            <a:off x="900684" y="6839711"/>
            <a:ext cx="6480048" cy="541020"/>
          </a:xfrm>
          <a:prstGeom prst="rect">
            <a:avLst/>
          </a:prstGeom>
          <a:solidFill>
            <a:srgbClr val="BDC3C7"/>
          </a:solidFill>
          <a:ln>
            <a:noFill/>
          </a:ln>
        </p:spPr>
        <p:style>
          <a:lnRef idx="1">
            <a:schemeClr val="accent1"/>
          </a:lnRef>
          <a:fillRef idx="3">
            <a:schemeClr val="accent1"/>
          </a:fillRef>
          <a:effectRef idx="2">
            <a:schemeClr val="accent1"/>
          </a:effectRef>
          <a:fontRef idx="minor">
            <a:schemeClr val="lt1"/>
          </a:fontRef>
        </p:style>
        <p:txBody>
          <a:bodyPr rtlCol="0" anchor="ctr" lIns="190500"/>
          <a:lstStyle/>
          <a:p>
            <a:pPr algn="ctr">
              <a:defRPr sz="1250">
                <a:solidFill>
                  <a:srgbClr val="2C3E50"/>
                </a:solidFill>
                <a:latin typeface="Arial"/>
              </a:defRPr>
            </a:pPr>
            <a:r>
              <a:t>Parallel - Song song (Slide 6 gốc)</a:t>
            </a:r>
          </a:p>
        </p:txBody>
      </p:sp>
      <p:sp>
        <p:nvSpPr>
          <p:cNvPr id="5" name="Rectangle 4"/>
          <p:cNvSpPr/>
          <p:nvPr/>
        </p:nvSpPr>
        <p:spPr>
          <a:xfrm>
            <a:off x="7560564" y="6839711"/>
            <a:ext cx="2519172"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01 - 2026</a:t>
            </a:r>
          </a:p>
        </p:txBody>
      </p:sp>
      <p:sp>
        <p:nvSpPr>
          <p:cNvPr id="6" name="TextBox 5"/>
          <p:cNvSpPr txBox="1"/>
          <p:nvPr/>
        </p:nvSpPr>
        <p:spPr>
          <a:xfrm>
            <a:off x="359918" y="1549400"/>
            <a:ext cx="9334500" cy="406400"/>
          </a:xfrm>
          <a:prstGeom prst="rect">
            <a:avLst/>
          </a:prstGeom>
          <a:noFill/>
        </p:spPr>
        <p:txBody>
          <a:bodyPr wrap="square" tIns="0" lIns="0">
            <a:spAutoFit/>
          </a:bodyPr>
          <a:lstStyle/>
          <a:p>
            <a:pPr>
              <a:defRPr sz="1800" b="1">
                <a:solidFill>
                  <a:srgbClr val="2C3E50"/>
                </a:solidFill>
                <a:latin typeface="Arial"/>
              </a:defRPr>
            </a:pPr>
            <a:r>
              <a:t>➢ Mối quan hệ thực tế giữa Song song và Đồng thời</a:t>
            </a:r>
          </a:p>
        </p:txBody>
      </p:sp>
      <p:sp>
        <p:nvSpPr>
          <p:cNvPr id="7" name="TextBox 6"/>
          <p:cNvSpPr txBox="1"/>
          <p:nvPr/>
        </p:nvSpPr>
        <p:spPr>
          <a:xfrm>
            <a:off x="359918" y="1905000"/>
            <a:ext cx="9334500" cy="2095500"/>
          </a:xfrm>
          <a:prstGeom prst="rect">
            <a:avLst/>
          </a:prstGeom>
          <a:noFill/>
        </p:spPr>
        <p:txBody>
          <a:bodyPr wrap="square" tIns="0" lIns="0">
            <a:spAutoFit/>
          </a:bodyPr>
          <a:lstStyle/>
          <a:p>
            <a:pPr>
              <a:spcBef>
                <a:spcPts val="200"/>
              </a:spcBef>
              <a:spcAft>
                <a:spcPts val="600"/>
              </a:spcAft>
            </a:pPr>
            <a:r>
              <a:rPr sz="1250" b="1">
                <a:solidFill>
                  <a:srgbClr val="2C3E50"/>
                </a:solidFill>
                <a:latin typeface="Arial"/>
              </a:rPr>
              <a:t>□ Thực tế kiến trúc đa nhân: </a:t>
            </a:r>
            <a:r>
              <a:rPr sz="1250">
                <a:solidFill>
                  <a:srgbClr val="212F3D"/>
                </a:solidFill>
                <a:latin typeface="Arial"/>
              </a:rPr>
              <a:t>Trên thực tế, trên mỗi nhân của CPU vẫn xảy ra quá trình xử lý ĐỒNG THỜI (xen kẽ các task nền của hệ điều hành).</a:t>
            </a:r>
          </a:p>
          <a:p>
            <a:pPr>
              <a:spcBef>
                <a:spcPts val="200"/>
              </a:spcBef>
              <a:spcAft>
                <a:spcPts val="600"/>
              </a:spcAft>
            </a:pPr>
            <a:r>
              <a:rPr sz="1250" b="1">
                <a:solidFill>
                  <a:srgbClr val="2C3E50"/>
                </a:solidFill>
                <a:latin typeface="Arial"/>
              </a:rPr>
              <a:t>□ Điều kiện phân định rõ ràng: </a:t>
            </a:r>
            <a:r>
              <a:rPr sz="1250">
                <a:solidFill>
                  <a:srgbClr val="212F3D"/>
                </a:solidFill>
                <a:latin typeface="Arial"/>
              </a:rPr>
              <a:t>Tại một thời điểm, KHÔNG xảy ra việc xử lý cùng một task trên hai nhân CPU khác nhau.</a:t>
            </a:r>
          </a:p>
          <a:p>
            <a:pPr>
              <a:spcBef>
                <a:spcPts val="200"/>
              </a:spcBef>
              <a:spcAft>
                <a:spcPts val="600"/>
              </a:spcAft>
            </a:pPr>
            <a:r>
              <a:rPr sz="1250" b="1">
                <a:solidFill>
                  <a:srgbClr val="2C3E50"/>
                </a:solidFill>
                <a:latin typeface="Arial"/>
              </a:rPr>
              <a:t>□ Sự phối hợp giữa hai mô hình: </a:t>
            </a:r>
            <a:r>
              <a:rPr sz="1250">
                <a:solidFill>
                  <a:srgbClr val="212F3D"/>
                </a:solidFill>
                <a:latin typeface="Arial"/>
              </a:rPr>
              <a:t>Hệ thống đa nhân vừa có tính song song (giữa các nhân với nhau) vừa có tính đồng thời (bên trong từng nhân riêng lẻ).</a:t>
            </a:r>
          </a:p>
          <a:p>
            <a:pPr>
              <a:spcBef>
                <a:spcPts val="200"/>
              </a:spcBef>
              <a:spcAft>
                <a:spcPts val="600"/>
              </a:spcAft>
            </a:pPr>
            <a:r>
              <a:rPr sz="1250" b="1">
                <a:solidFill>
                  <a:srgbClr val="2C3E50"/>
                </a:solidFill>
                <a:latin typeface="Arial"/>
              </a:rPr>
              <a:t>□ Ý nghĩa kỹ thuật: </a:t>
            </a:r>
            <a:r>
              <a:rPr sz="1250">
                <a:solidFill>
                  <a:srgbClr val="212F3D"/>
                </a:solidFill>
                <a:latin typeface="Arial"/>
              </a:rPr>
              <a:t>Giúp tối ưu hóa toàn diện: Vừa khai thác hết năng lực đa lõi, vừa không lãng phí thời gian nhàn rỗi của từng lõi.</a:t>
            </a:r>
          </a:p>
        </p:txBody>
      </p:sp>
      <p:sp>
        <p:nvSpPr>
          <p:cNvPr id="8" name="Rounded Rectangle 7"/>
          <p:cNvSpPr/>
          <p:nvPr/>
        </p:nvSpPr>
        <p:spPr>
          <a:xfrm>
            <a:off x="359918" y="4254500"/>
            <a:ext cx="9334500" cy="2286000"/>
          </a:xfrm>
          <a:prstGeom prst="roundRect">
            <a:avLst/>
          </a:prstGeom>
          <a:solidFill>
            <a:srgbClr val="F8F9FA"/>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lIns="254000" tIns="190500"/>
          <a:lstStyle/>
          <a:p>
            <a:pPr algn="ctr">
              <a:defRPr sz="1300" b="1">
                <a:solidFill>
                  <a:srgbClr val="2C3E50"/>
                </a:solidFill>
                <a:latin typeface="Arial"/>
              </a:defRPr>
            </a:pPr>
            <a:r>
              <a:t>PHÂN TÍCH QUY TẮC PHẦN CỨNG TẠI SLIDE 6 BÀI GIẢNG GỐC:</a:t>
            </a:r>
          </a:p>
          <a:p>
            <a:pPr>
              <a:spcBef>
                <a:spcPts val="800"/>
              </a:spcBef>
            </a:pPr>
            <a:r>
              <a:rPr b="1" sz="1100">
                <a:solidFill>
                  <a:srgbClr val="27AE60"/>
                </a:solidFill>
              </a:rPr>
              <a:t>• Đồng thời bên trong mỗi nhân: </a:t>
            </a:r>
            <a:r>
              <a:rPr sz="1100">
                <a:solidFill>
                  <a:srgbClr val="212F3D"/>
                </a:solidFill>
              </a:rPr>
              <a:t>Mỗi nhân CPU vẫn liên tục chuyển đổi xen kẽ giữa các luồng để đảm bảo tiến triển liên tục.</a:t>
            </a:r>
          </a:p>
          <a:p>
            <a:pPr>
              <a:spcBef>
                <a:spcPts val="800"/>
              </a:spcBef>
            </a:pPr>
            <a:r>
              <a:rPr b="1" sz="1100">
                <a:solidFill>
                  <a:srgbClr val="27AE60"/>
                </a:solidFill>
              </a:rPr>
              <a:t>• Không trùng lặp task trên 2 nhân: </a:t>
            </a:r>
            <a:r>
              <a:rPr sz="1100">
                <a:solidFill>
                  <a:srgbClr val="212F3D"/>
                </a:solidFill>
              </a:rPr>
              <a:t>Hệ điều hành đảm bảo tại 1 thời điểm không gán cùng 1 tập lệnh của 1 task cho 2 nhân khác nhau chạy trùng.</a:t>
            </a:r>
          </a:p>
          <a:p>
            <a:pPr>
              <a:spcBef>
                <a:spcPts val="800"/>
              </a:spcBef>
            </a:pPr>
            <a:r>
              <a:rPr b="1" sz="1100">
                <a:solidFill>
                  <a:srgbClr val="27AE60"/>
                </a:solidFill>
              </a:rPr>
              <a:t>• Tổng thể hệ thống: </a:t>
            </a:r>
            <a:r>
              <a:rPr sz="1100">
                <a:solidFill>
                  <a:srgbClr val="212F3D"/>
                </a:solidFill>
              </a:rPr>
              <a:t>Sự kết hợp hoàn hảo: Song song ở tầng vĩ mô (đa nhân) và Đồng thời ở tầng vi mô (nội bộ nhân).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79832"/>
            <a:ext cx="9720072" cy="126034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wrap="square" lIns="359918"/>
          <a:lstStyle/>
          <a:p>
            <a:pPr algn="ctr">
              <a:defRPr sz="2600" b="1">
                <a:solidFill>
                  <a:srgbClr val="FFFFFF"/>
                </a:solidFill>
                <a:latin typeface="Arial"/>
              </a:defRPr>
            </a:pPr>
            <a:r>
              <a:t>GIỚI THIỆU</a:t>
            </a:r>
          </a:p>
        </p:txBody>
      </p:sp>
      <p:sp>
        <p:nvSpPr>
          <p:cNvPr id="3" name="Rectangle 2"/>
          <p:cNvSpPr/>
          <p:nvPr/>
        </p:nvSpPr>
        <p:spPr>
          <a:xfrm>
            <a:off x="179832" y="6839711"/>
            <a:ext cx="539496"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rial"/>
              </a:defRPr>
            </a:pPr>
            <a:r>
              <a:t>8</a:t>
            </a:r>
          </a:p>
        </p:txBody>
      </p:sp>
      <p:sp>
        <p:nvSpPr>
          <p:cNvPr id="4" name="Rectangle 3"/>
          <p:cNvSpPr/>
          <p:nvPr/>
        </p:nvSpPr>
        <p:spPr>
          <a:xfrm>
            <a:off x="900684" y="6839711"/>
            <a:ext cx="6480048" cy="541020"/>
          </a:xfrm>
          <a:prstGeom prst="rect">
            <a:avLst/>
          </a:prstGeom>
          <a:solidFill>
            <a:srgbClr val="BDC3C7"/>
          </a:solidFill>
          <a:ln>
            <a:noFill/>
          </a:ln>
        </p:spPr>
        <p:style>
          <a:lnRef idx="1">
            <a:schemeClr val="accent1"/>
          </a:lnRef>
          <a:fillRef idx="3">
            <a:schemeClr val="accent1"/>
          </a:fillRef>
          <a:effectRef idx="2">
            <a:schemeClr val="accent1"/>
          </a:effectRef>
          <a:fontRef idx="minor">
            <a:schemeClr val="lt1"/>
          </a:fontRef>
        </p:style>
        <p:txBody>
          <a:bodyPr rtlCol="0" anchor="ctr" lIns="190500"/>
          <a:lstStyle/>
          <a:p>
            <a:pPr algn="ctr">
              <a:defRPr sz="1250">
                <a:solidFill>
                  <a:srgbClr val="2C3E50"/>
                </a:solidFill>
                <a:latin typeface="Arial"/>
              </a:defRPr>
            </a:pPr>
            <a:r>
              <a:t>Asynchronous - Bất đồng bộ (Slide 7 gốc)</a:t>
            </a:r>
          </a:p>
        </p:txBody>
      </p:sp>
      <p:sp>
        <p:nvSpPr>
          <p:cNvPr id="5" name="Rectangle 4"/>
          <p:cNvSpPr/>
          <p:nvPr/>
        </p:nvSpPr>
        <p:spPr>
          <a:xfrm>
            <a:off x="7560564" y="6839711"/>
            <a:ext cx="2519172"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01 - 2026</a:t>
            </a:r>
          </a:p>
        </p:txBody>
      </p:sp>
      <p:sp>
        <p:nvSpPr>
          <p:cNvPr id="6" name="TextBox 5"/>
          <p:cNvSpPr txBox="1"/>
          <p:nvPr/>
        </p:nvSpPr>
        <p:spPr>
          <a:xfrm>
            <a:off x="359918" y="1549400"/>
            <a:ext cx="9334500" cy="406400"/>
          </a:xfrm>
          <a:prstGeom prst="rect">
            <a:avLst/>
          </a:prstGeom>
          <a:noFill/>
        </p:spPr>
        <p:txBody>
          <a:bodyPr wrap="square" tIns="0" lIns="0">
            <a:spAutoFit/>
          </a:bodyPr>
          <a:lstStyle/>
          <a:p>
            <a:pPr>
              <a:defRPr sz="1800" b="1">
                <a:solidFill>
                  <a:srgbClr val="2C3E50"/>
                </a:solidFill>
                <a:latin typeface="Arial"/>
              </a:defRPr>
            </a:pPr>
            <a:r>
              <a:t>➢ Bất đồng bộ (Asynchronous Computing)</a:t>
            </a:r>
          </a:p>
        </p:txBody>
      </p:sp>
      <p:sp>
        <p:nvSpPr>
          <p:cNvPr id="7" name="TextBox 6"/>
          <p:cNvSpPr txBox="1"/>
          <p:nvPr/>
        </p:nvSpPr>
        <p:spPr>
          <a:xfrm>
            <a:off x="359918" y="1905000"/>
            <a:ext cx="9334500" cy="2095500"/>
          </a:xfrm>
          <a:prstGeom prst="rect">
            <a:avLst/>
          </a:prstGeom>
          <a:noFill/>
        </p:spPr>
        <p:txBody>
          <a:bodyPr wrap="square" tIns="0" lIns="0">
            <a:spAutoFit/>
          </a:bodyPr>
          <a:lstStyle/>
          <a:p>
            <a:pPr>
              <a:spcBef>
                <a:spcPts val="200"/>
              </a:spcBef>
              <a:spcAft>
                <a:spcPts val="600"/>
              </a:spcAft>
            </a:pPr>
            <a:r>
              <a:rPr sz="1250" b="1">
                <a:solidFill>
                  <a:srgbClr val="2C3E50"/>
                </a:solidFill>
                <a:latin typeface="Arial"/>
              </a:rPr>
              <a:t>□ Xử lý không theo thứ tự: </a:t>
            </a:r>
            <a:r>
              <a:rPr sz="1250">
                <a:solidFill>
                  <a:srgbClr val="212F3D"/>
                </a:solidFill>
                <a:latin typeface="Arial"/>
              </a:rPr>
              <a:t>Cho phép các task được xử lý KHÔNG THEO THỨ TỰ (có thể chuyển sang task khác trước khi task trước đó hoàn thành).</a:t>
            </a:r>
          </a:p>
          <a:p>
            <a:pPr>
              <a:spcBef>
                <a:spcPts val="200"/>
              </a:spcBef>
              <a:spcAft>
                <a:spcPts val="600"/>
              </a:spcAft>
            </a:pPr>
            <a:r>
              <a:rPr sz="1250" b="1">
                <a:solidFill>
                  <a:srgbClr val="2C3E50"/>
                </a:solidFill>
                <a:latin typeface="Arial"/>
              </a:rPr>
              <a:t>□ Giải quyết nhiều yêu cầu đồng thời: </a:t>
            </a:r>
            <a:r>
              <a:rPr sz="1250">
                <a:solidFill>
                  <a:srgbClr val="212F3D"/>
                </a:solidFill>
                <a:latin typeface="Arial"/>
              </a:rPr>
              <a:t>Hệ thống có thể tiếp nhận và xử lý nhiều yêu cầu cùng lúc mà không bị nghẽn lại ở bất kỳ yêu cầu đơn lẻ nào.</a:t>
            </a:r>
          </a:p>
          <a:p>
            <a:pPr>
              <a:spcBef>
                <a:spcPts val="200"/>
              </a:spcBef>
              <a:spcAft>
                <a:spcPts val="600"/>
              </a:spcAft>
            </a:pPr>
            <a:r>
              <a:rPr sz="1250" b="1">
                <a:solidFill>
                  <a:srgbClr val="2C3E50"/>
                </a:solidFill>
                <a:latin typeface="Arial"/>
              </a:rPr>
              <a:t>□ Rút ngắn thời gian: </a:t>
            </a:r>
            <a:r>
              <a:rPr sz="1250">
                <a:solidFill>
                  <a:srgbClr val="212F3D"/>
                </a:solidFill>
                <a:latin typeface="Arial"/>
              </a:rPr>
              <a:t>Hoàn thành toàn bộ khối lượng công việc trong khoảng thời gian ngắn hơn rất nhiều so với tuần tự.</a:t>
            </a:r>
          </a:p>
          <a:p>
            <a:pPr>
              <a:spcBef>
                <a:spcPts val="200"/>
              </a:spcBef>
              <a:spcAft>
                <a:spcPts val="600"/>
              </a:spcAft>
            </a:pPr>
            <a:r>
              <a:rPr sz="1250" b="1">
                <a:solidFill>
                  <a:srgbClr val="2C3E50"/>
                </a:solidFill>
                <a:latin typeface="Arial"/>
              </a:rPr>
              <a:t>□ Ví dụ đời sống trong slide gốc: </a:t>
            </a:r>
            <a:r>
              <a:rPr sz="1250">
                <a:solidFill>
                  <a:srgbClr val="212F3D"/>
                </a:solidFill>
                <a:latin typeface="Arial"/>
              </a:rPr>
              <a:t>VD: Đi thi (làm bài thi), Bãi giữ xe (quét thẻ gửi xe), ...</a:t>
            </a:r>
          </a:p>
        </p:txBody>
      </p:sp>
      <p:pic>
        <p:nvPicPr>
          <p:cNvPr id="8" name="Picture 7" descr="diag_orig_async_parking_exam.png"/>
          <p:cNvPicPr>
            <a:picLocks noChangeAspect="1"/>
          </p:cNvPicPr>
          <p:nvPr/>
        </p:nvPicPr>
        <p:blipFill>
          <a:blip r:embed="rId2"/>
          <a:stretch>
            <a:fillRect/>
          </a:stretch>
        </p:blipFill>
        <p:spPr>
          <a:xfrm>
            <a:off x="359918" y="4127500"/>
            <a:ext cx="9334500" cy="24765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79832"/>
            <a:ext cx="9720072" cy="126034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wrap="square" lIns="359918"/>
          <a:lstStyle/>
          <a:p>
            <a:pPr algn="ctr">
              <a:defRPr sz="2600" b="1">
                <a:solidFill>
                  <a:srgbClr val="FFFFFF"/>
                </a:solidFill>
                <a:latin typeface="Arial"/>
              </a:defRPr>
            </a:pPr>
            <a:r>
              <a:t>VÍ DỤ THỰC TẾ</a:t>
            </a:r>
          </a:p>
        </p:txBody>
      </p:sp>
      <p:sp>
        <p:nvSpPr>
          <p:cNvPr id="3" name="Rectangle 2"/>
          <p:cNvSpPr/>
          <p:nvPr/>
        </p:nvSpPr>
        <p:spPr>
          <a:xfrm>
            <a:off x="179832" y="6839711"/>
            <a:ext cx="539496"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rial"/>
              </a:defRPr>
            </a:pPr>
            <a:r>
              <a:t>9</a:t>
            </a:r>
          </a:p>
        </p:txBody>
      </p:sp>
      <p:sp>
        <p:nvSpPr>
          <p:cNvPr id="4" name="Rectangle 3"/>
          <p:cNvSpPr/>
          <p:nvPr/>
        </p:nvSpPr>
        <p:spPr>
          <a:xfrm>
            <a:off x="900684" y="6839711"/>
            <a:ext cx="6480048" cy="541020"/>
          </a:xfrm>
          <a:prstGeom prst="rect">
            <a:avLst/>
          </a:prstGeom>
          <a:solidFill>
            <a:srgbClr val="BDC3C7"/>
          </a:solidFill>
          <a:ln>
            <a:noFill/>
          </a:ln>
        </p:spPr>
        <p:style>
          <a:lnRef idx="1">
            <a:schemeClr val="accent1"/>
          </a:lnRef>
          <a:fillRef idx="3">
            <a:schemeClr val="accent1"/>
          </a:fillRef>
          <a:effectRef idx="2">
            <a:schemeClr val="accent1"/>
          </a:effectRef>
          <a:fontRef idx="minor">
            <a:schemeClr val="lt1"/>
          </a:fontRef>
        </p:style>
        <p:txBody>
          <a:bodyPr rtlCol="0" anchor="ctr" lIns="190500"/>
          <a:lstStyle/>
          <a:p>
            <a:pPr algn="ctr">
              <a:defRPr sz="1250">
                <a:solidFill>
                  <a:srgbClr val="2C3E50"/>
                </a:solidFill>
                <a:latin typeface="Arial"/>
              </a:defRPr>
            </a:pPr>
            <a:r>
              <a:t>Hai Ví dụ Đời sống trong Bài giảng gốc C4</a:t>
            </a:r>
          </a:p>
        </p:txBody>
      </p:sp>
      <p:sp>
        <p:nvSpPr>
          <p:cNvPr id="5" name="Rectangle 4"/>
          <p:cNvSpPr/>
          <p:nvPr/>
        </p:nvSpPr>
        <p:spPr>
          <a:xfrm>
            <a:off x="7560564" y="6839711"/>
            <a:ext cx="2519172"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01 - 2026</a:t>
            </a:r>
          </a:p>
        </p:txBody>
      </p:sp>
      <p:sp>
        <p:nvSpPr>
          <p:cNvPr id="6" name="TextBox 5"/>
          <p:cNvSpPr txBox="1"/>
          <p:nvPr/>
        </p:nvSpPr>
        <p:spPr>
          <a:xfrm>
            <a:off x="359918" y="1549400"/>
            <a:ext cx="9334500" cy="406400"/>
          </a:xfrm>
          <a:prstGeom prst="rect">
            <a:avLst/>
          </a:prstGeom>
          <a:noFill/>
        </p:spPr>
        <p:txBody>
          <a:bodyPr wrap="square" tIns="0" lIns="0">
            <a:spAutoFit/>
          </a:bodyPr>
          <a:lstStyle/>
          <a:p>
            <a:pPr>
              <a:defRPr sz="1800" b="1">
                <a:solidFill>
                  <a:srgbClr val="2C3E50"/>
                </a:solidFill>
                <a:latin typeface="Arial"/>
              </a:defRPr>
            </a:pPr>
            <a:r>
              <a:t>➢ Làm rõ bản chất Bất đồng bộ qua 2 ví dụ thực tế</a:t>
            </a:r>
          </a:p>
        </p:txBody>
      </p:sp>
      <p:sp>
        <p:nvSpPr>
          <p:cNvPr id="7" name="TextBox 6"/>
          <p:cNvSpPr txBox="1"/>
          <p:nvPr/>
        </p:nvSpPr>
        <p:spPr>
          <a:xfrm>
            <a:off x="359918" y="1905000"/>
            <a:ext cx="9334500" cy="2159000"/>
          </a:xfrm>
          <a:prstGeom prst="rect">
            <a:avLst/>
          </a:prstGeom>
          <a:noFill/>
        </p:spPr>
        <p:txBody>
          <a:bodyPr wrap="square" tIns="0" lIns="0">
            <a:spAutoFit/>
          </a:bodyPr>
          <a:lstStyle/>
          <a:p>
            <a:pPr>
              <a:spcBef>
                <a:spcPts val="200"/>
              </a:spcBef>
              <a:spcAft>
                <a:spcPts val="600"/>
              </a:spcAft>
            </a:pPr>
            <a:r>
              <a:rPr sz="1200" b="1">
                <a:solidFill>
                  <a:srgbClr val="2C3E50"/>
                </a:solidFill>
                <a:latin typeface="Arial"/>
              </a:rPr>
              <a:t>□ Ví dụ 1 — Đi thi (Làm bài thi): </a:t>
            </a:r>
            <a:r>
              <a:rPr sz="1200">
                <a:solidFill>
                  <a:srgbClr val="212F3D"/>
                </a:solidFill>
                <a:latin typeface="Arial"/>
              </a:rPr>
              <a:t>Gặp câu hỏi khó hoặc cần thời gian suy nghĩ ➔ Thí sinh không ngồi chờ chết thời gian mà TẠM BỎ QUA chuyển sang làm câu dễ trước. Khi xong hoặc có ý tưởng mới quay lại làm câu khó. Đây là xử lý không theo thứ tự!</a:t>
            </a:r>
          </a:p>
          <a:p>
            <a:pPr>
              <a:spcBef>
                <a:spcPts val="200"/>
              </a:spcBef>
              <a:spcAft>
                <a:spcPts val="600"/>
              </a:spcAft>
            </a:pPr>
            <a:r>
              <a:rPr sz="1200" b="1">
                <a:solidFill>
                  <a:srgbClr val="2C3E50"/>
                </a:solidFill>
                <a:latin typeface="Arial"/>
              </a:rPr>
              <a:t>□ Ví dụ 2 — Bãi giữ xe (Gửi xe &amp; Lấy vé): </a:t>
            </a:r>
            <a:r>
              <a:rPr sz="1200">
                <a:solidFill>
                  <a:srgbClr val="212F3D"/>
                </a:solidFill>
                <a:latin typeface="Arial"/>
              </a:rPr>
              <a:t>Người gửi xe quét thẻ nhận vé (nhận handle) rồi tự lái xe vào bãi tìm chỗ đỗ. Nhân viên bảo vệ không cần đi theo xe mà TIẾP TỤC QUÉT THẺ phục vụ người tiếp theo. Nhiều yêu cầu được giải quyết đồng thời mà không ai bị chặn!</a:t>
            </a:r>
          </a:p>
          <a:p>
            <a:pPr>
              <a:spcBef>
                <a:spcPts val="200"/>
              </a:spcBef>
              <a:spcAft>
                <a:spcPts val="600"/>
              </a:spcAft>
            </a:pPr>
            <a:r>
              <a:rPr sz="1200" b="1">
                <a:solidFill>
                  <a:srgbClr val="2C3E50"/>
                </a:solidFill>
                <a:latin typeface="Arial"/>
              </a:rPr>
              <a:t>□ Bài học công nghệ: </a:t>
            </a:r>
            <a:r>
              <a:rPr sz="1200">
                <a:solidFill>
                  <a:srgbClr val="212F3D"/>
                </a:solidFill>
                <a:latin typeface="Arial"/>
              </a:rPr>
              <a:t>Bất đồng bộ giúp chương trình máy tính không bị lãng phí thời gian chờ đợi các thao tác chậm chạp (như mạng hay đĩa).</a:t>
            </a:r>
          </a:p>
        </p:txBody>
      </p:sp>
      <p:graphicFrame>
        <p:nvGraphicFramePr>
          <p:cNvPr id="8" name="Table 7"/>
          <p:cNvGraphicFramePr>
            <a:graphicFrameLocks noGrp="1"/>
          </p:cNvGraphicFramePr>
          <p:nvPr/>
        </p:nvGraphicFramePr>
        <p:xfrm>
          <a:off x="359918" y="4254500"/>
          <a:ext cx="9334500" cy="2286000"/>
        </p:xfrm>
        <a:graphic>
          <a:graphicData uri="http://schemas.openxmlformats.org/drawingml/2006/table">
            <a:tbl>
              <a:tblPr firstRow="1" bandRow="1">
                <a:tableStyleId>{5C22544A-7EE6-4342-B048-85BDC9FD1C3A}</a:tableStyleId>
              </a:tblPr>
              <a:tblGrid>
                <a:gridCol w="2032000"/>
                <a:gridCol w="3619500"/>
                <a:gridCol w="3683000"/>
              </a:tblGrid>
              <a:tr h="762000">
                <a:tc>
                  <a:txBody>
                    <a:bodyPr/>
                    <a:lstStyle/>
                    <a:p>
                      <a:pPr algn="ctr">
                        <a:defRPr sz="1100" b="1">
                          <a:solidFill>
                            <a:srgbClr val="FFFFFF"/>
                          </a:solidFill>
                          <a:latin typeface="Arial"/>
                        </a:defRPr>
                      </a:pPr>
                      <a:r>
                        <a:t>Đặc điểm so sánh</a:t>
                      </a:r>
                    </a:p>
                  </a:txBody>
                  <a:tcPr anchor="ctr">
                    <a:solidFill>
                      <a:srgbClr val="E74C3C"/>
                    </a:solidFill>
                  </a:tcPr>
                </a:tc>
                <a:tc>
                  <a:txBody>
                    <a:bodyPr/>
                    <a:lstStyle/>
                    <a:p>
                      <a:pPr algn="ctr">
                        <a:defRPr sz="1100" b="1">
                          <a:solidFill>
                            <a:srgbClr val="FFFFFF"/>
                          </a:solidFill>
                          <a:latin typeface="Arial"/>
                        </a:defRPr>
                      </a:pPr>
                      <a:r>
                        <a:t>Mô hình Tuần tự (Synchronous Blocking)</a:t>
                      </a:r>
                    </a:p>
                  </a:txBody>
                  <a:tcPr anchor="ctr">
                    <a:solidFill>
                      <a:srgbClr val="E74C3C"/>
                    </a:solidFill>
                  </a:tcPr>
                </a:tc>
                <a:tc>
                  <a:txBody>
                    <a:bodyPr/>
                    <a:lstStyle/>
                    <a:p>
                      <a:pPr algn="ctr">
                        <a:defRPr sz="1100" b="1">
                          <a:solidFill>
                            <a:srgbClr val="FFFFFF"/>
                          </a:solidFill>
                          <a:latin typeface="Arial"/>
                        </a:defRPr>
                      </a:pPr>
                      <a:r>
                        <a:t>Mô hình Bất đồng bộ (Asynchronous Non-blocking)</a:t>
                      </a:r>
                    </a:p>
                  </a:txBody>
                  <a:tcPr anchor="ctr">
                    <a:solidFill>
                      <a:srgbClr val="E74C3C"/>
                    </a:solidFill>
                  </a:tcPr>
                </a:tc>
              </a:tr>
              <a:tr h="762000">
                <a:tc>
                  <a:txBody>
                    <a:bodyPr/>
                    <a:lstStyle/>
                    <a:p>
                      <a:pPr>
                        <a:defRPr sz="1000">
                          <a:solidFill>
                            <a:srgbClr val="212F3D"/>
                          </a:solidFill>
                          <a:latin typeface="Arial"/>
                        </a:defRPr>
                      </a:pPr>
                      <a:r>
                        <a:t>Trong phòng thi</a:t>
                      </a:r>
                    </a:p>
                  </a:txBody>
                  <a:tcPr anchor="ctr">
                    <a:solidFill>
                      <a:srgbClr val="FFFFFF"/>
                    </a:solidFill>
                  </a:tcPr>
                </a:tc>
                <a:tc>
                  <a:txBody>
                    <a:bodyPr/>
                    <a:lstStyle/>
                    <a:p>
                      <a:pPr>
                        <a:defRPr sz="1000">
                          <a:solidFill>
                            <a:srgbClr val="212F3D"/>
                          </a:solidFill>
                          <a:latin typeface="Arial"/>
                        </a:defRPr>
                      </a:pPr>
                      <a:r>
                        <a:t>Ngồi chờ giải xong câu 1 mới được đọc câu 2 ➔ Hết giờ thi vẫn chưa làm xong!</a:t>
                      </a:r>
                    </a:p>
                  </a:txBody>
                  <a:tcPr anchor="ctr">
                    <a:solidFill>
                      <a:srgbClr val="FFFFFF"/>
                    </a:solidFill>
                  </a:tcPr>
                </a:tc>
                <a:tc>
                  <a:txBody>
                    <a:bodyPr/>
                    <a:lstStyle/>
                    <a:p>
                      <a:pPr>
                        <a:defRPr sz="1000">
                          <a:solidFill>
                            <a:srgbClr val="212F3D"/>
                          </a:solidFill>
                          <a:latin typeface="Arial"/>
                        </a:defRPr>
                      </a:pPr>
                      <a:r>
                        <a:t>Làm câu dễ trước, câu khó làm sau ➔ Tối ưu hóa điểm số và thời gian làm bài!</a:t>
                      </a:r>
                    </a:p>
                  </a:txBody>
                  <a:tcPr anchor="ctr">
                    <a:solidFill>
                      <a:srgbClr val="FFFFFF"/>
                    </a:solidFill>
                  </a:tcPr>
                </a:tc>
              </a:tr>
              <a:tr h="762000">
                <a:tc>
                  <a:txBody>
                    <a:bodyPr/>
                    <a:lstStyle/>
                    <a:p>
                      <a:pPr>
                        <a:defRPr sz="1000">
                          <a:solidFill>
                            <a:srgbClr val="212F3D"/>
                          </a:solidFill>
                          <a:latin typeface="Arial"/>
                        </a:defRPr>
                      </a:pPr>
                      <a:r>
                        <a:t>Tại bãi giữ xe</a:t>
                      </a:r>
                    </a:p>
                  </a:txBody>
                  <a:tcPr anchor="ctr">
                    <a:solidFill>
                      <a:srgbClr val="F8F9FA"/>
                    </a:solidFill>
                  </a:tcPr>
                </a:tc>
                <a:tc>
                  <a:txBody>
                    <a:bodyPr/>
                    <a:lstStyle/>
                    <a:p>
                      <a:pPr>
                        <a:defRPr sz="1000">
                          <a:solidFill>
                            <a:srgbClr val="212F3D"/>
                          </a:solidFill>
                          <a:latin typeface="Arial"/>
                        </a:defRPr>
                      </a:pPr>
                      <a:r>
                        <a:t>Bảo vệ đi theo từng xe cho đến khi đỗ xong mới nhận xe tiếp ➔ Ùn tắc kéo dài!</a:t>
                      </a:r>
                    </a:p>
                  </a:txBody>
                  <a:tcPr anchor="ctr">
                    <a:solidFill>
                      <a:srgbClr val="F8F9FA"/>
                    </a:solidFill>
                  </a:tcPr>
                </a:tc>
                <a:tc>
                  <a:txBody>
                    <a:bodyPr/>
                    <a:lstStyle/>
                    <a:p>
                      <a:pPr>
                        <a:defRPr sz="1000">
                          <a:solidFill>
                            <a:srgbClr val="212F3D"/>
                          </a:solidFill>
                          <a:latin typeface="Arial"/>
                        </a:defRPr>
                      </a:pPr>
                      <a:r>
                        <a:t>Bảo vệ phát vé rồi nhận xe tiếp theo ngay ➔ Bãi xe thông suốt, phục vụ hàng nghìn người!</a:t>
                      </a:r>
                    </a:p>
                  </a:txBody>
                  <a:tcPr anchor="ctr">
                    <a:solidFill>
                      <a:srgbClr val="F8F9FA"/>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79832"/>
            <a:ext cx="9720072" cy="126034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wrap="square" lIns="359918"/>
          <a:lstStyle/>
          <a:p>
            <a:pPr algn="ctr">
              <a:defRPr sz="2600" b="1">
                <a:solidFill>
                  <a:srgbClr val="FFFFFF"/>
                </a:solidFill>
                <a:latin typeface="Arial"/>
              </a:defRPr>
            </a:pPr>
            <a:r>
              <a:t>GIỚI THIỆU</a:t>
            </a:r>
          </a:p>
        </p:txBody>
      </p:sp>
      <p:sp>
        <p:nvSpPr>
          <p:cNvPr id="3" name="Rectangle 2"/>
          <p:cNvSpPr/>
          <p:nvPr/>
        </p:nvSpPr>
        <p:spPr>
          <a:xfrm>
            <a:off x="179832" y="6839711"/>
            <a:ext cx="539496"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rial"/>
              </a:defRPr>
            </a:pPr>
            <a:r>
              <a:t>10</a:t>
            </a:r>
          </a:p>
        </p:txBody>
      </p:sp>
      <p:sp>
        <p:nvSpPr>
          <p:cNvPr id="4" name="Rectangle 3"/>
          <p:cNvSpPr/>
          <p:nvPr/>
        </p:nvSpPr>
        <p:spPr>
          <a:xfrm>
            <a:off x="900684" y="6839711"/>
            <a:ext cx="6480048" cy="541020"/>
          </a:xfrm>
          <a:prstGeom prst="rect">
            <a:avLst/>
          </a:prstGeom>
          <a:solidFill>
            <a:srgbClr val="BDC3C7"/>
          </a:solidFill>
          <a:ln>
            <a:noFill/>
          </a:ln>
        </p:spPr>
        <p:style>
          <a:lnRef idx="1">
            <a:schemeClr val="accent1"/>
          </a:lnRef>
          <a:fillRef idx="3">
            <a:schemeClr val="accent1"/>
          </a:fillRef>
          <a:effectRef idx="2">
            <a:schemeClr val="accent1"/>
          </a:effectRef>
          <a:fontRef idx="minor">
            <a:schemeClr val="lt1"/>
          </a:fontRef>
        </p:style>
        <p:txBody>
          <a:bodyPr rtlCol="0" anchor="ctr" lIns="190500"/>
          <a:lstStyle/>
          <a:p>
            <a:pPr algn="ctr">
              <a:defRPr sz="1250">
                <a:solidFill>
                  <a:srgbClr val="2C3E50"/>
                </a:solidFill>
                <a:latin typeface="Arial"/>
              </a:defRPr>
            </a:pPr>
            <a:r>
              <a:t>Mô hình Bất đồng bộ Thực thi Đồng thời (Slide 8 gốc)</a:t>
            </a:r>
          </a:p>
        </p:txBody>
      </p:sp>
      <p:sp>
        <p:nvSpPr>
          <p:cNvPr id="5" name="Rectangle 4"/>
          <p:cNvSpPr/>
          <p:nvPr/>
        </p:nvSpPr>
        <p:spPr>
          <a:xfrm>
            <a:off x="7560564" y="6839711"/>
            <a:ext cx="2519172"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01 - 2026</a:t>
            </a:r>
          </a:p>
        </p:txBody>
      </p:sp>
      <p:sp>
        <p:nvSpPr>
          <p:cNvPr id="6" name="TextBox 5"/>
          <p:cNvSpPr txBox="1"/>
          <p:nvPr/>
        </p:nvSpPr>
        <p:spPr>
          <a:xfrm>
            <a:off x="359918" y="1549400"/>
            <a:ext cx="9334500" cy="406400"/>
          </a:xfrm>
          <a:prstGeom prst="rect">
            <a:avLst/>
          </a:prstGeom>
          <a:noFill/>
        </p:spPr>
        <p:txBody>
          <a:bodyPr wrap="square" tIns="0" lIns="0">
            <a:spAutoFit/>
          </a:bodyPr>
          <a:lstStyle/>
          <a:p>
            <a:pPr>
              <a:defRPr sz="1800" b="1">
                <a:solidFill>
                  <a:srgbClr val="2C3E50"/>
                </a:solidFill>
                <a:latin typeface="Arial"/>
              </a:defRPr>
            </a:pPr>
            <a:r>
              <a:t>➢ Mô hình bất đồng bộ thực thi đồng thời trên một luồng điều khiển</a:t>
            </a:r>
          </a:p>
        </p:txBody>
      </p:sp>
      <p:sp>
        <p:nvSpPr>
          <p:cNvPr id="7" name="TextBox 6"/>
          <p:cNvSpPr txBox="1"/>
          <p:nvPr/>
        </p:nvSpPr>
        <p:spPr>
          <a:xfrm>
            <a:off x="359918" y="1905000"/>
            <a:ext cx="9334500" cy="2095500"/>
          </a:xfrm>
          <a:prstGeom prst="rect">
            <a:avLst/>
          </a:prstGeom>
          <a:noFill/>
        </p:spPr>
        <p:txBody>
          <a:bodyPr wrap="square" tIns="0" lIns="0">
            <a:spAutoFit/>
          </a:bodyPr>
          <a:lstStyle/>
          <a:p>
            <a:pPr>
              <a:spcBef>
                <a:spcPts val="200"/>
              </a:spcBef>
              <a:spcAft>
                <a:spcPts val="600"/>
              </a:spcAft>
            </a:pPr>
            <a:r>
              <a:rPr sz="1250" b="1">
                <a:solidFill>
                  <a:srgbClr val="2C3E50"/>
                </a:solidFill>
                <a:latin typeface="Arial"/>
              </a:rPr>
              <a:t>□ Thực hiện xen kẽ trong một khoảng thời gian: </a:t>
            </a:r>
            <a:r>
              <a:rPr sz="1250">
                <a:solidFill>
                  <a:srgbClr val="212F3D"/>
                </a:solidFill>
                <a:latin typeface="Arial"/>
              </a:rPr>
              <a:t>Trong một khoảng thời gian xác định, các task được thực hiện xen kẽ nhau linh hoạt.</a:t>
            </a:r>
          </a:p>
          <a:p>
            <a:pPr>
              <a:spcBef>
                <a:spcPts val="200"/>
              </a:spcBef>
              <a:spcAft>
                <a:spcPts val="600"/>
              </a:spcAft>
            </a:pPr>
            <a:r>
              <a:rPr sz="1250" b="1">
                <a:solidFill>
                  <a:srgbClr val="2C3E50"/>
                </a:solidFill>
                <a:latin typeface="Arial"/>
              </a:rPr>
              <a:t>□ Nằm trong một luồng điều khiển duy nhất: </a:t>
            </a:r>
            <a:r>
              <a:rPr sz="1250">
                <a:solidFill>
                  <a:srgbClr val="212F3D"/>
                </a:solidFill>
                <a:latin typeface="Arial"/>
              </a:rPr>
              <a:t>Toàn bộ mô hình chạy trong MỘT LUỒNG ĐIỀU KHIỂN CHÍNH DUY NHẤT (Single Thread of Control).</a:t>
            </a:r>
          </a:p>
          <a:p>
            <a:pPr>
              <a:spcBef>
                <a:spcPts val="200"/>
              </a:spcBef>
              <a:spcAft>
                <a:spcPts val="600"/>
              </a:spcAft>
            </a:pPr>
            <a:r>
              <a:rPr sz="1250" b="1">
                <a:solidFill>
                  <a:srgbClr val="2C3E50"/>
                </a:solidFill>
                <a:latin typeface="Arial"/>
              </a:rPr>
              <a:t>□ Nguyên tắc thực thi luồng đơn: </a:t>
            </a:r>
            <a:r>
              <a:rPr sz="1250">
                <a:solidFill>
                  <a:srgbClr val="212F3D"/>
                </a:solidFill>
                <a:latin typeface="Arial"/>
              </a:rPr>
              <a:t>Khi 1 task đang thực thi thì các task khác KHÔNG THỰC THI; việc thực thi của 1 task có thể bị TẠM DỪNG và sau đó TIẾP TỤC LẠI.</a:t>
            </a:r>
          </a:p>
          <a:p>
            <a:pPr>
              <a:spcBef>
                <a:spcPts val="200"/>
              </a:spcBef>
              <a:spcAft>
                <a:spcPts val="600"/>
              </a:spcAft>
            </a:pPr>
            <a:r>
              <a:rPr sz="1250" b="1">
                <a:solidFill>
                  <a:srgbClr val="2C3E50"/>
                </a:solidFill>
                <a:latin typeface="Arial"/>
              </a:rPr>
              <a:t>□ Phạm vi ứng dụng rộng rãi: </a:t>
            </a:r>
            <a:r>
              <a:rPr sz="1250">
                <a:solidFill>
                  <a:srgbClr val="212F3D"/>
                </a:solidFill>
                <a:latin typeface="Arial"/>
              </a:rPr>
              <a:t>Áp dụng hiệu quả cả trong hệ thống đơn bộ xử lý (Uniprocessor systems) lẫn hệ thống đa bộ xử lý (Multiprocessor systems).</a:t>
            </a:r>
          </a:p>
        </p:txBody>
      </p:sp>
      <p:pic>
        <p:nvPicPr>
          <p:cNvPr id="8" name="Picture 7" descr="diag_orig_async_single_thread.png"/>
          <p:cNvPicPr>
            <a:picLocks noChangeAspect="1"/>
          </p:cNvPicPr>
          <p:nvPr/>
        </p:nvPicPr>
        <p:blipFill>
          <a:blip r:embed="rId2"/>
          <a:stretch>
            <a:fillRect/>
          </a:stretch>
        </p:blipFill>
        <p:spPr>
          <a:xfrm>
            <a:off x="359918" y="4127500"/>
            <a:ext cx="9334500" cy="24765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79832"/>
            <a:ext cx="9720072" cy="126034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wrap="square" lIns="359918"/>
          <a:lstStyle/>
          <a:p>
            <a:pPr algn="ctr">
              <a:defRPr sz="2600" b="1">
                <a:solidFill>
                  <a:srgbClr val="FFFFFF"/>
                </a:solidFill>
                <a:latin typeface="Arial"/>
              </a:defRPr>
            </a:pPr>
            <a:r>
              <a:t>TỔNG KẾT PHẦN I</a:t>
            </a:r>
          </a:p>
        </p:txBody>
      </p:sp>
      <p:sp>
        <p:nvSpPr>
          <p:cNvPr id="3" name="Rectangle 2"/>
          <p:cNvSpPr/>
          <p:nvPr/>
        </p:nvSpPr>
        <p:spPr>
          <a:xfrm>
            <a:off x="179832" y="6839711"/>
            <a:ext cx="539496"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rial"/>
              </a:defRPr>
            </a:pPr>
            <a:r>
              <a:t>11</a:t>
            </a:r>
          </a:p>
        </p:txBody>
      </p:sp>
      <p:sp>
        <p:nvSpPr>
          <p:cNvPr id="4" name="Rectangle 3"/>
          <p:cNvSpPr/>
          <p:nvPr/>
        </p:nvSpPr>
        <p:spPr>
          <a:xfrm>
            <a:off x="900684" y="6839711"/>
            <a:ext cx="6480048" cy="541020"/>
          </a:xfrm>
          <a:prstGeom prst="rect">
            <a:avLst/>
          </a:prstGeom>
          <a:solidFill>
            <a:srgbClr val="BDC3C7"/>
          </a:solidFill>
          <a:ln>
            <a:noFill/>
          </a:ln>
        </p:spPr>
        <p:style>
          <a:lnRef idx="1">
            <a:schemeClr val="accent1"/>
          </a:lnRef>
          <a:fillRef idx="3">
            <a:schemeClr val="accent1"/>
          </a:fillRef>
          <a:effectRef idx="2">
            <a:schemeClr val="accent1"/>
          </a:effectRef>
          <a:fontRef idx="minor">
            <a:schemeClr val="lt1"/>
          </a:fontRef>
        </p:style>
        <p:txBody>
          <a:bodyPr rtlCol="0" anchor="ctr" lIns="190500"/>
          <a:lstStyle/>
          <a:p>
            <a:pPr algn="ctr">
              <a:defRPr sz="1250">
                <a:solidFill>
                  <a:srgbClr val="2C3E50"/>
                </a:solidFill>
                <a:latin typeface="Arial"/>
              </a:defRPr>
            </a:pPr>
            <a:r>
              <a:t>Tổng kết Phần Giới thiệu &amp; Bàn giao Kỹ thuật</a:t>
            </a:r>
          </a:p>
        </p:txBody>
      </p:sp>
      <p:sp>
        <p:nvSpPr>
          <p:cNvPr id="5" name="Rectangle 4"/>
          <p:cNvSpPr/>
          <p:nvPr/>
        </p:nvSpPr>
        <p:spPr>
          <a:xfrm>
            <a:off x="7560564" y="6839711"/>
            <a:ext cx="2519172" cy="5410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01 - 2026</a:t>
            </a:r>
          </a:p>
        </p:txBody>
      </p:sp>
      <p:sp>
        <p:nvSpPr>
          <p:cNvPr id="6" name="TextBox 5"/>
          <p:cNvSpPr txBox="1"/>
          <p:nvPr/>
        </p:nvSpPr>
        <p:spPr>
          <a:xfrm>
            <a:off x="359918" y="1549400"/>
            <a:ext cx="9334500" cy="406400"/>
          </a:xfrm>
          <a:prstGeom prst="rect">
            <a:avLst/>
          </a:prstGeom>
          <a:noFill/>
        </p:spPr>
        <p:txBody>
          <a:bodyPr wrap="square" tIns="0" lIns="0">
            <a:spAutoFit/>
          </a:bodyPr>
          <a:lstStyle/>
          <a:p>
            <a:pPr>
              <a:defRPr sz="1800" b="1">
                <a:solidFill>
                  <a:srgbClr val="2C3E50"/>
                </a:solidFill>
                <a:latin typeface="Arial"/>
              </a:defRPr>
            </a:pPr>
            <a:r>
              <a:t>➢ Tóm tắt nền tảng &amp; Chuyển giao sang Module concurrent.futures</a:t>
            </a:r>
          </a:p>
        </p:txBody>
      </p:sp>
      <p:sp>
        <p:nvSpPr>
          <p:cNvPr id="7" name="TextBox 6"/>
          <p:cNvSpPr txBox="1"/>
          <p:nvPr/>
        </p:nvSpPr>
        <p:spPr>
          <a:xfrm>
            <a:off x="359918" y="1905000"/>
            <a:ext cx="9334500" cy="2286000"/>
          </a:xfrm>
          <a:prstGeom prst="rect">
            <a:avLst/>
          </a:prstGeom>
          <a:noFill/>
        </p:spPr>
        <p:txBody>
          <a:bodyPr wrap="square" tIns="0" lIns="0">
            <a:spAutoFit/>
          </a:bodyPr>
          <a:lstStyle/>
          <a:p>
            <a:pPr>
              <a:spcBef>
                <a:spcPts val="200"/>
              </a:spcBef>
              <a:spcAft>
                <a:spcPts val="600"/>
              </a:spcAft>
            </a:pPr>
            <a:r>
              <a:rPr sz="1200" b="1">
                <a:solidFill>
                  <a:srgbClr val="2C3E50"/>
                </a:solidFill>
                <a:latin typeface="Arial"/>
              </a:rPr>
              <a:t>□ Hoàn thành mục tiêu Phần I (TV1): </a:t>
            </a:r>
            <a:r>
              <a:rPr sz="1200">
                <a:solidFill>
                  <a:srgbClr val="212F3D"/>
                </a:solidFill>
                <a:latin typeface="Arial"/>
              </a:rPr>
              <a:t>Đã phân định chính xác và rõ ràng 4 mô hình: Tuần tự (theo thứ tự), Đồng thời (xen kẽ trên 1 core), Song song (cùng lúc trên đa core), và Bất đồng bộ (không theo thứ tự trên 1 luồng đơn).</a:t>
            </a:r>
          </a:p>
          <a:p>
            <a:pPr>
              <a:spcBef>
                <a:spcPts val="200"/>
              </a:spcBef>
              <a:spcAft>
                <a:spcPts val="600"/>
              </a:spcAft>
            </a:pPr>
            <a:r>
              <a:rPr sz="1200" b="1">
                <a:solidFill>
                  <a:srgbClr val="2C3E50"/>
                </a:solidFill>
                <a:latin typeface="Arial"/>
              </a:rPr>
              <a:t>□ Quy luật cốt lõi cần nhớ: </a:t>
            </a:r>
            <a:r>
              <a:rPr sz="1200">
                <a:solidFill>
                  <a:srgbClr val="212F3D"/>
                </a:solidFill>
                <a:latin typeface="Arial"/>
              </a:rPr>
              <a:t>Bất đồng bộ tận dụng thời gian rảnh khi một tác vụ tạm dừng để phục vụ tác vụ khác, giúp hoàn thành công việc nhanh hơn mà không nhất thiết phải dùng nhiều luồng.</a:t>
            </a:r>
          </a:p>
          <a:p>
            <a:pPr>
              <a:spcBef>
                <a:spcPts val="200"/>
              </a:spcBef>
              <a:spcAft>
                <a:spcPts val="600"/>
              </a:spcAft>
            </a:pPr>
            <a:r>
              <a:rPr sz="1200" b="1">
                <a:solidFill>
                  <a:srgbClr val="2C3E50"/>
                </a:solidFill>
                <a:latin typeface="Arial"/>
              </a:rPr>
              <a:t>□ Cầu nối chuyển giao sang Phần II: </a:t>
            </a:r>
            <a:r>
              <a:rPr sz="1200">
                <a:solidFill>
                  <a:srgbClr val="212F3D"/>
                </a:solidFill>
                <a:latin typeface="Arial"/>
              </a:rPr>
              <a:t>Từ nguyên lý này, Python cung cấp công cụ gì để triển khai trong thực tế? Đó chính là Module `concurrent.futures`!</a:t>
            </a:r>
          </a:p>
          <a:p>
            <a:pPr>
              <a:spcBef>
                <a:spcPts val="200"/>
              </a:spcBef>
              <a:spcAft>
                <a:spcPts val="600"/>
              </a:spcAft>
            </a:pPr>
            <a:r>
              <a:rPr sz="1200" b="1">
                <a:solidFill>
                  <a:srgbClr val="2C3E50"/>
                </a:solidFill>
                <a:latin typeface="Arial"/>
              </a:rPr>
              <a:t>□ Chuyển giao cho Thành viên 2 &amp; 3: </a:t>
            </a:r>
            <a:r>
              <a:rPr sz="1200">
                <a:solidFill>
                  <a:srgbClr val="212F3D"/>
                </a:solidFill>
                <a:latin typeface="Arial"/>
              </a:rPr>
              <a:t>Xin kính mời bạn Thành viên 2 tiếp nối bài giảng với chuyên đề: 'Sử dụng Module concurrent.futures (ThreadPoolExecutor &amp; ProcessPoolExecutor)'!</a:t>
            </a:r>
          </a:p>
        </p:txBody>
      </p:sp>
      <p:sp>
        <p:nvSpPr>
          <p:cNvPr id="8" name="Rounded Rectangle 7"/>
          <p:cNvSpPr/>
          <p:nvPr/>
        </p:nvSpPr>
        <p:spPr>
          <a:xfrm>
            <a:off x="359918" y="4445000"/>
            <a:ext cx="9334500" cy="2095500"/>
          </a:xfrm>
          <a:prstGeom prst="roundRect">
            <a:avLst/>
          </a:prstGeom>
          <a:solidFill>
            <a:srgbClr val="F8F9FA"/>
          </a:solidFill>
          <a:ln w="19050">
            <a:solidFill>
              <a:srgbClr val="E74C3C"/>
            </a:solidFill>
          </a:ln>
        </p:spPr>
        <p:style>
          <a:lnRef idx="1">
            <a:schemeClr val="accent1"/>
          </a:lnRef>
          <a:fillRef idx="3">
            <a:schemeClr val="accent1"/>
          </a:fillRef>
          <a:effectRef idx="2">
            <a:schemeClr val="accent1"/>
          </a:effectRef>
          <a:fontRef idx="minor">
            <a:schemeClr val="lt1"/>
          </a:fontRef>
        </p:style>
        <p:txBody>
          <a:bodyPr rtlCol="0" anchor="ctr" lIns="254000" tIns="190500"/>
          <a:lstStyle/>
          <a:p>
            <a:pPr algn="ctr">
              <a:defRPr sz="1300" b="1">
                <a:solidFill>
                  <a:srgbClr val="E74C3C"/>
                </a:solidFill>
                <a:latin typeface="Arial"/>
              </a:defRPr>
            </a:pPr>
            <a:r>
              <a:t>MẠCH NỐI CHUYỂN TIẾP TRONG FILE BÀI GIẢNG GỐC C4:</a:t>
            </a:r>
          </a:p>
          <a:p>
            <a:pPr>
              <a:spcBef>
                <a:spcPts val="600"/>
              </a:spcBef>
            </a:pPr>
            <a:r>
              <a:rPr b="1" sz="1050">
                <a:solidFill>
                  <a:srgbClr val="2C3E50"/>
                </a:solidFill>
              </a:rPr>
              <a:t>• Phần I (Slide 1 đến 8 - TV1 vừa trình bày): </a:t>
            </a:r>
            <a:r>
              <a:rPr sz="1050">
                <a:solidFill>
                  <a:srgbClr val="212F3D"/>
                </a:solidFill>
              </a:rPr>
              <a:t>Nền tảng lý thuyết: Tuần tự ➔ Đồng thời ➔ Song song ➔ Bất đồng bộ.</a:t>
            </a:r>
          </a:p>
          <a:p>
            <a:pPr>
              <a:spcBef>
                <a:spcPts val="600"/>
              </a:spcBef>
            </a:pPr>
            <a:r>
              <a:rPr b="1" sz="1050">
                <a:solidFill>
                  <a:srgbClr val="2C3E50"/>
                </a:solidFill>
              </a:rPr>
              <a:t>• Phần II (Slide 9 đến 15 - TV2 &amp; TV3): </a:t>
            </a:r>
            <a:r>
              <a:rPr sz="1050">
                <a:solidFill>
                  <a:srgbClr val="212F3D"/>
                </a:solidFill>
              </a:rPr>
              <a:t>Sử dụng Module concurrent.futures: Executor, Future, ThreadPool và ProcessPool.</a:t>
            </a:r>
          </a:p>
          <a:p>
            <a:pPr>
              <a:spcBef>
                <a:spcPts val="600"/>
              </a:spcBef>
            </a:pPr>
            <a:r>
              <a:rPr b="1" sz="1050">
                <a:solidFill>
                  <a:srgbClr val="2C3E50"/>
                </a:solidFill>
              </a:rPr>
              <a:t>• Phần III (Slide 16 đến 22 - TV4 &amp; TV5): </a:t>
            </a:r>
            <a:r>
              <a:rPr sz="1050">
                <a:solidFill>
                  <a:srgbClr val="212F3D"/>
                </a:solidFill>
              </a:rPr>
              <a:t>Quản lý vòng lặp sự kiện và xử lý tác vụ đồng thời với Asyncio.</a:t>
            </a:r>
          </a:p>
          <a:p>
            <a:pPr>
              <a:spcBef>
                <a:spcPts val="600"/>
              </a:spcBef>
            </a:pPr>
            <a:r>
              <a:rPr b="1" sz="1050">
                <a:solidFill>
                  <a:srgbClr val="2C3E50"/>
                </a:solidFill>
              </a:rPr>
              <a:t>• Phần IV (Slide 23 đến 24 - TV6): </a:t>
            </a:r>
            <a:r>
              <a:rPr sz="1050">
                <a:solidFill>
                  <a:srgbClr val="212F3D"/>
                </a:solidFill>
              </a:rPr>
              <a:t>Lưu ý thực tế và phối hợp các mô hình tính toán.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