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4389120" cy="384048"/>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93C5FD"/>
                </a:solidFill>
                <a:latin typeface="Segoe UI"/>
              </a:defRPr>
            </a:pPr>
            <a:r>
              <a:t>⚡ HỌC PHẦN: TÍNH TOÁN SONG SONG &amp; PHÂN TÁN</a:t>
            </a:r>
          </a:p>
        </p:txBody>
      </p:sp>
      <p:sp>
        <p:nvSpPr>
          <p:cNvPr id="4" name="TextBox 3"/>
          <p:cNvSpPr txBox="1"/>
          <p:nvPr/>
        </p:nvSpPr>
        <p:spPr>
          <a:xfrm>
            <a:off x="1097280" y="1737360"/>
            <a:ext cx="10058400" cy="2377440"/>
          </a:xfrm>
          <a:prstGeom prst="rect">
            <a:avLst/>
          </a:prstGeom>
          <a:noFill/>
        </p:spPr>
        <p:txBody>
          <a:bodyPr wrap="square">
            <a:spAutoFit/>
          </a:bodyPr>
          <a:lstStyle/>
          <a:p>
            <a:pPr>
              <a:spcAft>
                <a:spcPts val="1000"/>
              </a:spcAft>
              <a:defRPr sz="3200" b="1">
                <a:solidFill>
                  <a:srgbClr val="FFFFFF"/>
                </a:solidFill>
                <a:latin typeface="Segoe UI"/>
              </a:defRPr>
            </a:pPr>
            <a:r>
              <a:t>CHƯƠNG 4: LẬP TRÌNH BẤT ĐỒNG BỘ TRONG PYTHON</a:t>
            </a:r>
          </a:p>
          <a:p>
            <a:pPr>
              <a:spcAft>
                <a:spcPts val="1400"/>
              </a:spcAft>
              <a:defRPr sz="2000">
                <a:solidFill>
                  <a:srgbClr val="60A5FA"/>
                </a:solidFill>
                <a:latin typeface="Segoe UI"/>
              </a:defRPr>
            </a:pPr>
            <a:r>
              <a:t>Phần I: Khái Niệm Cốt Lõi &amp; So Sánh 4 Mô Hình Tính Toán Nền Tảng</a:t>
            </a:r>
          </a:p>
          <a:p>
            <a:pPr>
              <a:defRPr sz="1300">
                <a:solidFill>
                  <a:srgbClr val="94A3B8"/>
                </a:solidFill>
                <a:latin typeface="Segoe UI"/>
              </a:defRPr>
            </a:pPr>
            <a:r>
              <a:t>Phân tích bản chất kỹ thuật từ tầng kiến trúc phần cứng (CPU, Memory, I/O) đến mô hình thực thi trong CPython:</a:t>
            </a:r>
            <a:br/>
            <a:r>
              <a:t>Tuần tự (Sequential)  •  Đồng thời (Concurrency)  •  Song song (Parallelism)  •  Bất đồng bộ (Asynchronous)</a:t>
            </a:r>
          </a:p>
        </p:txBody>
      </p:sp>
      <p:sp>
        <p:nvSpPr>
          <p:cNvPr id="5" name="Rounded Rectangle 4"/>
          <p:cNvSpPr/>
          <p:nvPr/>
        </p:nvSpPr>
        <p:spPr>
          <a:xfrm>
            <a:off x="1097280" y="4389120"/>
            <a:ext cx="2331720" cy="164592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spcAft>
                <a:spcPts val="600"/>
              </a:spcAft>
              <a:defRPr sz="1300" b="1">
                <a:solidFill>
                  <a:srgbClr val="EF4444"/>
                </a:solidFill>
                <a:latin typeface="Segoe UI"/>
              </a:defRPr>
            </a:pPr>
            <a:r>
              <a:t>1. TUẦN TỰ</a:t>
            </a:r>
          </a:p>
          <a:p>
            <a:pPr>
              <a:defRPr sz="1050">
                <a:solidFill>
                  <a:srgbClr val="CBD5E1"/>
                </a:solidFill>
                <a:latin typeface="Segoe UI"/>
              </a:defRPr>
            </a:pPr>
            <a:r>
              <a:t>1 Luồng - 1 Lệnh</a:t>
            </a:r>
            <a:br/>
            <a:r>
              <a:t>Nghẽn hoàn toàn khi chờ I/O</a:t>
            </a:r>
            <a:br/>
            <a:r>
              <a:t>(Blocking Architecture)</a:t>
            </a:r>
          </a:p>
        </p:txBody>
      </p:sp>
      <p:sp>
        <p:nvSpPr>
          <p:cNvPr id="6" name="Rounded Rectangle 5"/>
          <p:cNvSpPr/>
          <p:nvPr/>
        </p:nvSpPr>
        <p:spPr>
          <a:xfrm>
            <a:off x="1097280" y="4389120"/>
            <a:ext cx="2331720" cy="5080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48456" y="4389120"/>
            <a:ext cx="2331720" cy="164592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spcAft>
                <a:spcPts val="600"/>
              </a:spcAft>
              <a:defRPr sz="1300" b="1">
                <a:solidFill>
                  <a:srgbClr val="3B82F6"/>
                </a:solidFill>
                <a:latin typeface="Segoe UI"/>
              </a:defRPr>
            </a:pPr>
            <a:r>
              <a:t>2. ĐỒNG THỜI</a:t>
            </a:r>
          </a:p>
          <a:p>
            <a:pPr>
              <a:defRPr sz="1050">
                <a:solidFill>
                  <a:srgbClr val="CBD5E1"/>
                </a:solidFill>
                <a:latin typeface="Segoe UI"/>
              </a:defRPr>
            </a:pPr>
            <a:r>
              <a:t>Xen kẽ tác vụ (Time-slice)</a:t>
            </a:r>
            <a:br/>
            <a:r>
              <a:t>Cấu trúc giải quyết nhiều việc</a:t>
            </a:r>
            <a:br/>
            <a:r>
              <a:t>(Interleaved Progress)</a:t>
            </a:r>
          </a:p>
        </p:txBody>
      </p:sp>
      <p:sp>
        <p:nvSpPr>
          <p:cNvPr id="8" name="Rounded Rectangle 7"/>
          <p:cNvSpPr/>
          <p:nvPr/>
        </p:nvSpPr>
        <p:spPr>
          <a:xfrm>
            <a:off x="3648456" y="4389120"/>
            <a:ext cx="2331720" cy="508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99632" y="4389120"/>
            <a:ext cx="2331720" cy="164592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spcAft>
                <a:spcPts val="600"/>
              </a:spcAft>
              <a:defRPr sz="1300" b="1">
                <a:solidFill>
                  <a:srgbClr val="A855F7"/>
                </a:solidFill>
                <a:latin typeface="Segoe UI"/>
              </a:defRPr>
            </a:pPr>
            <a:r>
              <a:t>3. SONG SONG</a:t>
            </a:r>
          </a:p>
          <a:p>
            <a:pPr>
              <a:defRPr sz="1050">
                <a:solidFill>
                  <a:srgbClr val="CBD5E1"/>
                </a:solidFill>
                <a:latin typeface="Segoe UI"/>
              </a:defRPr>
            </a:pPr>
            <a:r>
              <a:t>Nhiều Core vật lý độc lập</a:t>
            </a:r>
            <a:br/>
            <a:r>
              <a:t>Thực thi cùng lúc thực sự</a:t>
            </a:r>
            <a:br/>
            <a:r>
              <a:t>(Hardware Multiprocessing)</a:t>
            </a:r>
          </a:p>
        </p:txBody>
      </p:sp>
      <p:sp>
        <p:nvSpPr>
          <p:cNvPr id="10" name="Rounded Rectangle 9"/>
          <p:cNvSpPr/>
          <p:nvPr/>
        </p:nvSpPr>
        <p:spPr>
          <a:xfrm>
            <a:off x="6199632" y="4389120"/>
            <a:ext cx="2331720" cy="5080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750808" y="4389120"/>
            <a:ext cx="2331720" cy="164592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spcAft>
                <a:spcPts val="600"/>
              </a:spcAft>
              <a:defRPr sz="1300" b="1">
                <a:solidFill>
                  <a:srgbClr val="22C55E"/>
                </a:solidFill>
                <a:latin typeface="Segoe UI"/>
              </a:defRPr>
            </a:pPr>
            <a:r>
              <a:t>4. BẤT ĐỒNG BỘ</a:t>
            </a:r>
          </a:p>
          <a:p>
            <a:pPr>
              <a:defRPr sz="1050">
                <a:solidFill>
                  <a:srgbClr val="CBD5E1"/>
                </a:solidFill>
                <a:latin typeface="Segoe UI"/>
              </a:defRPr>
            </a:pPr>
            <a:r>
              <a:t>1 Luồng hợp tác (Yield)</a:t>
            </a:r>
            <a:br/>
            <a:r>
              <a:t>Event Loop điều phối phi chặn</a:t>
            </a:r>
            <a:br/>
            <a:r>
              <a:t>(Non-blocking Reactive)</a:t>
            </a:r>
          </a:p>
        </p:txBody>
      </p:sp>
      <p:sp>
        <p:nvSpPr>
          <p:cNvPr id="12" name="Rounded Rectangle 11"/>
          <p:cNvSpPr/>
          <p:nvPr/>
        </p:nvSpPr>
        <p:spPr>
          <a:xfrm>
            <a:off x="8750808" y="4389120"/>
            <a:ext cx="2331720" cy="5080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6217920"/>
            <a:ext cx="10058400" cy="365760"/>
          </a:xfrm>
          <a:prstGeom prst="rect">
            <a:avLst/>
          </a:prstGeom>
          <a:noFill/>
        </p:spPr>
        <p:txBody>
          <a:bodyPr wrap="none">
            <a:spAutoFit/>
          </a:bodyPr>
          <a:lstStyle/>
          <a:p>
            <a:pPr>
              <a:defRPr sz="1000">
                <a:solidFill>
                  <a:srgbClr val="64748B"/>
                </a:solidFill>
              </a:defRPr>
            </a:pPr>
            <a:r>
              <a:t>Học phần chuyên sâu Đại học  |  Khoa Khoa học &amp; Kỹ thuật Máy tính  |  Biên soạn chuẩn học thuật &amp; thực chiến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9184"/>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1000" b="1">
                <a:solidFill>
                  <a:srgbClr val="2563EB"/>
                </a:solidFill>
                <a:latin typeface="Segoe UI"/>
              </a:defRPr>
            </a:pPr>
            <a:r>
              <a:t>●  BỐI CẢNH &amp; ĐỘNG LỰC KIẾN TRÚC</a:t>
            </a:r>
          </a:p>
        </p:txBody>
      </p:sp>
      <p:sp>
        <p:nvSpPr>
          <p:cNvPr id="4" name="TextBox 3"/>
          <p:cNvSpPr txBox="1"/>
          <p:nvPr/>
        </p:nvSpPr>
        <p:spPr>
          <a:xfrm>
            <a:off x="731520" y="749808"/>
            <a:ext cx="10698480" cy="868680"/>
          </a:xfrm>
          <a:prstGeom prst="rect">
            <a:avLst/>
          </a:prstGeom>
          <a:noFill/>
        </p:spPr>
        <p:txBody>
          <a:bodyPr wrap="square" lIns="0" tIns="0">
            <a:spAutoFit/>
          </a:bodyPr>
          <a:lstStyle/>
          <a:p>
            <a:pPr>
              <a:spcAft>
                <a:spcPts val="200"/>
              </a:spcAft>
              <a:defRPr sz="2200" b="1">
                <a:solidFill>
                  <a:srgbClr val="0F172A"/>
                </a:solidFill>
                <a:latin typeface="Segoe UI"/>
              </a:defRPr>
            </a:pPr>
            <a:r>
              <a:t>Nghịch lý Độ trễ Phần cứng: Tại sao cần Tính toán Bất đồng bộ?</a:t>
            </a:r>
          </a:p>
          <a:p>
            <a:pPr>
              <a:defRPr sz="1300">
                <a:solidFill>
                  <a:srgbClr val="64748B"/>
                </a:solidFill>
                <a:latin typeface="Segoe UI"/>
              </a:defRPr>
            </a:pPr>
            <a:r>
              <a:t>Khoảng cách vô hạn giữa tốc độ tính toán của CPU và tốc độ I/O (Ổ cứng &amp; Mạng)</a:t>
            </a:r>
          </a:p>
        </p:txBody>
      </p:sp>
      <p:sp>
        <p:nvSpPr>
          <p:cNvPr id="5" name="Rectangle 4"/>
          <p:cNvSpPr/>
          <p:nvPr/>
        </p:nvSpPr>
        <p:spPr>
          <a:xfrm>
            <a:off x="731520" y="169164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6236208"/>
            <a:ext cx="73152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02</a:t>
            </a:r>
          </a:p>
        </p:txBody>
      </p:sp>
      <p:sp>
        <p:nvSpPr>
          <p:cNvPr id="7" name="TextBox 6"/>
          <p:cNvSpPr txBox="1"/>
          <p:nvPr/>
        </p:nvSpPr>
        <p:spPr>
          <a:xfrm>
            <a:off x="1600200" y="6217920"/>
            <a:ext cx="7772400" cy="365760"/>
          </a:xfrm>
          <a:prstGeom prst="rect">
            <a:avLst/>
          </a:prstGeom>
          <a:noFill/>
        </p:spPr>
        <p:txBody>
          <a:bodyPr wrap="none">
            <a:spAutoFit/>
          </a:bodyPr>
          <a:lstStyle/>
          <a:p>
            <a:pPr>
              <a:defRPr sz="1050">
                <a:solidFill>
                  <a:srgbClr val="64748B"/>
                </a:solidFill>
                <a:latin typeface="Segoe UI"/>
              </a:defRPr>
            </a:pPr>
            <a:r>
              <a:t>Tính toán Song song &amp; Phân tán  ›  Chương 4: Lập trình Bất đồng bộ trong Python  ›  Phần I: Nền tảng Lý thuyết</a:t>
            </a:r>
          </a:p>
        </p:txBody>
      </p:sp>
      <p:sp>
        <p:nvSpPr>
          <p:cNvPr id="8" name="TextBox 7"/>
          <p:cNvSpPr txBox="1"/>
          <p:nvPr/>
        </p:nvSpPr>
        <p:spPr>
          <a:xfrm>
            <a:off x="9326880" y="6217920"/>
            <a:ext cx="2133295" cy="365760"/>
          </a:xfrm>
          <a:prstGeom prst="rect">
            <a:avLst/>
          </a:prstGeom>
          <a:noFill/>
        </p:spPr>
        <p:txBody>
          <a:bodyPr wrap="none">
            <a:spAutoFit/>
          </a:bodyPr>
          <a:lstStyle/>
          <a:p>
            <a:pPr algn="r">
              <a:defRPr sz="1000">
                <a:solidFill>
                  <a:srgbClr val="64748B"/>
                </a:solidFill>
                <a:latin typeface="Segoe UI"/>
              </a:defRPr>
            </a:pPr>
            <a:r>
              <a:t>Slide 2 / 12  |  2026 Edition</a:t>
            </a:r>
          </a:p>
        </p:txBody>
      </p:sp>
      <p:sp>
        <p:nvSpPr>
          <p:cNvPr id="9" name="Rounded Rectangle 8"/>
          <p:cNvSpPr/>
          <p:nvPr/>
        </p:nvSpPr>
        <p:spPr>
          <a:xfrm>
            <a:off x="731520" y="1874519"/>
            <a:ext cx="6217920"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2563EB"/>
                </a:solidFill>
                <a:latin typeface="Segoe UI"/>
              </a:defRPr>
            </a:pPr>
            <a:r>
              <a:t>⏱️ Bảng Quy đổi Thời gian: Tốc độ Vi xử lý vs Thiết bị Ngoại vi</a:t>
            </a:r>
          </a:p>
          <a:p>
            <a:pPr>
              <a:spcAft>
                <a:spcPts val="800"/>
              </a:spcAft>
              <a:defRPr sz="1150" b="1">
                <a:solidFill>
                  <a:srgbClr val="334155"/>
                </a:solidFill>
              </a:defRPr>
            </a:pPr>
            <a:r>
              <a:t>Nếu quy đổi 1 chu kỳ xung nhịp CPU (0.3 ns) = 1 giây trong đời sống thực:</a:t>
            </a:r>
          </a:p>
          <a:p>
            <a:pPr>
              <a:spcAft>
                <a:spcPts val="400"/>
              </a:spcAft>
              <a:defRPr sz="1100" b="1">
                <a:solidFill>
                  <a:srgbClr val="0F172A"/>
                </a:solidFill>
              </a:defRPr>
            </a:pPr>
            <a:r>
              <a:t>• 1 Chu kỳ lệnh CPU (3 GHz): </a:t>
            </a:r>
            <a:r>
              <a:rPr sz="1050">
                <a:solidFill>
                  <a:srgbClr val="64748B"/>
                </a:solidFill>
              </a:rPr>
              <a:t>0.3 ns </a:t>
            </a:r>
            <a:r>
              <a:rPr sz="1100" b="1">
                <a:solidFill>
                  <a:srgbClr val="059669"/>
                </a:solidFill>
              </a:rPr>
              <a:t>≈ 1 giây </a:t>
            </a:r>
            <a:r>
              <a:rPr sz="1000" i="1">
                <a:solidFill>
                  <a:srgbClr val="64748B"/>
                </a:solidFill>
              </a:rPr>
              <a:t>(Thực hiện 1 phép tính cộng/trừ)</a:t>
            </a:r>
          </a:p>
          <a:p>
            <a:pPr>
              <a:spcAft>
                <a:spcPts val="400"/>
              </a:spcAft>
              <a:defRPr sz="1100" b="1">
                <a:solidFill>
                  <a:srgbClr val="0F172A"/>
                </a:solidFill>
              </a:defRPr>
            </a:pPr>
            <a:r>
              <a:t>• Truy xuất Bộ nhớ RAM: </a:t>
            </a:r>
            <a:r>
              <a:rPr sz="1050">
                <a:solidFill>
                  <a:srgbClr val="64748B"/>
                </a:solidFill>
              </a:rPr>
              <a:t>100 ns </a:t>
            </a:r>
            <a:r>
              <a:rPr sz="1100" b="1">
                <a:solidFill>
                  <a:srgbClr val="2563EB"/>
                </a:solidFill>
              </a:rPr>
              <a:t>≈ 5.5 phút </a:t>
            </a:r>
            <a:r>
              <a:rPr sz="1000" i="1">
                <a:solidFill>
                  <a:srgbClr val="64748B"/>
                </a:solidFill>
              </a:rPr>
              <a:t>(Chậm hơn CPU ~300 lần)</a:t>
            </a:r>
          </a:p>
          <a:p>
            <a:pPr>
              <a:spcAft>
                <a:spcPts val="400"/>
              </a:spcAft>
              <a:defRPr sz="1100" b="1">
                <a:solidFill>
                  <a:srgbClr val="0F172A"/>
                </a:solidFill>
              </a:defRPr>
            </a:pPr>
            <a:r>
              <a:t>• Đọc ổ đĩa SSD NVMe: </a:t>
            </a:r>
            <a:r>
              <a:rPr sz="1050">
                <a:solidFill>
                  <a:srgbClr val="64748B"/>
                </a:solidFill>
              </a:rPr>
              <a:t>150,000 ns </a:t>
            </a:r>
            <a:r>
              <a:rPr sz="1100" b="1">
                <a:solidFill>
                  <a:srgbClr val="D97706"/>
                </a:solidFill>
              </a:rPr>
              <a:t>≈ 5.8 ngày </a:t>
            </a:r>
            <a:r>
              <a:rPr sz="1000" i="1">
                <a:solidFill>
                  <a:srgbClr val="64748B"/>
                </a:solidFill>
              </a:rPr>
              <a:t>(CPU phải chờ gần 1 tuần!)</a:t>
            </a:r>
          </a:p>
          <a:p>
            <a:pPr>
              <a:spcAft>
                <a:spcPts val="400"/>
              </a:spcAft>
              <a:defRPr sz="1100" b="1">
                <a:solidFill>
                  <a:srgbClr val="0F172A"/>
                </a:solidFill>
              </a:defRPr>
            </a:pPr>
            <a:r>
              <a:t>• Gửi gói tin Mạng (Ping nội địa): </a:t>
            </a:r>
            <a:r>
              <a:rPr sz="1050">
                <a:solidFill>
                  <a:srgbClr val="64748B"/>
                </a:solidFill>
              </a:rPr>
              <a:t>40,000,000 ns </a:t>
            </a:r>
            <a:r>
              <a:rPr sz="1100" b="1">
                <a:solidFill>
                  <a:srgbClr val="E11D48"/>
                </a:solidFill>
              </a:rPr>
              <a:t>≈ 4.2 năm </a:t>
            </a:r>
            <a:r>
              <a:rPr sz="1000" i="1">
                <a:solidFill>
                  <a:srgbClr val="64748B"/>
                </a:solidFill>
              </a:rPr>
              <a:t>(CPU bị đóng băng hơn 4 năm!)</a:t>
            </a:r>
          </a:p>
          <a:p>
            <a:pPr>
              <a:spcAft>
                <a:spcPts val="400"/>
              </a:spcAft>
              <a:defRPr sz="1100" b="1">
                <a:solidFill>
                  <a:srgbClr val="0F172A"/>
                </a:solidFill>
              </a:defRPr>
            </a:pPr>
            <a:r>
              <a:t>• Gọi API Internet quốc tế: </a:t>
            </a:r>
            <a:r>
              <a:rPr sz="1050">
                <a:solidFill>
                  <a:srgbClr val="64748B"/>
                </a:solidFill>
              </a:rPr>
              <a:t>150,000,000 ns </a:t>
            </a:r>
            <a:r>
              <a:rPr sz="1100" b="1">
                <a:solidFill>
                  <a:srgbClr val="E11D48"/>
                </a:solidFill>
              </a:rPr>
              <a:t>≈ 15.8 năm </a:t>
            </a:r>
            <a:r>
              <a:rPr sz="1000" i="1">
                <a:solidFill>
                  <a:srgbClr val="64748B"/>
                </a:solidFill>
              </a:rPr>
              <a:t>(CPU ngủ đông cả một thế hệ!)</a:t>
            </a:r>
          </a:p>
        </p:txBody>
      </p:sp>
      <p:sp>
        <p:nvSpPr>
          <p:cNvPr id="10" name="Rounded Rectangle 9"/>
          <p:cNvSpPr/>
          <p:nvPr/>
        </p:nvSpPr>
        <p:spPr>
          <a:xfrm>
            <a:off x="731520" y="1874519"/>
            <a:ext cx="6217920"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0" y="1874519"/>
            <a:ext cx="4327855"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E11D48"/>
                </a:solidFill>
                <a:latin typeface="Segoe UI"/>
              </a:defRPr>
            </a:pPr>
            <a:r>
              <a:t>📉 Nút thắt I/O-Bound và Nỗi đau Tuần tự</a:t>
            </a:r>
          </a:p>
          <a:p>
            <a:pPr>
              <a:defRPr b="1" sz="1200">
                <a:solidFill>
                  <a:srgbClr val="0F172A"/>
                </a:solidFill>
              </a:defRPr>
            </a:pPr>
            <a:r>
              <a:t>1. Định luật Moore đã chạm trần nhiệt học:</a:t>
            </a:r>
          </a:p>
          <a:p>
            <a:pPr>
              <a:spcAft>
                <a:spcPts val="800"/>
              </a:spcAft>
              <a:defRPr sz="1100">
                <a:solidFill>
                  <a:srgbClr val="334155"/>
                </a:solidFill>
              </a:defRPr>
            </a:pPr>
            <a:r>
              <a:t>Tần số xung nhịp CPU không còn tăng vọt (dừng ở 3-5 GHz). Không thể trông chờ CPU tự động chạy nhanh hơn để cứu vãn code tuần tự.</a:t>
            </a:r>
          </a:p>
          <a:p>
            <a:pPr>
              <a:defRPr b="1" sz="1200">
                <a:solidFill>
                  <a:srgbClr val="0F172A"/>
                </a:solidFill>
              </a:defRPr>
            </a:pPr>
            <a:r>
              <a:t>2. 99% thời gian ứng dụng bị 'chết lâm sàng':</a:t>
            </a:r>
          </a:p>
          <a:p>
            <a:pPr>
              <a:spcAft>
                <a:spcPts val="800"/>
              </a:spcAft>
              <a:defRPr sz="1100">
                <a:solidFill>
                  <a:srgbClr val="334155"/>
                </a:solidFill>
              </a:defRPr>
            </a:pPr>
            <a:r>
              <a:t>Trong ứng dụng Web, Database và Microservices, phần lớn thời gian CPU bị 'Idle' (ngồi chờ dữ liệu từ mạng hoặc đĩa). Chạy tuần tự là sự lãng phí tài nguyên khủng khiếp.</a:t>
            </a:r>
          </a:p>
          <a:p>
            <a:pPr>
              <a:defRPr b="1" sz="1200">
                <a:solidFill>
                  <a:srgbClr val="059669"/>
                </a:solidFill>
              </a:defRPr>
            </a:pPr>
            <a:r>
              <a:t>3. Sứ mệnh của Lập trình Hiện đại:</a:t>
            </a:r>
          </a:p>
          <a:p>
            <a:pPr>
              <a:defRPr sz="1100">
                <a:solidFill>
                  <a:srgbClr val="334155"/>
                </a:solidFill>
              </a:defRPr>
            </a:pPr>
            <a:r>
              <a:t>Tận dụng triệt để thời gian CPU phải chờ I/O để thực thi các tác vụ khác mà KHÔNG gây nghẽn toàn hệ thống.</a:t>
            </a:r>
          </a:p>
        </p:txBody>
      </p:sp>
      <p:sp>
        <p:nvSpPr>
          <p:cNvPr id="12" name="Rounded Rectangle 11"/>
          <p:cNvSpPr/>
          <p:nvPr/>
        </p:nvSpPr>
        <p:spPr>
          <a:xfrm>
            <a:off x="7132320" y="1874519"/>
            <a:ext cx="4327855" cy="6350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5623560"/>
            <a:ext cx="1072865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50" b="1">
                <a:solidFill>
                  <a:srgbClr val="E11D48"/>
                </a:solidFill>
                <a:latin typeface="Segoe UI"/>
              </a:defRPr>
            </a:pPr>
            <a:r>
              <a:t>🚨  Quy luật thiết kế: </a:t>
            </a:r>
            <a:r>
              <a:rPr sz="1150" b="0">
                <a:solidFill>
                  <a:srgbClr val="334155"/>
                </a:solidFill>
                <a:latin typeface="Segoe UI"/>
              </a:rPr>
              <a:t>CPU cực nhanh, I/O cực chậm. Bất kỳ kiến trúc phần mềm nào để CPU phải ngồi chờ I/O tuần tự đều là kiến trúc kém hiệu năng.</a:t>
            </a:r>
          </a:p>
        </p:txBody>
      </p:sp>
      <p:sp>
        <p:nvSpPr>
          <p:cNvPr id="14" name="Rounded Rectangle 13"/>
          <p:cNvSpPr/>
          <p:nvPr/>
        </p:nvSpPr>
        <p:spPr>
          <a:xfrm>
            <a:off x="731520" y="5623560"/>
            <a:ext cx="109728" cy="50292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9184"/>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1000" b="1">
                <a:solidFill>
                  <a:srgbClr val="2563EB"/>
                </a:solidFill>
                <a:latin typeface="Segoe UI"/>
              </a:defRPr>
            </a:pPr>
            <a:r>
              <a:t>●  MÔ HÌNH NỀN TẢNG 1</a:t>
            </a:r>
          </a:p>
        </p:txBody>
      </p:sp>
      <p:sp>
        <p:nvSpPr>
          <p:cNvPr id="4" name="TextBox 3"/>
          <p:cNvSpPr txBox="1"/>
          <p:nvPr/>
        </p:nvSpPr>
        <p:spPr>
          <a:xfrm>
            <a:off x="731520" y="749808"/>
            <a:ext cx="10698480" cy="868680"/>
          </a:xfrm>
          <a:prstGeom prst="rect">
            <a:avLst/>
          </a:prstGeom>
          <a:noFill/>
        </p:spPr>
        <p:txBody>
          <a:bodyPr wrap="square" lIns="0" tIns="0">
            <a:spAutoFit/>
          </a:bodyPr>
          <a:lstStyle/>
          <a:p>
            <a:pPr>
              <a:spcAft>
                <a:spcPts val="200"/>
              </a:spcAft>
              <a:defRPr sz="2200" b="1">
                <a:solidFill>
                  <a:srgbClr val="0F172A"/>
                </a:solidFill>
                <a:latin typeface="Segoe UI"/>
              </a:defRPr>
            </a:pPr>
            <a:r>
              <a:t>Xử lý Tuần tự (Sequential Computing): Đơn giản nhưng Tắc nghẽn</a:t>
            </a:r>
          </a:p>
          <a:p>
            <a:pPr>
              <a:defRPr sz="1300">
                <a:solidFill>
                  <a:srgbClr val="64748B"/>
                </a:solidFill>
                <a:latin typeface="Segoe UI"/>
              </a:defRPr>
            </a:pPr>
            <a:r>
              <a:t>Cơ chế thực thi chỉ thị lệnh từng bước một và hiện tượng Nghẽn (Blocking I/O)</a:t>
            </a:r>
          </a:p>
        </p:txBody>
      </p:sp>
      <p:sp>
        <p:nvSpPr>
          <p:cNvPr id="5" name="Rectangle 4"/>
          <p:cNvSpPr/>
          <p:nvPr/>
        </p:nvSpPr>
        <p:spPr>
          <a:xfrm>
            <a:off x="731520" y="169164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6236208"/>
            <a:ext cx="73152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03</a:t>
            </a:r>
          </a:p>
        </p:txBody>
      </p:sp>
      <p:sp>
        <p:nvSpPr>
          <p:cNvPr id="7" name="TextBox 6"/>
          <p:cNvSpPr txBox="1"/>
          <p:nvPr/>
        </p:nvSpPr>
        <p:spPr>
          <a:xfrm>
            <a:off x="1600200" y="6217920"/>
            <a:ext cx="7772400" cy="365760"/>
          </a:xfrm>
          <a:prstGeom prst="rect">
            <a:avLst/>
          </a:prstGeom>
          <a:noFill/>
        </p:spPr>
        <p:txBody>
          <a:bodyPr wrap="none">
            <a:spAutoFit/>
          </a:bodyPr>
          <a:lstStyle/>
          <a:p>
            <a:pPr>
              <a:defRPr sz="1050">
                <a:solidFill>
                  <a:srgbClr val="64748B"/>
                </a:solidFill>
                <a:latin typeface="Segoe UI"/>
              </a:defRPr>
            </a:pPr>
            <a:r>
              <a:t>Tính toán Song song &amp; Phân tán  ›  Chương 4: Lập trình Bất đồng bộ trong Python  ›  Phần I: Nền tảng Lý thuyết</a:t>
            </a:r>
          </a:p>
        </p:txBody>
      </p:sp>
      <p:sp>
        <p:nvSpPr>
          <p:cNvPr id="8" name="TextBox 7"/>
          <p:cNvSpPr txBox="1"/>
          <p:nvPr/>
        </p:nvSpPr>
        <p:spPr>
          <a:xfrm>
            <a:off x="9326880" y="6217920"/>
            <a:ext cx="2133295" cy="365760"/>
          </a:xfrm>
          <a:prstGeom prst="rect">
            <a:avLst/>
          </a:prstGeom>
          <a:noFill/>
        </p:spPr>
        <p:txBody>
          <a:bodyPr wrap="none">
            <a:spAutoFit/>
          </a:bodyPr>
          <a:lstStyle/>
          <a:p>
            <a:pPr algn="r">
              <a:defRPr sz="1000">
                <a:solidFill>
                  <a:srgbClr val="64748B"/>
                </a:solidFill>
                <a:latin typeface="Segoe UI"/>
              </a:defRPr>
            </a:pPr>
            <a:r>
              <a:t>Slide 3 / 12  |  2026 Edition</a:t>
            </a:r>
          </a:p>
        </p:txBody>
      </p:sp>
      <p:sp>
        <p:nvSpPr>
          <p:cNvPr id="9" name="Rounded Rectangle 8"/>
          <p:cNvSpPr/>
          <p:nvPr/>
        </p:nvSpPr>
        <p:spPr>
          <a:xfrm>
            <a:off x="731520" y="1874519"/>
            <a:ext cx="5120640"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0F172A"/>
                </a:solidFill>
                <a:latin typeface="Segoe UI"/>
              </a:defRPr>
            </a:pPr>
            <a:r>
              <a:t>🔍 Bản chất Thực thi Từng bước (Step-by-step)</a:t>
            </a:r>
          </a:p>
          <a:p>
            <a:pPr>
              <a:defRPr b="1" sz="1200">
                <a:solidFill>
                  <a:srgbClr val="0F172A"/>
                </a:solidFill>
              </a:defRPr>
            </a:pPr>
            <a:r>
              <a:t>• Nguyên lý Hoạt động:</a:t>
            </a:r>
          </a:p>
          <a:p>
            <a:pPr>
              <a:spcAft>
                <a:spcPts val="800"/>
              </a:spcAft>
              <a:defRPr sz="1100">
                <a:solidFill>
                  <a:srgbClr val="334155"/>
                </a:solidFill>
              </a:defRPr>
            </a:pPr>
            <a:r>
              <a:t>Chương trình là một chuỗi chỉ thị lệnh liên tiếp:</a:t>
            </a:r>
            <a:br/>
            <a:r>
              <a:t>  Instruction 1  →  Instruction 2  →  Instruction 3 ...</a:t>
            </a:r>
            <a:br/>
            <a:r>
              <a:t>Lệnh phía sau BẮT BUỘC phải đợi lệnh trước hoàn thành 100% mới được nạp vào CPU Pipeline.</a:t>
            </a:r>
          </a:p>
          <a:p>
            <a:pPr>
              <a:defRPr b="1" sz="1200">
                <a:solidFill>
                  <a:srgbClr val="0F172A"/>
                </a:solidFill>
              </a:defRPr>
            </a:pPr>
            <a:r>
              <a:t>• Mô hình Call Stack đơn tuyến:</a:t>
            </a:r>
          </a:p>
          <a:p>
            <a:pPr>
              <a:spcAft>
                <a:spcPts val="800"/>
              </a:spcAft>
              <a:defRPr sz="1100">
                <a:solidFill>
                  <a:srgbClr val="334155"/>
                </a:solidFill>
              </a:defRPr>
            </a:pPr>
            <a:r>
              <a:t>Chỉ có 1 con trỏ lệnh (Program Counter) trên 1 luồng duy nhất. Không thể chuyển hướng sang dòng code khác cho đến khi hàm hiện tại trả về giá trị (Return).</a:t>
            </a:r>
          </a:p>
          <a:p>
            <a:pPr>
              <a:defRPr b="1" sz="1200">
                <a:solidFill>
                  <a:srgbClr val="E11D48"/>
                </a:solidFill>
              </a:defRPr>
            </a:pPr>
            <a:r>
              <a:t>• Công thức thời gian tổng quát:</a:t>
            </a:r>
          </a:p>
          <a:p>
            <a:pPr>
              <a:defRPr sz="1100" b="1">
                <a:solidFill>
                  <a:srgbClr val="0F172A"/>
                </a:solidFill>
              </a:defRPr>
            </a:pPr>
            <a:r>
              <a:t>   T_total = t(Task 1) + t(Task 2) + ... + t(Task N)</a:t>
            </a:r>
            <a:br/>
            <a:r>
              <a:t>Thời gian chạy tỷ lệ tuyến tính O(N) với số lượng tác vụ.</a:t>
            </a:r>
          </a:p>
        </p:txBody>
      </p:sp>
      <p:sp>
        <p:nvSpPr>
          <p:cNvPr id="10" name="Rounded Rectangle 9"/>
          <p:cNvSpPr/>
          <p:nvPr/>
        </p:nvSpPr>
        <p:spPr>
          <a:xfrm>
            <a:off x="731520" y="1874519"/>
            <a:ext cx="5120640" cy="6350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874519"/>
            <a:ext cx="5425135"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2563EB"/>
                </a:solidFill>
                <a:latin typeface="Segoe UI"/>
              </a:defRPr>
            </a:pPr>
            <a:r>
              <a:t>⚖️ Phân tích Ưu - Nhược điểm &amp; Timeline Thực thi</a:t>
            </a:r>
          </a:p>
          <a:p>
            <a:pPr>
              <a:defRPr b="1" sz="1200">
                <a:solidFill>
                  <a:srgbClr val="059669"/>
                </a:solidFill>
              </a:defRPr>
            </a:pPr>
            <a:r>
              <a:t>✅ ƯU ĐIỂM (Tại sao vẫn được dùng?):</a:t>
            </a:r>
          </a:p>
          <a:p>
            <a:pPr>
              <a:spcAft>
                <a:spcPts val="1000"/>
              </a:spcAft>
              <a:defRPr sz="1100">
                <a:solidFill>
                  <a:srgbClr val="334155"/>
                </a:solidFill>
              </a:defRPr>
            </a:pPr>
            <a:r>
              <a:t>• Trực quan, đồng nhất với lối tư duy tự nhiên của con người.</a:t>
            </a:r>
            <a:br/>
            <a:r>
              <a:t>• Dễ debug, dễ kiểm thử (dòng code chạy từ trên xuống dưới).</a:t>
            </a:r>
            <a:br/>
            <a:r>
              <a:t>• Không bao giờ gặp lỗi tranh chấp bộ nhớ (Race Conditions), Deadlock.</a:t>
            </a:r>
          </a:p>
          <a:p>
            <a:pPr>
              <a:defRPr b="1" sz="1200">
                <a:solidFill>
                  <a:srgbClr val="E11D48"/>
                </a:solidFill>
              </a:defRPr>
            </a:pPr>
            <a:r>
              <a:t>❌ NHƯỢC ĐIỂM CỐT TỬ (Head-of-Line Blocking):</a:t>
            </a:r>
          </a:p>
          <a:p>
            <a:pPr>
              <a:spcAft>
                <a:spcPts val="800"/>
              </a:spcAft>
              <a:defRPr sz="1100">
                <a:solidFill>
                  <a:srgbClr val="334155"/>
                </a:solidFill>
              </a:defRPr>
            </a:pPr>
            <a:r>
              <a:t>• Nếu Task 1 mất 10 giây chờ tải file từ mạng, toà bộ Task 2, 3, 4 đều bị đóng băng theo (Head-of-Line Blocking).</a:t>
            </a:r>
            <a:br/>
            <a:r>
              <a:t>• Giao diện ứng dụng bị đơ (UI Freeze), máy chủ không thể phục vụ khách hàng thứ 2 khi khách thứ 1 chưa xong.</a:t>
            </a:r>
          </a:p>
          <a:p>
            <a:pPr>
              <a:defRPr sz="1100" b="1">
                <a:solidFill>
                  <a:srgbClr val="E11D48"/>
                </a:solidFill>
                <a:latin typeface="Consolas"/>
              </a:defRPr>
            </a:pPr>
            <a:r>
              <a:t>📊 Timeline: [ Task 1 (Wait I/O...) ] → [ Task 2 ] → [ Task 3 ]</a:t>
            </a:r>
          </a:p>
        </p:txBody>
      </p:sp>
      <p:sp>
        <p:nvSpPr>
          <p:cNvPr id="12" name="Rounded Rectangle 11"/>
          <p:cNvSpPr/>
          <p:nvPr/>
        </p:nvSpPr>
        <p:spPr>
          <a:xfrm>
            <a:off x="6035040" y="1874519"/>
            <a:ext cx="5425135"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5623560"/>
            <a:ext cx="1072865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50" b="1">
                <a:solidFill>
                  <a:srgbClr val="2563EB"/>
                </a:solidFill>
                <a:latin typeface="Segoe UI"/>
              </a:defRPr>
            </a:pPr>
            <a:r>
              <a:t>💡  Bản chất cốt lõi: </a:t>
            </a:r>
            <a:r>
              <a:rPr sz="1150" b="0">
                <a:solidFill>
                  <a:srgbClr val="334155"/>
                </a:solidFill>
                <a:latin typeface="Segoe UI"/>
              </a:rPr>
              <a:t>Tuần tự chỉ phù hợp với các thuật toán thuần toán học đơn giản. Trong kỷ nguyên phân tán và kết nối mạng, tuần tự là 'kẻ thù' của hiệu năng.</a:t>
            </a:r>
          </a:p>
        </p:txBody>
      </p:sp>
      <p:sp>
        <p:nvSpPr>
          <p:cNvPr id="14" name="Rounded Rectangle 13"/>
          <p:cNvSpPr/>
          <p:nvPr/>
        </p:nvSpPr>
        <p:spPr>
          <a:xfrm>
            <a:off x="731520" y="5623560"/>
            <a:ext cx="109728"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9184"/>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1000" b="1">
                <a:solidFill>
                  <a:srgbClr val="2563EB"/>
                </a:solidFill>
                <a:latin typeface="Segoe UI"/>
              </a:defRPr>
            </a:pPr>
            <a:r>
              <a:t>●  MÔ HÌNH NỀN TẢNG 2</a:t>
            </a:r>
          </a:p>
        </p:txBody>
      </p:sp>
      <p:sp>
        <p:nvSpPr>
          <p:cNvPr id="4" name="TextBox 3"/>
          <p:cNvSpPr txBox="1"/>
          <p:nvPr/>
        </p:nvSpPr>
        <p:spPr>
          <a:xfrm>
            <a:off x="731520" y="749808"/>
            <a:ext cx="10698480" cy="868680"/>
          </a:xfrm>
          <a:prstGeom prst="rect">
            <a:avLst/>
          </a:prstGeom>
          <a:noFill/>
        </p:spPr>
        <p:txBody>
          <a:bodyPr wrap="square" lIns="0" tIns="0">
            <a:spAutoFit/>
          </a:bodyPr>
          <a:lstStyle/>
          <a:p>
            <a:pPr>
              <a:spcAft>
                <a:spcPts val="200"/>
              </a:spcAft>
              <a:defRPr sz="2200" b="1">
                <a:solidFill>
                  <a:srgbClr val="0F172A"/>
                </a:solidFill>
                <a:latin typeface="Segoe UI"/>
              </a:defRPr>
            </a:pPr>
            <a:r>
              <a:t>Xử lý Đồng thời (Concurrency): Nghệ thuật Điều phối Đa nhiệm</a:t>
            </a:r>
          </a:p>
          <a:p>
            <a:pPr>
              <a:defRPr sz="1300">
                <a:solidFill>
                  <a:srgbClr val="64748B"/>
                </a:solidFill>
                <a:latin typeface="Segoe UI"/>
              </a:defRPr>
            </a:pPr>
            <a:r>
              <a:t>Đồng thời là về CẤU TRÚC chương trình, không đồng nghĩa với chạy song song vật lý</a:t>
            </a:r>
          </a:p>
        </p:txBody>
      </p:sp>
      <p:sp>
        <p:nvSpPr>
          <p:cNvPr id="5" name="Rectangle 4"/>
          <p:cNvSpPr/>
          <p:nvPr/>
        </p:nvSpPr>
        <p:spPr>
          <a:xfrm>
            <a:off x="731520" y="169164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6236208"/>
            <a:ext cx="73152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04</a:t>
            </a:r>
          </a:p>
        </p:txBody>
      </p:sp>
      <p:sp>
        <p:nvSpPr>
          <p:cNvPr id="7" name="TextBox 6"/>
          <p:cNvSpPr txBox="1"/>
          <p:nvPr/>
        </p:nvSpPr>
        <p:spPr>
          <a:xfrm>
            <a:off x="1600200" y="6217920"/>
            <a:ext cx="7772400" cy="365760"/>
          </a:xfrm>
          <a:prstGeom prst="rect">
            <a:avLst/>
          </a:prstGeom>
          <a:noFill/>
        </p:spPr>
        <p:txBody>
          <a:bodyPr wrap="none">
            <a:spAutoFit/>
          </a:bodyPr>
          <a:lstStyle/>
          <a:p>
            <a:pPr>
              <a:defRPr sz="1050">
                <a:solidFill>
                  <a:srgbClr val="64748B"/>
                </a:solidFill>
                <a:latin typeface="Segoe UI"/>
              </a:defRPr>
            </a:pPr>
            <a:r>
              <a:t>Tính toán Song song &amp; Phân tán  ›  Chương 4: Lập trình Bất đồng bộ trong Python  ›  Phần I: Nền tảng Lý thuyết</a:t>
            </a:r>
          </a:p>
        </p:txBody>
      </p:sp>
      <p:sp>
        <p:nvSpPr>
          <p:cNvPr id="8" name="TextBox 7"/>
          <p:cNvSpPr txBox="1"/>
          <p:nvPr/>
        </p:nvSpPr>
        <p:spPr>
          <a:xfrm>
            <a:off x="9326880" y="6217920"/>
            <a:ext cx="2133295" cy="365760"/>
          </a:xfrm>
          <a:prstGeom prst="rect">
            <a:avLst/>
          </a:prstGeom>
          <a:noFill/>
        </p:spPr>
        <p:txBody>
          <a:bodyPr wrap="none">
            <a:spAutoFit/>
          </a:bodyPr>
          <a:lstStyle/>
          <a:p>
            <a:pPr algn="r">
              <a:defRPr sz="1000">
                <a:solidFill>
                  <a:srgbClr val="64748B"/>
                </a:solidFill>
                <a:latin typeface="Segoe UI"/>
              </a:defRPr>
            </a:pPr>
            <a:r>
              <a:t>Slide 4 / 12  |  2026 Edition</a:t>
            </a:r>
          </a:p>
        </p:txBody>
      </p:sp>
      <p:sp>
        <p:nvSpPr>
          <p:cNvPr id="9" name="Rounded Rectangle 8"/>
          <p:cNvSpPr/>
          <p:nvPr/>
        </p:nvSpPr>
        <p:spPr>
          <a:xfrm>
            <a:off x="731520" y="1874519"/>
            <a:ext cx="10728655" cy="777240"/>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300" b="1" i="1">
                <a:solidFill>
                  <a:srgbClr val="2563EB"/>
                </a:solidFill>
                <a:latin typeface="Segoe UI"/>
              </a:defRPr>
            </a:pPr>
            <a:r>
              <a:t>“Concurrency is about dealing with lots of things at once. Parallelism is about doing lots of things at once.”</a:t>
            </a:r>
          </a:p>
          <a:p>
            <a:pPr>
              <a:defRPr sz="1100">
                <a:solidFill>
                  <a:srgbClr val="64748B"/>
                </a:solidFill>
                <a:latin typeface="Segoe UI"/>
              </a:defRPr>
            </a:pPr>
            <a:r>
              <a:t>— Rob Pike (Đồng tác giả hệ điều hành Plan 9, UTF-8 và ngôn ngữ Go)</a:t>
            </a:r>
          </a:p>
        </p:txBody>
      </p:sp>
      <p:sp>
        <p:nvSpPr>
          <p:cNvPr id="10" name="Rounded Rectangle 9"/>
          <p:cNvSpPr/>
          <p:nvPr/>
        </p:nvSpPr>
        <p:spPr>
          <a:xfrm>
            <a:off x="731520" y="2788920"/>
            <a:ext cx="5212080" cy="26974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2563EB"/>
                </a:solidFill>
                <a:latin typeface="Segoe UI"/>
              </a:defRPr>
            </a:pPr>
            <a:r>
              <a:t>⚙️ Cơ chế Phân chia Thời gian (Time-Slicing)</a:t>
            </a:r>
          </a:p>
          <a:p>
            <a:pPr>
              <a:defRPr b="1" sz="1150">
                <a:solidFill>
                  <a:srgbClr val="0F172A"/>
                </a:solidFill>
              </a:defRPr>
            </a:pPr>
            <a:r>
              <a:t>• Khái niệm học thuật chuẩn xác:</a:t>
            </a:r>
          </a:p>
          <a:p>
            <a:pPr>
              <a:spcAft>
                <a:spcPts val="600"/>
              </a:spcAft>
              <a:defRPr sz="1100">
                <a:solidFill>
                  <a:srgbClr val="334155"/>
                </a:solidFill>
              </a:defRPr>
            </a:pPr>
            <a:r>
              <a:t>Hệ thống quản lý và xúc tiến NHIỀU tác vụ trong CÙNG MỘT KHOẢNG THỜI GIAN, nhưng tại MỘT THỜI ĐIỂM CỤ THỂ trên 1 nhân CPU, chỉ có 1 tác vụ được xử lý.</a:t>
            </a:r>
          </a:p>
          <a:p>
            <a:pPr>
              <a:defRPr b="1" sz="1150">
                <a:solidFill>
                  <a:srgbClr val="2563EB"/>
                </a:solidFill>
              </a:defRPr>
            </a:pPr>
            <a:r>
              <a:t>• Ảo ảnh Thực thi Đồng thời (Illusion of Parallelism):</a:t>
            </a:r>
          </a:p>
          <a:p>
            <a:pPr>
              <a:defRPr sz="1100">
                <a:solidFill>
                  <a:srgbClr val="334155"/>
                </a:solidFill>
              </a:defRPr>
            </a:pPr>
            <a:r>
              <a:t>CPU hoán đổi qua lại giữa Task 1, Task 2, Task 3 với tốc độ hàng triệu lần mỗi giây (Context Switching). Người dùng có cảm giác các ứng dụng đang chạy cùng lúc.</a:t>
            </a:r>
          </a:p>
        </p:txBody>
      </p:sp>
      <p:sp>
        <p:nvSpPr>
          <p:cNvPr id="11" name="Rounded Rectangle 10"/>
          <p:cNvSpPr/>
          <p:nvPr/>
        </p:nvSpPr>
        <p:spPr>
          <a:xfrm>
            <a:off x="731520" y="2788920"/>
            <a:ext cx="5212080"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0" y="2788920"/>
            <a:ext cx="5333695" cy="26974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059669"/>
                </a:solidFill>
                <a:latin typeface="Segoe UI"/>
              </a:defRPr>
            </a:pPr>
            <a:r>
              <a:t>🎯 Trọng tâm Thiết kế: Khả năng Phản hồi (Responsiveness)</a:t>
            </a:r>
          </a:p>
          <a:p>
            <a:pPr>
              <a:defRPr b="1" sz="1150">
                <a:solidFill>
                  <a:srgbClr val="0F172A"/>
                </a:solidFill>
              </a:defRPr>
            </a:pPr>
            <a:r>
              <a:t>• Mục tiêu Tối thượng của Concurrency:</a:t>
            </a:r>
          </a:p>
          <a:p>
            <a:pPr>
              <a:spcAft>
                <a:spcPts val="600"/>
              </a:spcAft>
              <a:defRPr sz="1100">
                <a:solidFill>
                  <a:srgbClr val="334155"/>
                </a:solidFill>
              </a:defRPr>
            </a:pPr>
            <a:r>
              <a:t>Không nhằm mục tiêu làm cho 1 phép tính chạy nhanh hơn! Mục tiêu là giữ cho hệ thống luôn PHẢN HỒI (Responsive), không bị đơ khi có tác vụ mất thời gian.</a:t>
            </a:r>
          </a:p>
          <a:p>
            <a:pPr>
              <a:defRPr b="1" sz="1150">
                <a:solidFill>
                  <a:srgbClr val="059669"/>
                </a:solidFill>
              </a:defRPr>
            </a:pPr>
            <a:r>
              <a:t>• Ứng dụng Thực tế Đỉnh cao:</a:t>
            </a:r>
          </a:p>
          <a:p>
            <a:pPr>
              <a:defRPr sz="1100">
                <a:solidFill>
                  <a:srgbClr val="334155"/>
                </a:solidFill>
              </a:defRPr>
            </a:pPr>
            <a:r>
              <a:t>• Web Server: Phục vụ 10.000 users đang duyệt web cùng lúc.</a:t>
            </a:r>
            <a:br/>
            <a:r>
              <a:t>• Ứng dụng Desktop: Tải file dung lượng lớn ở nền (Background) trong khi người dùng vẫn gõ phím mượt mà trên giao diện (UI).</a:t>
            </a:r>
          </a:p>
        </p:txBody>
      </p:sp>
      <p:sp>
        <p:nvSpPr>
          <p:cNvPr id="13" name="Rounded Rectangle 12"/>
          <p:cNvSpPr/>
          <p:nvPr/>
        </p:nvSpPr>
        <p:spPr>
          <a:xfrm>
            <a:off x="6126480" y="2788920"/>
            <a:ext cx="5333695" cy="635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5623560"/>
            <a:ext cx="1072865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50" b="1">
                <a:solidFill>
                  <a:srgbClr val="2563EB"/>
                </a:solidFill>
                <a:latin typeface="Segoe UI"/>
              </a:defRPr>
            </a:pPr>
            <a:r>
              <a:t>🧠  Góc nhìn Kiến trúc sư: </a:t>
            </a:r>
            <a:r>
              <a:rPr sz="1150" b="0">
                <a:solidFill>
                  <a:srgbClr val="334155"/>
                </a:solidFill>
                <a:latin typeface="Segoe UI"/>
              </a:rPr>
              <a:t>Concurrency giải quyết bài toán: 'Làm thế nào để phần mềm xử lý nhiều luồng dữ liệu độc lập mà không làm đứng máy?' kể cả trên máy chỉ có 1 CPU.</a:t>
            </a:r>
          </a:p>
        </p:txBody>
      </p:sp>
      <p:sp>
        <p:nvSpPr>
          <p:cNvPr id="15" name="Rounded Rectangle 14"/>
          <p:cNvSpPr/>
          <p:nvPr/>
        </p:nvSpPr>
        <p:spPr>
          <a:xfrm>
            <a:off x="731520" y="5623560"/>
            <a:ext cx="109728"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9184"/>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1000" b="1">
                <a:solidFill>
                  <a:srgbClr val="2563EB"/>
                </a:solidFill>
                <a:latin typeface="Segoe UI"/>
              </a:defRPr>
            </a:pPr>
            <a:r>
              <a:t>●  MÔ HÌNH NỀN TẢNG 3</a:t>
            </a:r>
          </a:p>
        </p:txBody>
      </p:sp>
      <p:sp>
        <p:nvSpPr>
          <p:cNvPr id="4" name="TextBox 3"/>
          <p:cNvSpPr txBox="1"/>
          <p:nvPr/>
        </p:nvSpPr>
        <p:spPr>
          <a:xfrm>
            <a:off x="731520" y="749808"/>
            <a:ext cx="10698480" cy="868680"/>
          </a:xfrm>
          <a:prstGeom prst="rect">
            <a:avLst/>
          </a:prstGeom>
          <a:noFill/>
        </p:spPr>
        <p:txBody>
          <a:bodyPr wrap="square" lIns="0" tIns="0">
            <a:spAutoFit/>
          </a:bodyPr>
          <a:lstStyle/>
          <a:p>
            <a:pPr>
              <a:spcAft>
                <a:spcPts val="200"/>
              </a:spcAft>
              <a:defRPr sz="2200" b="1">
                <a:solidFill>
                  <a:srgbClr val="0F172A"/>
                </a:solidFill>
                <a:latin typeface="Segoe UI"/>
              </a:defRPr>
            </a:pPr>
            <a:r>
              <a:t>Xử lý Song song (Parallelism): Sức mạnh Phần cứng Đa nhân</a:t>
            </a:r>
          </a:p>
          <a:p>
            <a:pPr>
              <a:defRPr sz="1300">
                <a:solidFill>
                  <a:srgbClr val="64748B"/>
                </a:solidFill>
                <a:latin typeface="Segoe UI"/>
              </a:defRPr>
            </a:pPr>
            <a:r>
              <a:t>Thực thi đồng thời thực sự tại cùng một thời điểm chính xác trên các nhân CPU vật lý</a:t>
            </a:r>
          </a:p>
        </p:txBody>
      </p:sp>
      <p:sp>
        <p:nvSpPr>
          <p:cNvPr id="5" name="Rectangle 4"/>
          <p:cNvSpPr/>
          <p:nvPr/>
        </p:nvSpPr>
        <p:spPr>
          <a:xfrm>
            <a:off x="731520" y="169164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6236208"/>
            <a:ext cx="73152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05</a:t>
            </a:r>
          </a:p>
        </p:txBody>
      </p:sp>
      <p:sp>
        <p:nvSpPr>
          <p:cNvPr id="7" name="TextBox 6"/>
          <p:cNvSpPr txBox="1"/>
          <p:nvPr/>
        </p:nvSpPr>
        <p:spPr>
          <a:xfrm>
            <a:off x="1600200" y="6217920"/>
            <a:ext cx="7772400" cy="365760"/>
          </a:xfrm>
          <a:prstGeom prst="rect">
            <a:avLst/>
          </a:prstGeom>
          <a:noFill/>
        </p:spPr>
        <p:txBody>
          <a:bodyPr wrap="none">
            <a:spAutoFit/>
          </a:bodyPr>
          <a:lstStyle/>
          <a:p>
            <a:pPr>
              <a:defRPr sz="1050">
                <a:solidFill>
                  <a:srgbClr val="64748B"/>
                </a:solidFill>
                <a:latin typeface="Segoe UI"/>
              </a:defRPr>
            </a:pPr>
            <a:r>
              <a:t>Tính toán Song song &amp; Phân tán  ›  Chương 4: Lập trình Bất đồng bộ trong Python  ›  Phần I: Nền tảng Lý thuyết</a:t>
            </a:r>
          </a:p>
        </p:txBody>
      </p:sp>
      <p:sp>
        <p:nvSpPr>
          <p:cNvPr id="8" name="TextBox 7"/>
          <p:cNvSpPr txBox="1"/>
          <p:nvPr/>
        </p:nvSpPr>
        <p:spPr>
          <a:xfrm>
            <a:off x="9326880" y="6217920"/>
            <a:ext cx="2133295" cy="365760"/>
          </a:xfrm>
          <a:prstGeom prst="rect">
            <a:avLst/>
          </a:prstGeom>
          <a:noFill/>
        </p:spPr>
        <p:txBody>
          <a:bodyPr wrap="none">
            <a:spAutoFit/>
          </a:bodyPr>
          <a:lstStyle/>
          <a:p>
            <a:pPr algn="r">
              <a:defRPr sz="1000">
                <a:solidFill>
                  <a:srgbClr val="64748B"/>
                </a:solidFill>
                <a:latin typeface="Segoe UI"/>
              </a:defRPr>
            </a:pPr>
            <a:r>
              <a:t>Slide 5 / 12  |  2026 Edition</a:t>
            </a:r>
          </a:p>
        </p:txBody>
      </p:sp>
      <p:sp>
        <p:nvSpPr>
          <p:cNvPr id="9" name="Rounded Rectangle 8"/>
          <p:cNvSpPr/>
          <p:nvPr/>
        </p:nvSpPr>
        <p:spPr>
          <a:xfrm>
            <a:off x="731520" y="1874519"/>
            <a:ext cx="5120640"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7C3AED"/>
                </a:solidFill>
                <a:latin typeface="Segoe UI"/>
              </a:defRPr>
            </a:pPr>
            <a:r>
              <a:t>⚡ Sức mạnh Vật lý Đa nhân (Multi-Core)</a:t>
            </a:r>
          </a:p>
          <a:p>
            <a:pPr>
              <a:defRPr b="1" sz="1200">
                <a:solidFill>
                  <a:srgbClr val="0F172A"/>
                </a:solidFill>
              </a:defRPr>
            </a:pPr>
            <a:r>
              <a:t>• Định nghĩa Kỹ thuật Chuẩn mực:</a:t>
            </a:r>
          </a:p>
          <a:p>
            <a:pPr>
              <a:spcAft>
                <a:spcPts val="800"/>
              </a:spcAft>
              <a:defRPr sz="1100">
                <a:solidFill>
                  <a:srgbClr val="334155"/>
                </a:solidFill>
              </a:defRPr>
            </a:pPr>
            <a:r>
              <a:t>Nhiều tác vụ khác nhau được thực thi tại CÙNG MỘT THỜI ĐIỂM CHÍNH XÁC (Simultaneous Execution).</a:t>
            </a:r>
            <a:br/>
            <a:r>
              <a:t>Điều kiện tiên quyết: BẮT BUỘC máy tính phải có từ 2 nhân vật lý trở lên (Hardware Multi-core &gt; 1).</a:t>
            </a:r>
          </a:p>
          <a:p>
            <a:pPr>
              <a:defRPr b="1" sz="1200">
                <a:solidFill>
                  <a:srgbClr val="7C3AED"/>
                </a:solidFill>
              </a:defRPr>
            </a:pPr>
            <a:r>
              <a:t>• Tính Độc lập Hoàn toàn (Isolation):</a:t>
            </a:r>
          </a:p>
          <a:p>
            <a:pPr>
              <a:spcAft>
                <a:spcPts val="800"/>
              </a:spcAft>
              <a:defRPr sz="1100">
                <a:solidFill>
                  <a:srgbClr val="334155"/>
                </a:solidFill>
              </a:defRPr>
            </a:pPr>
            <a:r>
              <a:t>Core 1 chạy Task A, Core 2 chạy Task B. Hai nhân có ALU (Arithmetic Logic Unit), thanh ghi và cache L1 riêng biệt, hoạt động độc lập không phụ thuộc vào nhau.</a:t>
            </a:r>
          </a:p>
          <a:p>
            <a:pPr>
              <a:defRPr b="1" sz="1100">
                <a:solidFill>
                  <a:srgbClr val="059669"/>
                </a:solidFill>
              </a:defRPr>
            </a:pPr>
            <a:r>
              <a:t>• Mục tiêu: TỐI ĐA HÓA THÔNG LƯỢNG (Throughput) &amp; RÚT NGẮN THỜI GIAN TÍNH TOÁN.</a:t>
            </a:r>
          </a:p>
        </p:txBody>
      </p:sp>
      <p:sp>
        <p:nvSpPr>
          <p:cNvPr id="10" name="Rounded Rectangle 9"/>
          <p:cNvSpPr/>
          <p:nvPr/>
        </p:nvSpPr>
        <p:spPr>
          <a:xfrm>
            <a:off x="731520" y="1874519"/>
            <a:ext cx="5120640" cy="635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874519"/>
            <a:ext cx="5425135"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2563EB"/>
                </a:solidFill>
                <a:latin typeface="Segoe UI"/>
              </a:defRPr>
            </a:pPr>
            <a:r>
              <a:t>🧩 Hai Trường phái Song song Kinh điển</a:t>
            </a:r>
          </a:p>
          <a:p>
            <a:pPr>
              <a:defRPr b="1" sz="1200">
                <a:solidFill>
                  <a:srgbClr val="2563EB"/>
                </a:solidFill>
              </a:defRPr>
            </a:pPr>
            <a:r>
              <a:t>1. Song song Dữ liệu (Data Parallelism):</a:t>
            </a:r>
          </a:p>
          <a:p>
            <a:pPr>
              <a:spcAft>
                <a:spcPts val="1000"/>
              </a:spcAft>
              <a:defRPr sz="1100">
                <a:solidFill>
                  <a:srgbClr val="334155"/>
                </a:solidFill>
              </a:defRPr>
            </a:pPr>
            <a:r>
              <a:t>• Cùng một phép tính, nhưng áp dụng trên các tập dữ liệu khác nhau.</a:t>
            </a:r>
            <a:br/>
            <a:r>
              <a:t>• Ví dụ: Nhân 2 ma trận kích thước 10.000 x 10.000. Core 1 tính hàng 1-2500, Core 2 tính hàng 2501-5000...</a:t>
            </a:r>
            <a:br/>
            <a:r>
              <a:t>• Ứng dụng: Machine Learning, GPU Compute, Đồ họa 3D.</a:t>
            </a:r>
          </a:p>
          <a:p>
            <a:pPr>
              <a:defRPr b="1" sz="1200">
                <a:solidFill>
                  <a:srgbClr val="7C3AED"/>
                </a:solidFill>
              </a:defRPr>
            </a:pPr>
            <a:r>
              <a:t>2. Song song Tác vụ (Task Parallelism):</a:t>
            </a:r>
          </a:p>
          <a:p>
            <a:pPr>
              <a:defRPr sz="1100">
                <a:solidFill>
                  <a:srgbClr val="334155"/>
                </a:solidFill>
              </a:defRPr>
            </a:pPr>
            <a:r>
              <a:t>• Các nhân chạy các chức năng hoàn toàn khác nhau trên cùng dữ liệu.</a:t>
            </a:r>
            <a:br/>
            <a:r>
              <a:t>• Ví dụ: Core 1 render video 4K, Core 2 mã hóa âm thanh surround, Core 3 tải dữ liệu từ ổ đĩa.</a:t>
            </a:r>
            <a:br/>
            <a:r>
              <a:t>• Ứng dụng: Hệ điều hành, Game Engines, Phần mềm biên tập đồ họa.</a:t>
            </a:r>
          </a:p>
        </p:txBody>
      </p:sp>
      <p:sp>
        <p:nvSpPr>
          <p:cNvPr id="12" name="Rounded Rectangle 11"/>
          <p:cNvSpPr/>
          <p:nvPr/>
        </p:nvSpPr>
        <p:spPr>
          <a:xfrm>
            <a:off x="6035040" y="1874519"/>
            <a:ext cx="5425135"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5623560"/>
            <a:ext cx="1072865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50" b="1">
                <a:solidFill>
                  <a:srgbClr val="7C3AED"/>
                </a:solidFill>
                <a:latin typeface="Segoe UI"/>
              </a:defRPr>
            </a:pPr>
            <a:r>
              <a:t>🔬  Nguyên lý vật lý: </a:t>
            </a:r>
            <a:r>
              <a:rPr sz="1150" b="0">
                <a:solidFill>
                  <a:srgbClr val="334155"/>
                </a:solidFill>
                <a:latin typeface="Segoe UI"/>
              </a:rPr>
              <a:t>Nếu không có từ 2 nhân CPU vật lý trở lên, KHÔNG THỂ có xử lý song song thực sự. Mọi nỗ lực song song trên 1 nhân CPU chỉ là xử lý đồng thời.</a:t>
            </a:r>
          </a:p>
        </p:txBody>
      </p:sp>
      <p:sp>
        <p:nvSpPr>
          <p:cNvPr id="14" name="Rounded Rectangle 13"/>
          <p:cNvSpPr/>
          <p:nvPr/>
        </p:nvSpPr>
        <p:spPr>
          <a:xfrm>
            <a:off x="731520" y="5623560"/>
            <a:ext cx="109728" cy="5029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9184"/>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1000" b="1">
                <a:solidFill>
                  <a:srgbClr val="2563EB"/>
                </a:solidFill>
                <a:latin typeface="Segoe UI"/>
              </a:defRPr>
            </a:pPr>
            <a:r>
              <a:t>●  PHÂN ĐỊNH KHÁI NIỆM</a:t>
            </a:r>
          </a:p>
        </p:txBody>
      </p:sp>
      <p:sp>
        <p:nvSpPr>
          <p:cNvPr id="4" name="TextBox 3"/>
          <p:cNvSpPr txBox="1"/>
          <p:nvPr/>
        </p:nvSpPr>
        <p:spPr>
          <a:xfrm>
            <a:off x="731520" y="749808"/>
            <a:ext cx="10698480" cy="868680"/>
          </a:xfrm>
          <a:prstGeom prst="rect">
            <a:avLst/>
          </a:prstGeom>
          <a:noFill/>
        </p:spPr>
        <p:txBody>
          <a:bodyPr wrap="square" lIns="0" tIns="0">
            <a:spAutoFit/>
          </a:bodyPr>
          <a:lstStyle/>
          <a:p>
            <a:pPr>
              <a:spcAft>
                <a:spcPts val="200"/>
              </a:spcAft>
              <a:defRPr sz="2200" b="1">
                <a:solidFill>
                  <a:srgbClr val="0F172A"/>
                </a:solidFill>
                <a:latin typeface="Segoe UI"/>
              </a:defRPr>
            </a:pPr>
            <a:r>
              <a:t>Ma trận Phân định Cốt lõi: Concurrency vs Parallelism</a:t>
            </a:r>
          </a:p>
          <a:p>
            <a:pPr>
              <a:defRPr sz="1300">
                <a:solidFill>
                  <a:srgbClr val="64748B"/>
                </a:solidFill>
                <a:latin typeface="Segoe UI"/>
              </a:defRPr>
            </a:pPr>
            <a:r>
              <a:t>Bản đồ phân biệt ranh giới giữa cấu trúc phần mềm và năng lực phần cứng</a:t>
            </a:r>
          </a:p>
        </p:txBody>
      </p:sp>
      <p:sp>
        <p:nvSpPr>
          <p:cNvPr id="5" name="Rectangle 4"/>
          <p:cNvSpPr/>
          <p:nvPr/>
        </p:nvSpPr>
        <p:spPr>
          <a:xfrm>
            <a:off x="731520" y="169164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6236208"/>
            <a:ext cx="73152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06</a:t>
            </a:r>
          </a:p>
        </p:txBody>
      </p:sp>
      <p:sp>
        <p:nvSpPr>
          <p:cNvPr id="7" name="TextBox 6"/>
          <p:cNvSpPr txBox="1"/>
          <p:nvPr/>
        </p:nvSpPr>
        <p:spPr>
          <a:xfrm>
            <a:off x="1600200" y="6217920"/>
            <a:ext cx="7772400" cy="365760"/>
          </a:xfrm>
          <a:prstGeom prst="rect">
            <a:avLst/>
          </a:prstGeom>
          <a:noFill/>
        </p:spPr>
        <p:txBody>
          <a:bodyPr wrap="none">
            <a:spAutoFit/>
          </a:bodyPr>
          <a:lstStyle/>
          <a:p>
            <a:pPr>
              <a:defRPr sz="1050">
                <a:solidFill>
                  <a:srgbClr val="64748B"/>
                </a:solidFill>
                <a:latin typeface="Segoe UI"/>
              </a:defRPr>
            </a:pPr>
            <a:r>
              <a:t>Tính toán Song song &amp; Phân tán  ›  Chương 4: Lập trình Bất đồng bộ trong Python  ›  Phần I: Nền tảng Lý thuyết</a:t>
            </a:r>
          </a:p>
        </p:txBody>
      </p:sp>
      <p:sp>
        <p:nvSpPr>
          <p:cNvPr id="8" name="TextBox 7"/>
          <p:cNvSpPr txBox="1"/>
          <p:nvPr/>
        </p:nvSpPr>
        <p:spPr>
          <a:xfrm>
            <a:off x="9326880" y="6217920"/>
            <a:ext cx="2133295" cy="365760"/>
          </a:xfrm>
          <a:prstGeom prst="rect">
            <a:avLst/>
          </a:prstGeom>
          <a:noFill/>
        </p:spPr>
        <p:txBody>
          <a:bodyPr wrap="none">
            <a:spAutoFit/>
          </a:bodyPr>
          <a:lstStyle/>
          <a:p>
            <a:pPr algn="r">
              <a:defRPr sz="1000">
                <a:solidFill>
                  <a:srgbClr val="64748B"/>
                </a:solidFill>
                <a:latin typeface="Segoe UI"/>
              </a:defRPr>
            </a:pPr>
            <a:r>
              <a:t>Slide 6 / 12  |  2026 Edition</a:t>
            </a:r>
          </a:p>
        </p:txBody>
      </p:sp>
      <p:graphicFrame>
        <p:nvGraphicFramePr>
          <p:cNvPr id="9" name="Table 8"/>
          <p:cNvGraphicFramePr>
            <a:graphicFrameLocks noGrp="1"/>
          </p:cNvGraphicFramePr>
          <p:nvPr/>
        </p:nvGraphicFramePr>
        <p:xfrm>
          <a:off x="731520" y="1874519"/>
          <a:ext cx="10728655" cy="3566160"/>
        </p:xfrm>
        <a:graphic>
          <a:graphicData uri="http://schemas.openxmlformats.org/drawingml/2006/table">
            <a:tbl>
              <a:tblPr firstRow="1" bandRow="1">
                <a:tableStyleId>{5C22544A-7EE6-4342-B048-85BDC9FD1C3A}</a:tableStyleId>
              </a:tblPr>
              <a:tblGrid>
                <a:gridCol w="2499055"/>
                <a:gridCol w="4114800"/>
                <a:gridCol w="4114800"/>
              </a:tblGrid>
              <a:tr h="594360">
                <a:tc>
                  <a:txBody>
                    <a:bodyPr/>
                    <a:lstStyle/>
                    <a:p>
                      <a:pPr algn="ctr">
                        <a:defRPr sz="1250" b="1">
                          <a:solidFill>
                            <a:srgbClr val="FFFFFF"/>
                          </a:solidFill>
                          <a:latin typeface="Segoe UI"/>
                        </a:defRPr>
                      </a:pPr>
                      <a:r>
                        <a:t>Tiêu chí Phân tích</a:t>
                      </a:r>
                    </a:p>
                  </a:txBody>
                  <a:tcPr>
                    <a:solidFill>
                      <a:srgbClr val="0F172A"/>
                    </a:solidFill>
                  </a:tcPr>
                </a:tc>
                <a:tc>
                  <a:txBody>
                    <a:bodyPr/>
                    <a:lstStyle/>
                    <a:p>
                      <a:pPr algn="ctr">
                        <a:defRPr sz="1250" b="1">
                          <a:solidFill>
                            <a:srgbClr val="FFFFFF"/>
                          </a:solidFill>
                          <a:latin typeface="Segoe UI"/>
                        </a:defRPr>
                      </a:pPr>
                      <a:r>
                        <a:t>ĐỒNG THỜI (CONCURRENCY)</a:t>
                      </a:r>
                    </a:p>
                  </a:txBody>
                  <a:tcPr>
                    <a:solidFill>
                      <a:srgbClr val="2563EB"/>
                    </a:solidFill>
                  </a:tcPr>
                </a:tc>
                <a:tc>
                  <a:txBody>
                    <a:bodyPr/>
                    <a:lstStyle/>
                    <a:p>
                      <a:pPr algn="ctr">
                        <a:defRPr sz="1250" b="1">
                          <a:solidFill>
                            <a:srgbClr val="FFFFFF"/>
                          </a:solidFill>
                          <a:latin typeface="Segoe UI"/>
                        </a:defRPr>
                      </a:pPr>
                      <a:r>
                        <a:t>SONG SONG (PARALLELISM)</a:t>
                      </a:r>
                    </a:p>
                  </a:txBody>
                  <a:tcPr>
                    <a:solidFill>
                      <a:srgbClr val="7C3AED"/>
                    </a:solidFill>
                  </a:tcPr>
                </a:tc>
              </a:tr>
              <a:tr h="594360">
                <a:tc>
                  <a:txBody>
                    <a:bodyPr/>
                    <a:lstStyle/>
                    <a:p>
                      <a:pPr algn="l">
                        <a:defRPr sz="1100" b="1">
                          <a:solidFill>
                            <a:srgbClr val="0F172A"/>
                          </a:solidFill>
                          <a:latin typeface="Segoe UI"/>
                        </a:defRPr>
                      </a:pPr>
                      <a:r>
                        <a:t>Tư tưởng chủ đạo</a:t>
                      </a:r>
                    </a:p>
                  </a:txBody>
                  <a:tcPr>
                    <a:solidFill>
                      <a:srgbClr val="FFFFFF"/>
                    </a:solidFill>
                  </a:tcPr>
                </a:tc>
                <a:tc>
                  <a:txBody>
                    <a:bodyPr/>
                    <a:lstStyle/>
                    <a:p>
                      <a:pPr algn="l">
                        <a:defRPr sz="1100" b="0">
                          <a:solidFill>
                            <a:srgbClr val="2563EB"/>
                          </a:solidFill>
                          <a:latin typeface="Segoe UI"/>
                        </a:defRPr>
                      </a:pPr>
                      <a:r>
                        <a:t>Xử lý NHIỀU việc trong cùng khoảng thời gian</a:t>
                      </a:r>
                      <a:br/>
                      <a:r>
                        <a:t>(Dealing with many things at once)</a:t>
                      </a:r>
                    </a:p>
                  </a:txBody>
                  <a:tcPr>
                    <a:solidFill>
                      <a:srgbClr val="FFFFFF"/>
                    </a:solidFill>
                  </a:tcPr>
                </a:tc>
                <a:tc>
                  <a:txBody>
                    <a:bodyPr/>
                    <a:lstStyle/>
                    <a:p>
                      <a:pPr algn="l">
                        <a:defRPr sz="1100" b="0">
                          <a:solidFill>
                            <a:srgbClr val="7C3AED"/>
                          </a:solidFill>
                          <a:latin typeface="Segoe UI"/>
                        </a:defRPr>
                      </a:pPr>
                      <a:r>
                        <a:t>Thực hiện NHIỀU việc tại CÙNG MỘT THỜI ĐIỂM</a:t>
                      </a:r>
                      <a:br/>
                      <a:r>
                        <a:t>(Doing many things at once)</a:t>
                      </a:r>
                    </a:p>
                  </a:txBody>
                  <a:tcPr>
                    <a:solidFill>
                      <a:srgbClr val="FFFFFF"/>
                    </a:solidFill>
                  </a:tcPr>
                </a:tc>
              </a:tr>
              <a:tr h="594360">
                <a:tc>
                  <a:txBody>
                    <a:bodyPr/>
                    <a:lstStyle/>
                    <a:p>
                      <a:pPr algn="l">
                        <a:defRPr sz="1100" b="1">
                          <a:solidFill>
                            <a:srgbClr val="0F172A"/>
                          </a:solidFill>
                          <a:latin typeface="Segoe UI"/>
                        </a:defRPr>
                      </a:pPr>
                      <a:r>
                        <a:t>Yêu cầu Phần cứng</a:t>
                      </a:r>
                    </a:p>
                  </a:txBody>
                  <a:tcPr>
                    <a:solidFill>
                      <a:srgbClr val="F1F5F9"/>
                    </a:solidFill>
                  </a:tcPr>
                </a:tc>
                <a:tc>
                  <a:txBody>
                    <a:bodyPr/>
                    <a:lstStyle/>
                    <a:p>
                      <a:pPr algn="l">
                        <a:defRPr sz="1100" b="0">
                          <a:solidFill>
                            <a:srgbClr val="2563EB"/>
                          </a:solidFill>
                          <a:latin typeface="Segoe UI"/>
                        </a:defRPr>
                      </a:pPr>
                      <a:r>
                        <a:t>Chỉ cần ≥ 1 nhân CPU (kể cả chip đơn nhân cổ điển)</a:t>
                      </a:r>
                    </a:p>
                  </a:txBody>
                  <a:tcPr>
                    <a:solidFill>
                      <a:srgbClr val="F1F5F9"/>
                    </a:solidFill>
                  </a:tcPr>
                </a:tc>
                <a:tc>
                  <a:txBody>
                    <a:bodyPr/>
                    <a:lstStyle/>
                    <a:p>
                      <a:pPr algn="l">
                        <a:defRPr sz="1100" b="0">
                          <a:solidFill>
                            <a:srgbClr val="7C3AED"/>
                          </a:solidFill>
                          <a:latin typeface="Segoe UI"/>
                        </a:defRPr>
                      </a:pPr>
                      <a:r>
                        <a:t>BẮT BUỘC phải có Đa nhân vật lý (Multi-core / GPU)</a:t>
                      </a:r>
                    </a:p>
                  </a:txBody>
                  <a:tcPr>
                    <a:solidFill>
                      <a:srgbClr val="F1F5F9"/>
                    </a:solidFill>
                  </a:tcPr>
                </a:tc>
              </a:tr>
              <a:tr h="594360">
                <a:tc>
                  <a:txBody>
                    <a:bodyPr/>
                    <a:lstStyle/>
                    <a:p>
                      <a:pPr algn="l">
                        <a:defRPr sz="1100" b="1">
                          <a:solidFill>
                            <a:srgbClr val="0F172A"/>
                          </a:solidFill>
                          <a:latin typeface="Segoe UI"/>
                        </a:defRPr>
                      </a:pPr>
                      <a:r>
                        <a:t>Cơ chế Vận hành</a:t>
                      </a:r>
                    </a:p>
                  </a:txBody>
                  <a:tcPr>
                    <a:solidFill>
                      <a:srgbClr val="FFFFFF"/>
                    </a:solidFill>
                  </a:tcPr>
                </a:tc>
                <a:tc>
                  <a:txBody>
                    <a:bodyPr/>
                    <a:lstStyle/>
                    <a:p>
                      <a:pPr algn="l">
                        <a:defRPr sz="1100" b="0">
                          <a:solidFill>
                            <a:srgbClr val="2563EB"/>
                          </a:solidFill>
                          <a:latin typeface="Segoe UI"/>
                        </a:defRPr>
                      </a:pPr>
                      <a:r>
                        <a:t>Xen kẽ tác vụ (Interleaving), chuyển ngữ cảnh (Context Switching)</a:t>
                      </a:r>
                    </a:p>
                  </a:txBody>
                  <a:tcPr>
                    <a:solidFill>
                      <a:srgbClr val="FFFFFF"/>
                    </a:solidFill>
                  </a:tcPr>
                </a:tc>
                <a:tc>
                  <a:txBody>
                    <a:bodyPr/>
                    <a:lstStyle/>
                    <a:p>
                      <a:pPr algn="l">
                        <a:defRPr sz="1100" b="0">
                          <a:solidFill>
                            <a:srgbClr val="7C3AED"/>
                          </a:solidFill>
                          <a:latin typeface="Segoe UI"/>
                        </a:defRPr>
                      </a:pPr>
                      <a:r>
                        <a:t>Thực thi song song độc lập trên từng mạch phần cứng riêng</a:t>
                      </a:r>
                    </a:p>
                  </a:txBody>
                  <a:tcPr>
                    <a:solidFill>
                      <a:srgbClr val="FFFFFF"/>
                    </a:solidFill>
                  </a:tcPr>
                </a:tc>
              </a:tr>
              <a:tr h="594360">
                <a:tc>
                  <a:txBody>
                    <a:bodyPr/>
                    <a:lstStyle/>
                    <a:p>
                      <a:pPr algn="l">
                        <a:defRPr sz="1100" b="1">
                          <a:solidFill>
                            <a:srgbClr val="0F172A"/>
                          </a:solidFill>
                          <a:latin typeface="Segoe UI"/>
                        </a:defRPr>
                      </a:pPr>
                      <a:r>
                        <a:t>Mục tiêu Tối ưu</a:t>
                      </a:r>
                    </a:p>
                  </a:txBody>
                  <a:tcPr>
                    <a:solidFill>
                      <a:srgbClr val="F1F5F9"/>
                    </a:solidFill>
                  </a:tcPr>
                </a:tc>
                <a:tc>
                  <a:txBody>
                    <a:bodyPr/>
                    <a:lstStyle/>
                    <a:p>
                      <a:pPr algn="l">
                        <a:defRPr sz="1100" b="0">
                          <a:solidFill>
                            <a:srgbClr val="2563EB"/>
                          </a:solidFill>
                          <a:latin typeface="Segoe UI"/>
                        </a:defRPr>
                      </a:pPr>
                      <a:r>
                        <a:t>Tăng Khả năng Phản hồi (Responsiveness), triệt tiêu nghẽn I/O</a:t>
                      </a:r>
                    </a:p>
                  </a:txBody>
                  <a:tcPr>
                    <a:solidFill>
                      <a:srgbClr val="F1F5F9"/>
                    </a:solidFill>
                  </a:tcPr>
                </a:tc>
                <a:tc>
                  <a:txBody>
                    <a:bodyPr/>
                    <a:lstStyle/>
                    <a:p>
                      <a:pPr algn="l">
                        <a:defRPr sz="1100" b="0">
                          <a:solidFill>
                            <a:srgbClr val="7C3AED"/>
                          </a:solidFill>
                          <a:latin typeface="Segoe UI"/>
                        </a:defRPr>
                      </a:pPr>
                      <a:r>
                        <a:t>Giảm Thời gian Xử lý (Latency), tối đa thông lượng tính toán</a:t>
                      </a:r>
                    </a:p>
                  </a:txBody>
                  <a:tcPr>
                    <a:solidFill>
                      <a:srgbClr val="F1F5F9"/>
                    </a:solidFill>
                  </a:tcPr>
                </a:tc>
              </a:tr>
              <a:tr h="594360">
                <a:tc>
                  <a:txBody>
                    <a:bodyPr/>
                    <a:lstStyle/>
                    <a:p>
                      <a:pPr algn="l">
                        <a:defRPr sz="1100" b="1">
                          <a:solidFill>
                            <a:srgbClr val="0F172A"/>
                          </a:solidFill>
                          <a:latin typeface="Segoe UI"/>
                        </a:defRPr>
                      </a:pPr>
                      <a:r>
                        <a:t>Miền Bài toán Phù hợp</a:t>
                      </a:r>
                    </a:p>
                  </a:txBody>
                  <a:tcPr>
                    <a:solidFill>
                      <a:srgbClr val="FFFFFF"/>
                    </a:solidFill>
                  </a:tcPr>
                </a:tc>
                <a:tc>
                  <a:txBody>
                    <a:bodyPr/>
                    <a:lstStyle/>
                    <a:p>
                      <a:pPr algn="l">
                        <a:defRPr sz="1100" b="0">
                          <a:solidFill>
                            <a:srgbClr val="2563EB"/>
                          </a:solidFill>
                          <a:latin typeface="Segoe UI"/>
                        </a:defRPr>
                      </a:pPr>
                      <a:r>
                        <a:t>I/O-Bound (Web servers, API calls, Chat real-time, UI)</a:t>
                      </a:r>
                    </a:p>
                  </a:txBody>
                  <a:tcPr>
                    <a:solidFill>
                      <a:srgbClr val="FFFFFF"/>
                    </a:solidFill>
                  </a:tcPr>
                </a:tc>
                <a:tc>
                  <a:txBody>
                    <a:bodyPr/>
                    <a:lstStyle/>
                    <a:p>
                      <a:pPr algn="l">
                        <a:defRPr sz="1100" b="0">
                          <a:solidFill>
                            <a:srgbClr val="7C3AED"/>
                          </a:solidFill>
                          <a:latin typeface="Segoe UI"/>
                        </a:defRPr>
                      </a:pPr>
                      <a:r>
                        <a:t>CPU-Bound (Trí tuệ nhân tạo, Xử lý ảnh, Mã hóa, Vật lý)</a:t>
                      </a:r>
                    </a:p>
                  </a:txBody>
                  <a:tcPr>
                    <a:solidFill>
                      <a:srgbClr val="FFFFFF"/>
                    </a:solidFill>
                  </a:tcPr>
                </a:tc>
              </a:tr>
            </a:tbl>
          </a:graphicData>
        </a:graphic>
      </p:graphicFrame>
      <p:sp>
        <p:nvSpPr>
          <p:cNvPr id="10" name="Rounded Rectangle 9"/>
          <p:cNvSpPr/>
          <p:nvPr/>
        </p:nvSpPr>
        <p:spPr>
          <a:xfrm>
            <a:off x="731520" y="5623560"/>
            <a:ext cx="1072865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50" b="1">
                <a:solidFill>
                  <a:srgbClr val="2563EB"/>
                </a:solidFill>
                <a:latin typeface="Segoe UI"/>
              </a:defRPr>
            </a:pPr>
            <a:r>
              <a:t>⭐  Quy tắc vàng: </a:t>
            </a:r>
            <a:r>
              <a:rPr sz="1150" b="0">
                <a:solidFill>
                  <a:srgbClr val="334155"/>
                </a:solidFill>
                <a:latin typeface="Segoe UI"/>
              </a:rPr>
              <a:t>Một chương trình có thể đồng thời mà KHÔNG song song (1 nhân chia sẻ thời gian). Nhưng một chương trình song song thì CHẮC CHẮN mang bản chất đồng thời.</a:t>
            </a:r>
          </a:p>
        </p:txBody>
      </p:sp>
      <p:sp>
        <p:nvSpPr>
          <p:cNvPr id="11" name="Rounded Rectangle 10"/>
          <p:cNvSpPr/>
          <p:nvPr/>
        </p:nvSpPr>
        <p:spPr>
          <a:xfrm>
            <a:off x="731520" y="5623560"/>
            <a:ext cx="109728"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9184"/>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1000" b="1">
                <a:solidFill>
                  <a:srgbClr val="2563EB"/>
                </a:solidFill>
                <a:latin typeface="Segoe UI"/>
              </a:defRPr>
            </a:pPr>
            <a:r>
              <a:t>●  ĐẶC THÙ HỆ SINH THÁI</a:t>
            </a:r>
          </a:p>
        </p:txBody>
      </p:sp>
      <p:sp>
        <p:nvSpPr>
          <p:cNvPr id="4" name="TextBox 3"/>
          <p:cNvSpPr txBox="1"/>
          <p:nvPr/>
        </p:nvSpPr>
        <p:spPr>
          <a:xfrm>
            <a:off x="731520" y="749808"/>
            <a:ext cx="10698480" cy="868680"/>
          </a:xfrm>
          <a:prstGeom prst="rect">
            <a:avLst/>
          </a:prstGeom>
          <a:noFill/>
        </p:spPr>
        <p:txBody>
          <a:bodyPr wrap="square" lIns="0" tIns="0">
            <a:spAutoFit/>
          </a:bodyPr>
          <a:lstStyle/>
          <a:p>
            <a:pPr>
              <a:spcAft>
                <a:spcPts val="200"/>
              </a:spcAft>
              <a:defRPr sz="2200" b="1">
                <a:solidFill>
                  <a:srgbClr val="0F172A"/>
                </a:solidFill>
                <a:latin typeface="Segoe UI"/>
              </a:defRPr>
            </a:pPr>
            <a:r>
              <a:t>Lăng kính Python: Cơ chế GIL &amp; Bài toán Lựa chọn Kiến trúc</a:t>
            </a:r>
          </a:p>
          <a:p>
            <a:pPr>
              <a:defRPr sz="1300">
                <a:solidFill>
                  <a:srgbClr val="64748B"/>
                </a:solidFill>
                <a:latin typeface="Segoe UI"/>
              </a:defRPr>
            </a:pPr>
            <a:r>
              <a:t>Giải mã Global Interpreter Lock trong CPython và sự phân hóa: Threading vs Multiprocessing vs Asyncio</a:t>
            </a:r>
          </a:p>
        </p:txBody>
      </p:sp>
      <p:sp>
        <p:nvSpPr>
          <p:cNvPr id="5" name="Rectangle 4"/>
          <p:cNvSpPr/>
          <p:nvPr/>
        </p:nvSpPr>
        <p:spPr>
          <a:xfrm>
            <a:off x="731520" y="169164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6236208"/>
            <a:ext cx="73152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07</a:t>
            </a:r>
          </a:p>
        </p:txBody>
      </p:sp>
      <p:sp>
        <p:nvSpPr>
          <p:cNvPr id="7" name="TextBox 6"/>
          <p:cNvSpPr txBox="1"/>
          <p:nvPr/>
        </p:nvSpPr>
        <p:spPr>
          <a:xfrm>
            <a:off x="1600200" y="6217920"/>
            <a:ext cx="7772400" cy="365760"/>
          </a:xfrm>
          <a:prstGeom prst="rect">
            <a:avLst/>
          </a:prstGeom>
          <a:noFill/>
        </p:spPr>
        <p:txBody>
          <a:bodyPr wrap="none">
            <a:spAutoFit/>
          </a:bodyPr>
          <a:lstStyle/>
          <a:p>
            <a:pPr>
              <a:defRPr sz="1050">
                <a:solidFill>
                  <a:srgbClr val="64748B"/>
                </a:solidFill>
                <a:latin typeface="Segoe UI"/>
              </a:defRPr>
            </a:pPr>
            <a:r>
              <a:t>Tính toán Song song &amp; Phân tán  ›  Chương 4: Lập trình Bất đồng bộ trong Python  ›  Phần I: Nền tảng Lý thuyết</a:t>
            </a:r>
          </a:p>
        </p:txBody>
      </p:sp>
      <p:sp>
        <p:nvSpPr>
          <p:cNvPr id="8" name="TextBox 7"/>
          <p:cNvSpPr txBox="1"/>
          <p:nvPr/>
        </p:nvSpPr>
        <p:spPr>
          <a:xfrm>
            <a:off x="9326880" y="6217920"/>
            <a:ext cx="2133295" cy="365760"/>
          </a:xfrm>
          <a:prstGeom prst="rect">
            <a:avLst/>
          </a:prstGeom>
          <a:noFill/>
        </p:spPr>
        <p:txBody>
          <a:bodyPr wrap="none">
            <a:spAutoFit/>
          </a:bodyPr>
          <a:lstStyle/>
          <a:p>
            <a:pPr algn="r">
              <a:defRPr sz="1000">
                <a:solidFill>
                  <a:srgbClr val="64748B"/>
                </a:solidFill>
                <a:latin typeface="Segoe UI"/>
              </a:defRPr>
            </a:pPr>
            <a:r>
              <a:t>Slide 7 / 12  |  2026 Edition</a:t>
            </a:r>
          </a:p>
        </p:txBody>
      </p:sp>
      <p:sp>
        <p:nvSpPr>
          <p:cNvPr id="9" name="Rounded Rectangle 8"/>
          <p:cNvSpPr/>
          <p:nvPr/>
        </p:nvSpPr>
        <p:spPr>
          <a:xfrm>
            <a:off x="731520" y="1874519"/>
            <a:ext cx="5120640"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E11D48"/>
                </a:solidFill>
                <a:latin typeface="Segoe UI"/>
              </a:defRPr>
            </a:pPr>
            <a:r>
              <a:t>🔒 Rào cản GIL (Global Interpreter Lock) là gì?</a:t>
            </a:r>
          </a:p>
          <a:p>
            <a:pPr>
              <a:defRPr b="1" sz="1200">
                <a:solidFill>
                  <a:srgbClr val="0F172A"/>
                </a:solidFill>
              </a:defRPr>
            </a:pPr>
            <a:r>
              <a:t>• Bản chất của GIL trong CPython:</a:t>
            </a:r>
          </a:p>
          <a:p>
            <a:pPr>
              <a:spcAft>
                <a:spcPts val="800"/>
              </a:spcAft>
              <a:defRPr sz="1100">
                <a:solidFill>
                  <a:srgbClr val="334155"/>
                </a:solidFill>
              </a:defRPr>
            </a:pPr>
            <a:r>
              <a:t>GIL là một cơ chế khóa tương hỗ (Mutex) được thiết kế để bảo vệ việc quản lý bộ nhớ của Python (Reference Counting), ngăn chặn hiện tượng race condition khi giải phóng ô nhớ.</a:t>
            </a:r>
          </a:p>
          <a:p>
            <a:pPr>
              <a:defRPr b="1" sz="1200">
                <a:solidFill>
                  <a:srgbClr val="E11D48"/>
                </a:solidFill>
              </a:defRPr>
            </a:pPr>
            <a:r>
              <a:t>• Hệ quả Cay đắng đối với Đa luồng (Multi-threading):</a:t>
            </a:r>
          </a:p>
          <a:p>
            <a:pPr>
              <a:defRPr sz="1100">
                <a:solidFill>
                  <a:srgbClr val="334155"/>
                </a:solidFill>
              </a:defRPr>
            </a:pPr>
            <a:r>
              <a:t>Dù máy tính có 64 cores, CPython CHỈ CHO PHÉP 1 LUỒNG thực thi Python bytecode tại một thời điểm!</a:t>
            </a:r>
            <a:br/>
            <a:r>
              <a:t>Do đó, dùng `threading` cho các tác vụ nặng CPU (CPU-bound) không những không nhanh hơn mà còn CHẬM HƠN do chi phí tranh giành khóa GIL.</a:t>
            </a:r>
          </a:p>
        </p:txBody>
      </p:sp>
      <p:sp>
        <p:nvSpPr>
          <p:cNvPr id="10" name="Rounded Rectangle 9"/>
          <p:cNvSpPr/>
          <p:nvPr/>
        </p:nvSpPr>
        <p:spPr>
          <a:xfrm>
            <a:off x="731520" y="1874519"/>
            <a:ext cx="5120640" cy="6350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874519"/>
            <a:ext cx="5425135"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2563EB"/>
                </a:solidFill>
                <a:latin typeface="Segoe UI"/>
              </a:defRPr>
            </a:pPr>
            <a:r>
              <a:t>🛠️ Bộ 3 Vũ khí Tính toán trong Python Chuẩn</a:t>
            </a:r>
          </a:p>
          <a:p>
            <a:pPr>
              <a:defRPr b="1" sz="1200">
                <a:solidFill>
                  <a:srgbClr val="D97706"/>
                </a:solidFill>
              </a:defRPr>
            </a:pPr>
            <a:r>
              <a:t>1. Module `threading` (Đa luồng OS)</a:t>
            </a:r>
          </a:p>
          <a:p>
            <a:pPr>
              <a:spcAft>
                <a:spcPts val="600"/>
              </a:spcAft>
              <a:defRPr sz="1100">
                <a:solidFill>
                  <a:srgbClr val="334155"/>
                </a:solidFill>
              </a:defRPr>
            </a:pPr>
            <a:r>
              <a:t>Bị khóa bởi GIL. Thích hợp cho bài toán I/O-bound truyền thống số lượng luồng vừa phải (vài chục threads). Không chạy song song CPU thực sự.</a:t>
            </a:r>
          </a:p>
          <a:p>
            <a:pPr>
              <a:defRPr b="1" sz="1200">
                <a:solidFill>
                  <a:srgbClr val="7C3AED"/>
                </a:solidFill>
              </a:defRPr>
            </a:pPr>
            <a:r>
              <a:t>2. Module `multiprocessing` (Đa tiến trình)</a:t>
            </a:r>
          </a:p>
          <a:p>
            <a:pPr>
              <a:spcAft>
                <a:spcPts val="600"/>
              </a:spcAft>
              <a:defRPr sz="1100">
                <a:solidFill>
                  <a:srgbClr val="334155"/>
                </a:solidFill>
              </a:defRPr>
            </a:pPr>
            <a:r>
              <a:t>Bỏ qua hoàn toàn GIL! Tạo các Process riêng biệt, mỗi tiến trình có Python runtime riêng và chạy trên 1 core vật lý độc lập. Chuẩn mực cho CPU-bound nặng.</a:t>
            </a:r>
          </a:p>
          <a:p>
            <a:pPr>
              <a:defRPr b="1" sz="1200">
                <a:solidFill>
                  <a:srgbClr val="059669"/>
                </a:solidFill>
              </a:defRPr>
            </a:pPr>
            <a:r>
              <a:t>3. Thư viện `asyncio` (Bất đồng bộ - Async/Await)</a:t>
            </a:r>
          </a:p>
          <a:p>
            <a:pPr>
              <a:spcAft>
                <a:spcPts val="600"/>
              </a:spcAft>
              <a:defRPr sz="1100">
                <a:solidFill>
                  <a:srgbClr val="334155"/>
                </a:solidFill>
              </a:defRPr>
            </a:pPr>
            <a:r>
              <a:t>1 Luồng duy nhất nhưng phục vụ hàng chục ngàn kết nối I/O cùng lúc! Không vướng GIL, không tốn RAM cấp phát thread, hiệu năng vô địch cho I/O-bound quy mô lớn.</a:t>
            </a:r>
          </a:p>
        </p:txBody>
      </p:sp>
      <p:sp>
        <p:nvSpPr>
          <p:cNvPr id="12" name="Rounded Rectangle 11"/>
          <p:cNvSpPr/>
          <p:nvPr/>
        </p:nvSpPr>
        <p:spPr>
          <a:xfrm>
            <a:off x="6035040" y="1874519"/>
            <a:ext cx="5425135"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5623560"/>
            <a:ext cx="1072865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50" b="1">
                <a:solidFill>
                  <a:srgbClr val="059669"/>
                </a:solidFill>
                <a:latin typeface="Segoe UI"/>
              </a:defRPr>
            </a:pPr>
            <a:r>
              <a:t>🐍  Lời khuyên Kỹ sư Python: </a:t>
            </a:r>
            <a:r>
              <a:rPr sz="1150" b="0">
                <a:solidFill>
                  <a:srgbClr val="334155"/>
                </a:solidFill>
                <a:latin typeface="Segoe UI"/>
              </a:rPr>
              <a:t>CPU-bound nặng: Dùng `multiprocessing` (hoặc `concurrent.futures.ProcessPoolExecutor`). I/O-bound quy mô lớn: Bắt buộc chọn `asyncio`.</a:t>
            </a:r>
          </a:p>
        </p:txBody>
      </p:sp>
      <p:sp>
        <p:nvSpPr>
          <p:cNvPr id="14" name="Rounded Rectangle 13"/>
          <p:cNvSpPr/>
          <p:nvPr/>
        </p:nvSpPr>
        <p:spPr>
          <a:xfrm>
            <a:off x="731520" y="5623560"/>
            <a:ext cx="109728"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9184"/>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1000" b="1">
                <a:solidFill>
                  <a:srgbClr val="2563EB"/>
                </a:solidFill>
                <a:latin typeface="Segoe UI"/>
              </a:defRPr>
            </a:pPr>
            <a:r>
              <a:t>●  MÔ HÌNH NỀN TẢNG 4</a:t>
            </a:r>
          </a:p>
        </p:txBody>
      </p:sp>
      <p:sp>
        <p:nvSpPr>
          <p:cNvPr id="4" name="TextBox 3"/>
          <p:cNvSpPr txBox="1"/>
          <p:nvPr/>
        </p:nvSpPr>
        <p:spPr>
          <a:xfrm>
            <a:off x="731520" y="749808"/>
            <a:ext cx="10698480" cy="868680"/>
          </a:xfrm>
          <a:prstGeom prst="rect">
            <a:avLst/>
          </a:prstGeom>
          <a:noFill/>
        </p:spPr>
        <p:txBody>
          <a:bodyPr wrap="square" lIns="0" tIns="0">
            <a:spAutoFit/>
          </a:bodyPr>
          <a:lstStyle/>
          <a:p>
            <a:pPr>
              <a:spcAft>
                <a:spcPts val="200"/>
              </a:spcAft>
              <a:defRPr sz="2200" b="1">
                <a:solidFill>
                  <a:srgbClr val="0F172A"/>
                </a:solidFill>
                <a:latin typeface="Segoe UI"/>
              </a:defRPr>
            </a:pPr>
            <a:r>
              <a:t>Xử lý Bất đồng bộ (Asynchronous): Trái tim Event Loop &amp; Hợp tác Đơn luồng</a:t>
            </a:r>
          </a:p>
          <a:p>
            <a:pPr>
              <a:defRPr sz="1300">
                <a:solidFill>
                  <a:srgbClr val="64748B"/>
                </a:solidFill>
                <a:latin typeface="Segoe UI"/>
              </a:defRPr>
            </a:pPr>
            <a:r>
              <a:t>Cơ chế Single-Thread Cooperative Multitasking và triết lý Phi chặn (Non-blocking I/O)</a:t>
            </a:r>
          </a:p>
        </p:txBody>
      </p:sp>
      <p:sp>
        <p:nvSpPr>
          <p:cNvPr id="5" name="Rectangle 4"/>
          <p:cNvSpPr/>
          <p:nvPr/>
        </p:nvSpPr>
        <p:spPr>
          <a:xfrm>
            <a:off x="731520" y="169164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6236208"/>
            <a:ext cx="73152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08</a:t>
            </a:r>
          </a:p>
        </p:txBody>
      </p:sp>
      <p:sp>
        <p:nvSpPr>
          <p:cNvPr id="7" name="TextBox 6"/>
          <p:cNvSpPr txBox="1"/>
          <p:nvPr/>
        </p:nvSpPr>
        <p:spPr>
          <a:xfrm>
            <a:off x="1600200" y="6217920"/>
            <a:ext cx="7772400" cy="365760"/>
          </a:xfrm>
          <a:prstGeom prst="rect">
            <a:avLst/>
          </a:prstGeom>
          <a:noFill/>
        </p:spPr>
        <p:txBody>
          <a:bodyPr wrap="none">
            <a:spAutoFit/>
          </a:bodyPr>
          <a:lstStyle/>
          <a:p>
            <a:pPr>
              <a:defRPr sz="1050">
                <a:solidFill>
                  <a:srgbClr val="64748B"/>
                </a:solidFill>
                <a:latin typeface="Segoe UI"/>
              </a:defRPr>
            </a:pPr>
            <a:r>
              <a:t>Tính toán Song song &amp; Phân tán  ›  Chương 4: Lập trình Bất đồng bộ trong Python  ›  Phần I: Nền tảng Lý thuyết</a:t>
            </a:r>
          </a:p>
        </p:txBody>
      </p:sp>
      <p:sp>
        <p:nvSpPr>
          <p:cNvPr id="8" name="TextBox 7"/>
          <p:cNvSpPr txBox="1"/>
          <p:nvPr/>
        </p:nvSpPr>
        <p:spPr>
          <a:xfrm>
            <a:off x="9326880" y="6217920"/>
            <a:ext cx="2133295" cy="365760"/>
          </a:xfrm>
          <a:prstGeom prst="rect">
            <a:avLst/>
          </a:prstGeom>
          <a:noFill/>
        </p:spPr>
        <p:txBody>
          <a:bodyPr wrap="none">
            <a:spAutoFit/>
          </a:bodyPr>
          <a:lstStyle/>
          <a:p>
            <a:pPr algn="r">
              <a:defRPr sz="1000">
                <a:solidFill>
                  <a:srgbClr val="64748B"/>
                </a:solidFill>
                <a:latin typeface="Segoe UI"/>
              </a:defRPr>
            </a:pPr>
            <a:r>
              <a:t>Slide 8 / 12  |  2026 Edition</a:t>
            </a:r>
          </a:p>
        </p:txBody>
      </p:sp>
      <p:sp>
        <p:nvSpPr>
          <p:cNvPr id="9" name="Rounded Rectangle 8"/>
          <p:cNvSpPr/>
          <p:nvPr/>
        </p:nvSpPr>
        <p:spPr>
          <a:xfrm>
            <a:off x="731520" y="1874519"/>
            <a:ext cx="5120640"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059669"/>
                </a:solidFill>
                <a:latin typeface="Segoe UI"/>
              </a:defRPr>
            </a:pPr>
            <a:r>
              <a:t>🔄 Vòng lặp Sự kiện (The Event Loop Architecture)</a:t>
            </a:r>
          </a:p>
          <a:p>
            <a:pPr>
              <a:defRPr b="1" sz="1200">
                <a:solidFill>
                  <a:srgbClr val="0F172A"/>
                </a:solidFill>
              </a:defRPr>
            </a:pPr>
            <a:r>
              <a:t>• Nguyên lý Hoạt động của Event Loop:</a:t>
            </a:r>
          </a:p>
          <a:p>
            <a:pPr>
              <a:spcAft>
                <a:spcPts val="800"/>
              </a:spcAft>
              <a:defRPr sz="1100">
                <a:solidFill>
                  <a:srgbClr val="334155"/>
                </a:solidFill>
              </a:defRPr>
            </a:pPr>
            <a:r>
              <a:t>Event Loop là một vòng lặp vô tận chạy trên 1 luồng duy nhất. Nhiệm vụ của nó là liên tục theo dõi hàng đợi sự kiện (Event Queue) và điều phối các Coroutine sẵn sàng chạy.</a:t>
            </a:r>
          </a:p>
          <a:p>
            <a:pPr>
              <a:defRPr b="1" sz="1200">
                <a:solidFill>
                  <a:srgbClr val="2563EB"/>
                </a:solidFill>
              </a:defRPr>
            </a:pPr>
            <a:r>
              <a:t>• Cơ chế Nhượng quyền Tự nguyện (`await` / Yield):</a:t>
            </a:r>
          </a:p>
          <a:p>
            <a:pPr>
              <a:defRPr sz="1100">
                <a:solidFill>
                  <a:srgbClr val="334155"/>
                </a:solidFill>
              </a:defRPr>
            </a:pPr>
            <a:r>
              <a:t>Khi Coroutine gặp một thao tác I/O (gửi request, đọc file), thay vì ngồi chờ, nó lập tức dùng từ khóa `await` để NHƯỜNG LẠI QUYỀN ĐIỀU KHIỂN cho Event Loop.</a:t>
            </a:r>
            <a:br/>
            <a:r>
              <a:t>Event Loop lập tức nạp Task khác vào chạy tiếp. Khi I/O hoàn tất, hệ điều hành gửi tín hiệu và Task cũ được đánh thức để chạy tiếp.</a:t>
            </a:r>
          </a:p>
        </p:txBody>
      </p:sp>
      <p:sp>
        <p:nvSpPr>
          <p:cNvPr id="10" name="Rounded Rectangle 9"/>
          <p:cNvSpPr/>
          <p:nvPr/>
        </p:nvSpPr>
        <p:spPr>
          <a:xfrm>
            <a:off x="731520" y="1874519"/>
            <a:ext cx="5120640" cy="635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874519"/>
            <a:ext cx="5425135"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2563EB"/>
                </a:solidFill>
                <a:latin typeface="Segoe UI"/>
              </a:defRPr>
            </a:pPr>
            <a:r>
              <a:t>🚀 Tại sao Async Vượt trội hơn Multi-Threading?</a:t>
            </a:r>
          </a:p>
          <a:p>
            <a:pPr>
              <a:defRPr b="1" sz="1150">
                <a:solidFill>
                  <a:srgbClr val="2563EB"/>
                </a:solidFill>
              </a:defRPr>
            </a:pPr>
            <a:r>
              <a:t>1. Không tốn chi phí Context Switching của HĐH</a:t>
            </a:r>
          </a:p>
          <a:p>
            <a:pPr>
              <a:spcAft>
                <a:spcPts val="600"/>
              </a:spcAft>
              <a:defRPr sz="1100">
                <a:solidFill>
                  <a:srgbClr val="334155"/>
                </a:solidFill>
              </a:defRPr>
            </a:pPr>
            <a:r>
              <a:t>Việc chuyển đổi giữa các Coroutines diễn ra hoàn toàn ở tầng ứng dụng (User-space), nhanh gấp hàng trăm lần so với Kernel Context Switch của Thread.</a:t>
            </a:r>
          </a:p>
          <a:p>
            <a:pPr>
              <a:defRPr b="1" sz="1150">
                <a:solidFill>
                  <a:srgbClr val="2563EB"/>
                </a:solidFill>
              </a:defRPr>
            </a:pPr>
            <a:r>
              <a:t>2. Tiết kiệm tài nguyên Bộ nhớ (RAM) khổng lồ</a:t>
            </a:r>
          </a:p>
          <a:p>
            <a:pPr>
              <a:spcAft>
                <a:spcPts val="600"/>
              </a:spcAft>
              <a:defRPr sz="1100">
                <a:solidFill>
                  <a:srgbClr val="334155"/>
                </a:solidFill>
              </a:defRPr>
            </a:pPr>
            <a:r>
              <a:t>Mỗi Thread của OS tiêu tốn ~2MB đến 8MB bộ nhớ ngăn xếp (Stack Memory). Ngược lại, một Python Coroutine chỉ tốn vài trăm bytes. Có thể chạy 100.000 coroutines đồng thời trên laptop thường!</a:t>
            </a:r>
          </a:p>
          <a:p>
            <a:pPr>
              <a:defRPr b="1" sz="1150">
                <a:solidFill>
                  <a:srgbClr val="2563EB"/>
                </a:solidFill>
              </a:defRPr>
            </a:pPr>
            <a:r>
              <a:t>3. Loại bỏ hoàn toàn Race Condition trên biến đơn</a:t>
            </a:r>
          </a:p>
          <a:p>
            <a:pPr>
              <a:spcAft>
                <a:spcPts val="600"/>
              </a:spcAft>
              <a:defRPr sz="1100">
                <a:solidFill>
                  <a:srgbClr val="334155"/>
                </a:solidFill>
              </a:defRPr>
            </a:pPr>
            <a:r>
              <a:t>Vì mã code chạy tuần tự trên 1 luồng duy nhất giữa các điểm `await`, lập trình viên không cần dùng Mutex Lock phức tạp để bảo vệ bộ nhớ.</a:t>
            </a:r>
          </a:p>
        </p:txBody>
      </p:sp>
      <p:sp>
        <p:nvSpPr>
          <p:cNvPr id="12" name="Rounded Rectangle 11"/>
          <p:cNvSpPr/>
          <p:nvPr/>
        </p:nvSpPr>
        <p:spPr>
          <a:xfrm>
            <a:off x="6035040" y="1874519"/>
            <a:ext cx="5425135"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5623560"/>
            <a:ext cx="1072865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50" b="1">
                <a:solidFill>
                  <a:srgbClr val="059669"/>
                </a:solidFill>
                <a:latin typeface="Segoe UI"/>
              </a:defRPr>
            </a:pPr>
            <a:r>
              <a:t>💡  Triết lý cốt lõi: </a:t>
            </a:r>
            <a:r>
              <a:rPr sz="1150" b="0">
                <a:solidFill>
                  <a:srgbClr val="334155"/>
                </a:solidFill>
                <a:latin typeface="Segoe UI"/>
              </a:rPr>
              <a:t>Bất đồng bộ là sự thỏa hiệp thông minh: Dùng 1 luồng duy nhất, biến thời gian rảnh rỗi chờ đợi thành thời gian làm việc có ích.</a:t>
            </a:r>
          </a:p>
        </p:txBody>
      </p:sp>
      <p:sp>
        <p:nvSpPr>
          <p:cNvPr id="14" name="Rounded Rectangle 13"/>
          <p:cNvSpPr/>
          <p:nvPr/>
        </p:nvSpPr>
        <p:spPr>
          <a:xfrm>
            <a:off x="731520" y="5623560"/>
            <a:ext cx="109728"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9184"/>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1000" b="1">
                <a:solidFill>
                  <a:srgbClr val="2563EB"/>
                </a:solidFill>
                <a:latin typeface="Segoe UI"/>
              </a:defRPr>
            </a:pPr>
            <a:r>
              <a:t>●  THỰC NGHIỆM &amp; PHÂN TÍCH</a:t>
            </a:r>
          </a:p>
        </p:txBody>
      </p:sp>
      <p:sp>
        <p:nvSpPr>
          <p:cNvPr id="4" name="TextBox 3"/>
          <p:cNvSpPr txBox="1"/>
          <p:nvPr/>
        </p:nvSpPr>
        <p:spPr>
          <a:xfrm>
            <a:off x="731520" y="749808"/>
            <a:ext cx="10698480" cy="868680"/>
          </a:xfrm>
          <a:prstGeom prst="rect">
            <a:avLst/>
          </a:prstGeom>
          <a:noFill/>
        </p:spPr>
        <p:txBody>
          <a:bodyPr wrap="square" lIns="0" tIns="0">
            <a:spAutoFit/>
          </a:bodyPr>
          <a:lstStyle/>
          <a:p>
            <a:pPr>
              <a:spcAft>
                <a:spcPts val="200"/>
              </a:spcAft>
              <a:defRPr sz="2200" b="1">
                <a:solidFill>
                  <a:srgbClr val="0F172A"/>
                </a:solidFill>
                <a:latin typeface="Segoe UI"/>
              </a:defRPr>
            </a:pPr>
            <a:r>
              <a:t>Nghiên cứu Thực chứng: Tải 1.000 Trang Web qua 3 Kiến trúc</a:t>
            </a:r>
          </a:p>
          <a:p>
            <a:pPr>
              <a:defRPr sz="1300">
                <a:solidFill>
                  <a:srgbClr val="64748B"/>
                </a:solidFill>
                <a:latin typeface="Segoe UI"/>
              </a:defRPr>
            </a:pPr>
            <a:r>
              <a:t>Bài toán kinh điển I/O-Bound minh họa sự áp đảo toàn diện của Lập trình Bất đồng bộ</a:t>
            </a:r>
          </a:p>
        </p:txBody>
      </p:sp>
      <p:sp>
        <p:nvSpPr>
          <p:cNvPr id="5" name="Rectangle 4"/>
          <p:cNvSpPr/>
          <p:nvPr/>
        </p:nvSpPr>
        <p:spPr>
          <a:xfrm>
            <a:off x="731520" y="169164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6236208"/>
            <a:ext cx="73152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09</a:t>
            </a:r>
          </a:p>
        </p:txBody>
      </p:sp>
      <p:sp>
        <p:nvSpPr>
          <p:cNvPr id="7" name="TextBox 6"/>
          <p:cNvSpPr txBox="1"/>
          <p:nvPr/>
        </p:nvSpPr>
        <p:spPr>
          <a:xfrm>
            <a:off x="1600200" y="6217920"/>
            <a:ext cx="7772400" cy="365760"/>
          </a:xfrm>
          <a:prstGeom prst="rect">
            <a:avLst/>
          </a:prstGeom>
          <a:noFill/>
        </p:spPr>
        <p:txBody>
          <a:bodyPr wrap="none">
            <a:spAutoFit/>
          </a:bodyPr>
          <a:lstStyle/>
          <a:p>
            <a:pPr>
              <a:defRPr sz="1050">
                <a:solidFill>
                  <a:srgbClr val="64748B"/>
                </a:solidFill>
                <a:latin typeface="Segoe UI"/>
              </a:defRPr>
            </a:pPr>
            <a:r>
              <a:t>Tính toán Song song &amp; Phân tán  ›  Chương 4: Lập trình Bất đồng bộ trong Python  ›  Phần I: Nền tảng Lý thuyết</a:t>
            </a:r>
          </a:p>
        </p:txBody>
      </p:sp>
      <p:sp>
        <p:nvSpPr>
          <p:cNvPr id="8" name="TextBox 7"/>
          <p:cNvSpPr txBox="1"/>
          <p:nvPr/>
        </p:nvSpPr>
        <p:spPr>
          <a:xfrm>
            <a:off x="9326880" y="6217920"/>
            <a:ext cx="2133295" cy="365760"/>
          </a:xfrm>
          <a:prstGeom prst="rect">
            <a:avLst/>
          </a:prstGeom>
          <a:noFill/>
        </p:spPr>
        <p:txBody>
          <a:bodyPr wrap="none">
            <a:spAutoFit/>
          </a:bodyPr>
          <a:lstStyle/>
          <a:p>
            <a:pPr algn="r">
              <a:defRPr sz="1000">
                <a:solidFill>
                  <a:srgbClr val="64748B"/>
                </a:solidFill>
                <a:latin typeface="Segoe UI"/>
              </a:defRPr>
            </a:pPr>
            <a:r>
              <a:t>Slide 9 / 12  |  2026 Edition</a:t>
            </a:r>
          </a:p>
        </p:txBody>
      </p:sp>
      <p:sp>
        <p:nvSpPr>
          <p:cNvPr id="9" name="Rounded Rectangle 8"/>
          <p:cNvSpPr/>
          <p:nvPr/>
        </p:nvSpPr>
        <p:spPr>
          <a:xfrm>
            <a:off x="731520" y="1874519"/>
            <a:ext cx="3364992"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E11D48"/>
                </a:solidFill>
                <a:latin typeface="Segoe UI"/>
              </a:defRPr>
            </a:pPr>
            <a:r>
              <a:t>1. TUẦN TỰ (SEQUENTIAL)</a:t>
            </a:r>
          </a:p>
          <a:p>
            <a:pPr>
              <a:spcAft>
                <a:spcPts val="600"/>
              </a:spcAft>
              <a:defRPr sz="1100">
                <a:solidFill>
                  <a:srgbClr val="334155"/>
                </a:solidFill>
              </a:defRPr>
            </a:pPr>
            <a:r>
              <a:t>• Cách triển khai:</a:t>
            </a:r>
            <a:br/>
            <a:r>
              <a:t>Vòng lặp `for` gọi `requests.get()` lần lượt từ trang 1 đến 1.000.</a:t>
            </a:r>
          </a:p>
          <a:p>
            <a:pPr>
              <a:spcAft>
                <a:spcPts val="800"/>
              </a:spcAft>
              <a:defRPr sz="1050" b="1">
                <a:solidFill>
                  <a:srgbClr val="E11D48"/>
                </a:solidFill>
                <a:latin typeface="Consolas"/>
              </a:defRPr>
            </a:pPr>
            <a:r>
              <a:t>📊 KẾT QUẢ THỰC NGHIỆM:</a:t>
            </a:r>
            <a:br/>
            <a:r>
              <a:t>• Thời gian: ~500 giây (~8.3 phút)</a:t>
            </a:r>
            <a:br/>
            <a:r>
              <a:t>• Bộ nhớ RAM: ~15 MB (Thấp)</a:t>
            </a:r>
            <a:br/>
            <a:r>
              <a:t>• CPU Idle: 99.8% (Chỉ ngồi chờ!)</a:t>
            </a:r>
            <a:br/>
            <a:r>
              <a:t>• Khả năng chịu tải: Cực kỳ kém</a:t>
            </a:r>
          </a:p>
          <a:p>
            <a:pPr>
              <a:defRPr sz="1050" b="1">
                <a:solidFill>
                  <a:srgbClr val="E11D48"/>
                </a:solidFill>
              </a:defRPr>
            </a:pPr>
            <a:r>
              <a:t>❌ Đánh giá: Không thể chấp nhận trong môi trường sản xuất (Production).</a:t>
            </a:r>
          </a:p>
        </p:txBody>
      </p:sp>
      <p:sp>
        <p:nvSpPr>
          <p:cNvPr id="10" name="Rounded Rectangle 9"/>
          <p:cNvSpPr/>
          <p:nvPr/>
        </p:nvSpPr>
        <p:spPr>
          <a:xfrm>
            <a:off x="731520" y="1874519"/>
            <a:ext cx="3364992" cy="6350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07408" y="1874519"/>
            <a:ext cx="3364992"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D97706"/>
                </a:solidFill>
                <a:latin typeface="Segoe UI"/>
              </a:defRPr>
            </a:pPr>
            <a:r>
              <a:t>2. ĐA LUỒNG (THREADING)</a:t>
            </a:r>
          </a:p>
          <a:p>
            <a:pPr>
              <a:spcAft>
                <a:spcPts val="600"/>
              </a:spcAft>
              <a:defRPr sz="1100">
                <a:solidFill>
                  <a:srgbClr val="334155"/>
                </a:solidFill>
              </a:defRPr>
            </a:pPr>
            <a:r>
              <a:t>• Cách triển khai:</a:t>
            </a:r>
            <a:br/>
            <a:r>
              <a:t>Tạo 1.000 OS Threads (hoặc `ThreadPoolExecutor(max_workers=100)`).</a:t>
            </a:r>
          </a:p>
          <a:p>
            <a:pPr>
              <a:spcAft>
                <a:spcPts val="800"/>
              </a:spcAft>
              <a:defRPr sz="1050" b="1">
                <a:solidFill>
                  <a:srgbClr val="D97706"/>
                </a:solidFill>
                <a:latin typeface="Consolas"/>
              </a:defRPr>
            </a:pPr>
            <a:r>
              <a:t>📊 KẾT QUẢ THỰC NGHIỆM:</a:t>
            </a:r>
            <a:br/>
            <a:r>
              <a:t>• Thời gian: ~8 - 12 giây (Nhanh)</a:t>
            </a:r>
            <a:br/>
            <a:r>
              <a:t>• Bộ nhớ RAM: ~800 MB - 1.2 GB!</a:t>
            </a:r>
            <a:br/>
            <a:r>
              <a:t>• CPU: Quá tải vì Context Switch</a:t>
            </a:r>
            <a:br/>
            <a:r>
              <a:t>• Rủi ro: Tràn bộ nhớ (OOM crash)</a:t>
            </a:r>
          </a:p>
          <a:p>
            <a:pPr>
              <a:defRPr sz="1050" b="1">
                <a:solidFill>
                  <a:srgbClr val="D97706"/>
                </a:solidFill>
              </a:defRPr>
            </a:pPr>
            <a:r>
              <a:t>⚠️ Đánh giá: Nhanh nhưng ngốn RAM khủng khiếp, giới hạn quy mô.</a:t>
            </a:r>
          </a:p>
        </p:txBody>
      </p:sp>
      <p:sp>
        <p:nvSpPr>
          <p:cNvPr id="12" name="Rounded Rectangle 11"/>
          <p:cNvSpPr/>
          <p:nvPr/>
        </p:nvSpPr>
        <p:spPr>
          <a:xfrm>
            <a:off x="4407408" y="1874519"/>
            <a:ext cx="3364992" cy="635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83296" y="1874519"/>
            <a:ext cx="3364992"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059669"/>
                </a:solidFill>
                <a:latin typeface="Segoe UI"/>
              </a:defRPr>
            </a:pPr>
            <a:r>
              <a:t>3. BẤT ĐỒNG BỘ (ASYNCIO)</a:t>
            </a:r>
          </a:p>
          <a:p>
            <a:pPr>
              <a:spcAft>
                <a:spcPts val="600"/>
              </a:spcAft>
              <a:defRPr sz="1100">
                <a:solidFill>
                  <a:srgbClr val="334155"/>
                </a:solidFill>
              </a:defRPr>
            </a:pPr>
            <a:r>
              <a:t>• Cách triển khai:</a:t>
            </a:r>
            <a:br/>
            <a:r>
              <a:t>Dùng thư viện `aiohttp` và `asyncio.gather()` trên 1 Luồng duy nhất.</a:t>
            </a:r>
          </a:p>
          <a:p>
            <a:pPr>
              <a:spcAft>
                <a:spcPts val="800"/>
              </a:spcAft>
              <a:defRPr sz="1050" b="1">
                <a:solidFill>
                  <a:srgbClr val="059669"/>
                </a:solidFill>
                <a:latin typeface="Consolas"/>
              </a:defRPr>
            </a:pPr>
            <a:r>
              <a:t>📊 KẾT QUẢ THỰC NGHIỆM:</a:t>
            </a:r>
            <a:br/>
            <a:r>
              <a:t>• Thời gian: ~1.5 - 2.5 giây! (Kỷ lục)</a:t>
            </a:r>
            <a:br/>
            <a:r>
              <a:t>• Bộ nhớ RAM: ~35 MB (Cực nhẹ!)</a:t>
            </a:r>
            <a:br/>
            <a:r>
              <a:t>• CPU: Sử dụng tối ưu 100% I/O</a:t>
            </a:r>
            <a:br/>
            <a:r>
              <a:t>• Rủi ro: 0% Race conditions</a:t>
            </a:r>
          </a:p>
          <a:p>
            <a:pPr>
              <a:defRPr sz="1050" b="1">
                <a:solidFill>
                  <a:srgbClr val="059669"/>
                </a:solidFill>
              </a:defRPr>
            </a:pPr>
            <a:r>
              <a:t>🏆 Đánh giá: Giải pháp hoàn hảo tuyệt đối cho bài toán I/O quy mô lớn.</a:t>
            </a:r>
          </a:p>
        </p:txBody>
      </p:sp>
      <p:sp>
        <p:nvSpPr>
          <p:cNvPr id="14" name="Rounded Rectangle 13"/>
          <p:cNvSpPr/>
          <p:nvPr/>
        </p:nvSpPr>
        <p:spPr>
          <a:xfrm>
            <a:off x="8083296" y="1874519"/>
            <a:ext cx="3364992" cy="635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5623560"/>
            <a:ext cx="1072865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50" b="1">
                <a:solidFill>
                  <a:srgbClr val="059669"/>
                </a:solidFill>
                <a:latin typeface="Segoe UI"/>
              </a:defRPr>
            </a:pPr>
            <a:r>
              <a:t>📊  Kết luận thực nghiệm: </a:t>
            </a:r>
            <a:r>
              <a:rPr sz="1150" b="0">
                <a:solidFill>
                  <a:srgbClr val="334155"/>
                </a:solidFill>
                <a:latin typeface="Segoe UI"/>
              </a:rPr>
              <a:t>Asyncio nhanh gấp 200 lần Tuần tự, và tiết kiệm bộ nhớ gấp 25 lần so với Đa luồng truyền thống.</a:t>
            </a:r>
          </a:p>
        </p:txBody>
      </p:sp>
      <p:sp>
        <p:nvSpPr>
          <p:cNvPr id="16" name="Rounded Rectangle 15"/>
          <p:cNvSpPr/>
          <p:nvPr/>
        </p:nvSpPr>
        <p:spPr>
          <a:xfrm>
            <a:off x="731520" y="5623560"/>
            <a:ext cx="109728" cy="5029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9184"/>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1000" b="1">
                <a:solidFill>
                  <a:srgbClr val="2563EB"/>
                </a:solidFill>
                <a:latin typeface="Segoe UI"/>
              </a:defRPr>
            </a:pPr>
            <a:r>
              <a:t>●  TƯ DUY TRỰC GIÁC</a:t>
            </a:r>
          </a:p>
        </p:txBody>
      </p:sp>
      <p:sp>
        <p:nvSpPr>
          <p:cNvPr id="4" name="TextBox 3"/>
          <p:cNvSpPr txBox="1"/>
          <p:nvPr/>
        </p:nvSpPr>
        <p:spPr>
          <a:xfrm>
            <a:off x="731520" y="749808"/>
            <a:ext cx="10698480" cy="868680"/>
          </a:xfrm>
          <a:prstGeom prst="rect">
            <a:avLst/>
          </a:prstGeom>
          <a:noFill/>
        </p:spPr>
        <p:txBody>
          <a:bodyPr wrap="square" lIns="0" tIns="0">
            <a:spAutoFit/>
          </a:bodyPr>
          <a:lstStyle/>
          <a:p>
            <a:pPr>
              <a:spcAft>
                <a:spcPts val="200"/>
              </a:spcAft>
              <a:defRPr sz="2200" b="1">
                <a:solidFill>
                  <a:srgbClr val="0F172A"/>
                </a:solidFill>
                <a:latin typeface="Segoe UI"/>
              </a:defRPr>
            </a:pPr>
            <a:r>
              <a:t>Hai Mô hình Tư duy Trực quan: Đầu bếp Nhà hàng &amp; Cổng Giữ xe</a:t>
            </a:r>
          </a:p>
          <a:p>
            <a:pPr>
              <a:defRPr sz="1300">
                <a:solidFill>
                  <a:srgbClr val="64748B"/>
                </a:solidFill>
                <a:latin typeface="Segoe UI"/>
              </a:defRPr>
            </a:pPr>
            <a:r>
              <a:t>Chuyển hóa khái niệm kỹ thuật trừu tượng thành trực giác đời sống quen thuộc</a:t>
            </a:r>
          </a:p>
        </p:txBody>
      </p:sp>
      <p:sp>
        <p:nvSpPr>
          <p:cNvPr id="5" name="Rectangle 4"/>
          <p:cNvSpPr/>
          <p:nvPr/>
        </p:nvSpPr>
        <p:spPr>
          <a:xfrm>
            <a:off x="731520" y="169164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6236208"/>
            <a:ext cx="73152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10</a:t>
            </a:r>
          </a:p>
        </p:txBody>
      </p:sp>
      <p:sp>
        <p:nvSpPr>
          <p:cNvPr id="7" name="TextBox 6"/>
          <p:cNvSpPr txBox="1"/>
          <p:nvPr/>
        </p:nvSpPr>
        <p:spPr>
          <a:xfrm>
            <a:off x="1600200" y="6217920"/>
            <a:ext cx="7772400" cy="365760"/>
          </a:xfrm>
          <a:prstGeom prst="rect">
            <a:avLst/>
          </a:prstGeom>
          <a:noFill/>
        </p:spPr>
        <p:txBody>
          <a:bodyPr wrap="none">
            <a:spAutoFit/>
          </a:bodyPr>
          <a:lstStyle/>
          <a:p>
            <a:pPr>
              <a:defRPr sz="1050">
                <a:solidFill>
                  <a:srgbClr val="64748B"/>
                </a:solidFill>
                <a:latin typeface="Segoe UI"/>
              </a:defRPr>
            </a:pPr>
            <a:r>
              <a:t>Tính toán Song song &amp; Phân tán  ›  Chương 4: Lập trình Bất đồng bộ trong Python  ›  Phần I: Nền tảng Lý thuyết</a:t>
            </a:r>
          </a:p>
        </p:txBody>
      </p:sp>
      <p:sp>
        <p:nvSpPr>
          <p:cNvPr id="8" name="TextBox 7"/>
          <p:cNvSpPr txBox="1"/>
          <p:nvPr/>
        </p:nvSpPr>
        <p:spPr>
          <a:xfrm>
            <a:off x="9326880" y="6217920"/>
            <a:ext cx="2133295" cy="365760"/>
          </a:xfrm>
          <a:prstGeom prst="rect">
            <a:avLst/>
          </a:prstGeom>
          <a:noFill/>
        </p:spPr>
        <p:txBody>
          <a:bodyPr wrap="none">
            <a:spAutoFit/>
          </a:bodyPr>
          <a:lstStyle/>
          <a:p>
            <a:pPr algn="r">
              <a:defRPr sz="1000">
                <a:solidFill>
                  <a:srgbClr val="64748B"/>
                </a:solidFill>
                <a:latin typeface="Segoe UI"/>
              </a:defRPr>
            </a:pPr>
            <a:r>
              <a:t>Slide 10 / 12  |  2026 Edition</a:t>
            </a:r>
          </a:p>
        </p:txBody>
      </p:sp>
      <p:sp>
        <p:nvSpPr>
          <p:cNvPr id="9" name="Rounded Rectangle 8"/>
          <p:cNvSpPr/>
          <p:nvPr/>
        </p:nvSpPr>
        <p:spPr>
          <a:xfrm>
            <a:off x="731520" y="1874519"/>
            <a:ext cx="5120640"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2563EB"/>
                </a:solidFill>
                <a:latin typeface="Segoe UI"/>
              </a:defRPr>
            </a:pPr>
            <a:r>
              <a:t>🍳 Mô hình 1: Người Đầu Bếp trong Gian Bếp Chuyên nghiệp</a:t>
            </a:r>
          </a:p>
          <a:p>
            <a:pPr>
              <a:defRPr b="1" sz="1150">
                <a:solidFill>
                  <a:srgbClr val="E11D48"/>
                </a:solidFill>
              </a:defRPr>
            </a:pPr>
            <a:r>
              <a:t>• Kịch bản Tuần tự (Sequential Cooking):</a:t>
            </a:r>
          </a:p>
          <a:p>
            <a:pPr>
              <a:spcAft>
                <a:spcPts val="600"/>
              </a:spcAft>
              <a:defRPr sz="1050">
                <a:solidFill>
                  <a:srgbClr val="334155"/>
                </a:solidFill>
              </a:defRPr>
            </a:pPr>
            <a:r>
              <a:t>Đầu bếp đặt ổ bánh mì vào lò nướng 40 phút → Đứng bất động nhìn lò nướng suốt 40 phút → Khi bánh chín mới đi cắt hành và pha trà.</a:t>
            </a:r>
            <a:br/>
            <a:r>
              <a:t>→ Hậu quả: Bếp trưởng thất nghiệp vì phục vụ quá chậm!</a:t>
            </a:r>
          </a:p>
          <a:p>
            <a:pPr>
              <a:defRPr b="1" sz="1150">
                <a:solidFill>
                  <a:srgbClr val="059669"/>
                </a:solidFill>
              </a:defRPr>
            </a:pPr>
            <a:r>
              <a:t>• Kịch bản Bất đồng bộ (Async Cooking):</a:t>
            </a:r>
          </a:p>
          <a:p>
            <a:pPr>
              <a:defRPr sz="1050">
                <a:solidFill>
                  <a:srgbClr val="334155"/>
                </a:solidFill>
              </a:defRPr>
            </a:pPr>
            <a:r>
              <a:t>Đầu bếp đặt bánh vào lò → Đặt chuông hẹn giờ (`await bake()`) → Lập tức quay sang cắt thịt, pha nước sốt → Khi chuông lò reo (Event trigger), quay lại lấy bánh ra đĩa.</a:t>
            </a:r>
            <a:br/>
            <a:r>
              <a:t>→ Bản chất: 1 đầu bếp (1 Thread) nhưng vận hành cả gian bếp nhịp nhàng!</a:t>
            </a:r>
          </a:p>
        </p:txBody>
      </p:sp>
      <p:sp>
        <p:nvSpPr>
          <p:cNvPr id="10" name="Rounded Rectangle 9"/>
          <p:cNvSpPr/>
          <p:nvPr/>
        </p:nvSpPr>
        <p:spPr>
          <a:xfrm>
            <a:off x="731520" y="1874519"/>
            <a:ext cx="5120640"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874519"/>
            <a:ext cx="5425135"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7C3AED"/>
                </a:solidFill>
                <a:latin typeface="Segoe UI"/>
              </a:defRPr>
            </a:pPr>
            <a:r>
              <a:t>🅿️ Mô hình 2: Bãi Giữ Xe Thông Minh (Nguyên bản Bài giảng)</a:t>
            </a:r>
          </a:p>
          <a:p>
            <a:pPr>
              <a:defRPr b="1" sz="1150">
                <a:solidFill>
                  <a:srgbClr val="E11D48"/>
                </a:solidFill>
              </a:defRPr>
            </a:pPr>
            <a:r>
              <a:t>• Cách vận hành Cổ điển (Blocking Gate):</a:t>
            </a:r>
          </a:p>
          <a:p>
            <a:pPr>
              <a:spcAft>
                <a:spcPts val="600"/>
              </a:spcAft>
              <a:defRPr sz="1050">
                <a:solidFill>
                  <a:srgbClr val="334155"/>
                </a:solidFill>
              </a:defRPr>
            </a:pPr>
            <a:r>
              <a:t>Bảo vệ bấm vé cho Xe 1 → Đứng nhìn Xe 1 chạy từ từ vào tầng hầm tìm chỗ đỗ (mất 3 phút) → Xe 1 đỗ xong, bảo vệ mới bấm vé cho Xe 2.</a:t>
            </a:r>
            <a:br/>
            <a:r>
              <a:t>→ Hậu quả: Cổng giữ xe bị nghẽn tắc hàng cây số trên đường phố.</a:t>
            </a:r>
          </a:p>
          <a:p>
            <a:pPr>
              <a:defRPr b="1" sz="1150">
                <a:solidFill>
                  <a:srgbClr val="059669"/>
                </a:solidFill>
              </a:defRPr>
            </a:pPr>
            <a:r>
              <a:t>• Cách vận hành Bất đồng bộ (Non-blocking Gate):</a:t>
            </a:r>
          </a:p>
          <a:p>
            <a:pPr>
              <a:defRPr sz="1050">
                <a:solidFill>
                  <a:srgbClr val="334155"/>
                </a:solidFill>
              </a:defRPr>
            </a:pPr>
            <a:r>
              <a:t>Bảo vệ quẹt thẻ trao vé trong đúng 2 giây → Xe 1 tự lái vào hầm tìm chỗ (I/O chờ chạy ngầm) → Bảo vệ đón và phát vé ngay lập tức cho Xe 2, 3, 4.</a:t>
            </a:r>
            <a:br/>
            <a:r>
              <a:t>→ Bản chất: Cổng kiểm soát (CPU) không bao giờ bị nghẽn vì thời gian tìm chỗ đỗ của từng xe.</a:t>
            </a:r>
          </a:p>
        </p:txBody>
      </p:sp>
      <p:sp>
        <p:nvSpPr>
          <p:cNvPr id="12" name="Rounded Rectangle 11"/>
          <p:cNvSpPr/>
          <p:nvPr/>
        </p:nvSpPr>
        <p:spPr>
          <a:xfrm>
            <a:off x="6035040" y="1874519"/>
            <a:ext cx="5425135" cy="635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5623560"/>
            <a:ext cx="1072865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50" b="1">
                <a:solidFill>
                  <a:srgbClr val="2563EB"/>
                </a:solidFill>
                <a:latin typeface="Segoe UI"/>
              </a:defRPr>
            </a:pPr>
            <a:r>
              <a:t>💡  Bài học trực giác: </a:t>
            </a:r>
            <a:r>
              <a:rPr sz="1150" b="0">
                <a:solidFill>
                  <a:srgbClr val="334155"/>
                </a:solidFill>
                <a:latin typeface="Segoe UI"/>
              </a:rPr>
              <a:t>Người đầu bếp thông minh hay người bảo vệ hiệu quả không làm việc nhanh gấp đôi, mà họ BIẾT CÁCH KHÔNG ĐỨNG CHỜ.</a:t>
            </a:r>
          </a:p>
        </p:txBody>
      </p:sp>
      <p:sp>
        <p:nvSpPr>
          <p:cNvPr id="14" name="Rounded Rectangle 13"/>
          <p:cNvSpPr/>
          <p:nvPr/>
        </p:nvSpPr>
        <p:spPr>
          <a:xfrm>
            <a:off x="731520" y="5623560"/>
            <a:ext cx="109728"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9184"/>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1000" b="1">
                <a:solidFill>
                  <a:srgbClr val="2563EB"/>
                </a:solidFill>
                <a:latin typeface="Segoe UI"/>
              </a:defRPr>
            </a:pPr>
            <a:r>
              <a:t>●  TỔNG HỢP HỌC THUẬT TOÀN DIỆN</a:t>
            </a:r>
          </a:p>
        </p:txBody>
      </p:sp>
      <p:sp>
        <p:nvSpPr>
          <p:cNvPr id="4" name="TextBox 3"/>
          <p:cNvSpPr txBox="1"/>
          <p:nvPr/>
        </p:nvSpPr>
        <p:spPr>
          <a:xfrm>
            <a:off x="731520" y="749808"/>
            <a:ext cx="10698480" cy="868680"/>
          </a:xfrm>
          <a:prstGeom prst="rect">
            <a:avLst/>
          </a:prstGeom>
          <a:noFill/>
        </p:spPr>
        <p:txBody>
          <a:bodyPr wrap="square" lIns="0" tIns="0">
            <a:spAutoFit/>
          </a:bodyPr>
          <a:lstStyle/>
          <a:p>
            <a:pPr>
              <a:spcAft>
                <a:spcPts val="200"/>
              </a:spcAft>
              <a:defRPr sz="2200" b="1">
                <a:solidFill>
                  <a:srgbClr val="0F172A"/>
                </a:solidFill>
                <a:latin typeface="Segoe UI"/>
              </a:defRPr>
            </a:pPr>
            <a:r>
              <a:t>Ma trận Tổng kết Kỹ thuật: Đối chiếu 4 Mô hình Tính toán</a:t>
            </a:r>
          </a:p>
          <a:p>
            <a:pPr>
              <a:defRPr sz="1300">
                <a:solidFill>
                  <a:srgbClr val="64748B"/>
                </a:solidFill>
                <a:latin typeface="Segoe UI"/>
              </a:defRPr>
            </a:pPr>
            <a:r>
              <a:t>Bảng tra cứu chuẩn hóa cho Kỹ sư và Nhà phát triển hệ thống phân tán</a:t>
            </a:r>
          </a:p>
        </p:txBody>
      </p:sp>
      <p:sp>
        <p:nvSpPr>
          <p:cNvPr id="5" name="Rectangle 4"/>
          <p:cNvSpPr/>
          <p:nvPr/>
        </p:nvSpPr>
        <p:spPr>
          <a:xfrm>
            <a:off x="731520" y="169164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6236208"/>
            <a:ext cx="73152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11</a:t>
            </a:r>
          </a:p>
        </p:txBody>
      </p:sp>
      <p:sp>
        <p:nvSpPr>
          <p:cNvPr id="7" name="TextBox 6"/>
          <p:cNvSpPr txBox="1"/>
          <p:nvPr/>
        </p:nvSpPr>
        <p:spPr>
          <a:xfrm>
            <a:off x="1600200" y="6217920"/>
            <a:ext cx="7772400" cy="365760"/>
          </a:xfrm>
          <a:prstGeom prst="rect">
            <a:avLst/>
          </a:prstGeom>
          <a:noFill/>
        </p:spPr>
        <p:txBody>
          <a:bodyPr wrap="none">
            <a:spAutoFit/>
          </a:bodyPr>
          <a:lstStyle/>
          <a:p>
            <a:pPr>
              <a:defRPr sz="1050">
                <a:solidFill>
                  <a:srgbClr val="64748B"/>
                </a:solidFill>
                <a:latin typeface="Segoe UI"/>
              </a:defRPr>
            </a:pPr>
            <a:r>
              <a:t>Tính toán Song song &amp; Phân tán  ›  Chương 4: Lập trình Bất đồng bộ trong Python  ›  Phần I: Nền tảng Lý thuyết</a:t>
            </a:r>
          </a:p>
        </p:txBody>
      </p:sp>
      <p:sp>
        <p:nvSpPr>
          <p:cNvPr id="8" name="TextBox 7"/>
          <p:cNvSpPr txBox="1"/>
          <p:nvPr/>
        </p:nvSpPr>
        <p:spPr>
          <a:xfrm>
            <a:off x="9326880" y="6217920"/>
            <a:ext cx="2133295" cy="365760"/>
          </a:xfrm>
          <a:prstGeom prst="rect">
            <a:avLst/>
          </a:prstGeom>
          <a:noFill/>
        </p:spPr>
        <p:txBody>
          <a:bodyPr wrap="none">
            <a:spAutoFit/>
          </a:bodyPr>
          <a:lstStyle/>
          <a:p>
            <a:pPr algn="r">
              <a:defRPr sz="1000">
                <a:solidFill>
                  <a:srgbClr val="64748B"/>
                </a:solidFill>
                <a:latin typeface="Segoe UI"/>
              </a:defRPr>
            </a:pPr>
            <a:r>
              <a:t>Slide 11 / 12  |  2026 Edition</a:t>
            </a:r>
          </a:p>
        </p:txBody>
      </p:sp>
      <p:graphicFrame>
        <p:nvGraphicFramePr>
          <p:cNvPr id="9" name="Table 8"/>
          <p:cNvGraphicFramePr>
            <a:graphicFrameLocks noGrp="1"/>
          </p:cNvGraphicFramePr>
          <p:nvPr/>
        </p:nvGraphicFramePr>
        <p:xfrm>
          <a:off x="731520" y="1874519"/>
          <a:ext cx="10728655" cy="3566160"/>
        </p:xfrm>
        <a:graphic>
          <a:graphicData uri="http://schemas.openxmlformats.org/drawingml/2006/table">
            <a:tbl>
              <a:tblPr firstRow="1" bandRow="1">
                <a:tableStyleId>{5C22544A-7EE6-4342-B048-85BDC9FD1C3A}</a:tableStyleId>
              </a:tblPr>
              <a:tblGrid>
                <a:gridCol w="2133295"/>
                <a:gridCol w="2057400"/>
                <a:gridCol w="2194560"/>
                <a:gridCol w="2194560"/>
                <a:gridCol w="2148840"/>
              </a:tblGrid>
              <a:tr h="594360">
                <a:tc>
                  <a:txBody>
                    <a:bodyPr/>
                    <a:lstStyle/>
                    <a:p>
                      <a:pPr algn="ctr">
                        <a:defRPr sz="1100" b="1">
                          <a:solidFill>
                            <a:srgbClr val="FFFFFF"/>
                          </a:solidFill>
                          <a:latin typeface="Segoe UI"/>
                        </a:defRPr>
                      </a:pPr>
                      <a:r>
                        <a:t>Tiêu chí Kỹ thuật</a:t>
                      </a:r>
                    </a:p>
                  </a:txBody>
                  <a:tcPr>
                    <a:solidFill>
                      <a:srgbClr val="0F172A"/>
                    </a:solidFill>
                  </a:tcPr>
                </a:tc>
                <a:tc>
                  <a:txBody>
                    <a:bodyPr/>
                    <a:lstStyle/>
                    <a:p>
                      <a:pPr algn="ctr">
                        <a:defRPr sz="1100" b="1">
                          <a:solidFill>
                            <a:srgbClr val="FFFFFF"/>
                          </a:solidFill>
                          <a:latin typeface="Segoe UI"/>
                        </a:defRPr>
                      </a:pPr>
                      <a:r>
                        <a:t>Tuần tự</a:t>
                      </a:r>
                      <a:br/>
                      <a:r>
                        <a:t>(Sequential)</a:t>
                      </a:r>
                    </a:p>
                  </a:txBody>
                  <a:tcPr>
                    <a:solidFill>
                      <a:srgbClr val="2563EB"/>
                    </a:solidFill>
                  </a:tcPr>
                </a:tc>
                <a:tc>
                  <a:txBody>
                    <a:bodyPr/>
                    <a:lstStyle/>
                    <a:p>
                      <a:pPr algn="ctr">
                        <a:defRPr sz="1100" b="1">
                          <a:solidFill>
                            <a:srgbClr val="FFFFFF"/>
                          </a:solidFill>
                          <a:latin typeface="Segoe UI"/>
                        </a:defRPr>
                      </a:pPr>
                      <a:r>
                        <a:t>Đồng thời</a:t>
                      </a:r>
                      <a:br/>
                      <a:r>
                        <a:t>(Multi-threading)</a:t>
                      </a:r>
                    </a:p>
                  </a:txBody>
                  <a:tcPr>
                    <a:solidFill>
                      <a:srgbClr val="2563EB"/>
                    </a:solidFill>
                  </a:tcPr>
                </a:tc>
                <a:tc>
                  <a:txBody>
                    <a:bodyPr/>
                    <a:lstStyle/>
                    <a:p>
                      <a:pPr algn="ctr">
                        <a:defRPr sz="1100" b="1">
                          <a:solidFill>
                            <a:srgbClr val="FFFFFF"/>
                          </a:solidFill>
                          <a:latin typeface="Segoe UI"/>
                        </a:defRPr>
                      </a:pPr>
                      <a:r>
                        <a:t>Song song</a:t>
                      </a:r>
                      <a:br/>
                      <a:r>
                        <a:t>(Multiprocessing)</a:t>
                      </a:r>
                    </a:p>
                  </a:txBody>
                  <a:tcPr>
                    <a:solidFill>
                      <a:srgbClr val="7C3AED"/>
                    </a:solidFill>
                  </a:tcPr>
                </a:tc>
                <a:tc>
                  <a:txBody>
                    <a:bodyPr/>
                    <a:lstStyle/>
                    <a:p>
                      <a:pPr algn="ctr">
                        <a:defRPr sz="1100" b="1">
                          <a:solidFill>
                            <a:srgbClr val="FFFFFF"/>
                          </a:solidFill>
                          <a:latin typeface="Segoe UI"/>
                        </a:defRPr>
                      </a:pPr>
                      <a:r>
                        <a:t>Bất đồng bộ</a:t>
                      </a:r>
                      <a:br/>
                      <a:r>
                        <a:t>(Asyncio)</a:t>
                      </a:r>
                    </a:p>
                  </a:txBody>
                  <a:tcPr>
                    <a:solidFill>
                      <a:srgbClr val="059669"/>
                    </a:solidFill>
                  </a:tcPr>
                </a:tc>
              </a:tr>
              <a:tr h="594360">
                <a:tc>
                  <a:txBody>
                    <a:bodyPr/>
                    <a:lstStyle/>
                    <a:p>
                      <a:pPr algn="l">
                        <a:defRPr sz="1050" b="1">
                          <a:solidFill>
                            <a:srgbClr val="0F172A"/>
                          </a:solidFill>
                          <a:latin typeface="Segoe UI"/>
                        </a:defRPr>
                      </a:pPr>
                      <a:r>
                        <a:t>Đơn vị điều phối</a:t>
                      </a:r>
                    </a:p>
                  </a:txBody>
                  <a:tcPr>
                    <a:solidFill>
                      <a:srgbClr val="FFFFFF"/>
                    </a:solidFill>
                  </a:tcPr>
                </a:tc>
                <a:tc>
                  <a:txBody>
                    <a:bodyPr/>
                    <a:lstStyle/>
                    <a:p>
                      <a:pPr algn="ctr">
                        <a:defRPr sz="1050" b="0">
                          <a:solidFill>
                            <a:srgbClr val="0F172A"/>
                          </a:solidFill>
                          <a:latin typeface="Segoe UI"/>
                        </a:defRPr>
                      </a:pPr>
                      <a:r>
                        <a:t>Chỉ thị lệnh (Instruction)</a:t>
                      </a:r>
                    </a:p>
                  </a:txBody>
                  <a:tcPr>
                    <a:solidFill>
                      <a:srgbClr val="FFFFFF"/>
                    </a:solidFill>
                  </a:tcPr>
                </a:tc>
                <a:tc>
                  <a:txBody>
                    <a:bodyPr/>
                    <a:lstStyle/>
                    <a:p>
                      <a:pPr algn="ctr">
                        <a:defRPr sz="1050" b="0">
                          <a:solidFill>
                            <a:srgbClr val="0F172A"/>
                          </a:solidFill>
                          <a:latin typeface="Segoe UI"/>
                        </a:defRPr>
                      </a:pPr>
                      <a:r>
                        <a:t>OS Thread</a:t>
                      </a:r>
                    </a:p>
                  </a:txBody>
                  <a:tcPr>
                    <a:solidFill>
                      <a:srgbClr val="FFFFFF"/>
                    </a:solidFill>
                  </a:tcPr>
                </a:tc>
                <a:tc>
                  <a:txBody>
                    <a:bodyPr/>
                    <a:lstStyle/>
                    <a:p>
                      <a:pPr algn="ctr">
                        <a:defRPr sz="1050" b="0">
                          <a:solidFill>
                            <a:srgbClr val="0F172A"/>
                          </a:solidFill>
                          <a:latin typeface="Segoe UI"/>
                        </a:defRPr>
                      </a:pPr>
                      <a:r>
                        <a:t>Process độc lập</a:t>
                      </a:r>
                    </a:p>
                  </a:txBody>
                  <a:tcPr>
                    <a:solidFill>
                      <a:srgbClr val="FFFFFF"/>
                    </a:solidFill>
                  </a:tcPr>
                </a:tc>
                <a:tc>
                  <a:txBody>
                    <a:bodyPr/>
                    <a:lstStyle/>
                    <a:p>
                      <a:pPr algn="ctr">
                        <a:defRPr sz="1050" b="0">
                          <a:solidFill>
                            <a:srgbClr val="0F172A"/>
                          </a:solidFill>
                          <a:latin typeface="Segoe UI"/>
                        </a:defRPr>
                      </a:pPr>
                      <a:r>
                        <a:t>Coroutine / Task</a:t>
                      </a:r>
                    </a:p>
                  </a:txBody>
                  <a:tcPr>
                    <a:solidFill>
                      <a:srgbClr val="FFFFFF"/>
                    </a:solidFill>
                  </a:tcPr>
                </a:tc>
              </a:tr>
              <a:tr h="594360">
                <a:tc>
                  <a:txBody>
                    <a:bodyPr/>
                    <a:lstStyle/>
                    <a:p>
                      <a:pPr algn="l">
                        <a:defRPr sz="1050" b="1">
                          <a:solidFill>
                            <a:srgbClr val="0F172A"/>
                          </a:solidFill>
                          <a:latin typeface="Segoe UI"/>
                        </a:defRPr>
                      </a:pPr>
                      <a:r>
                        <a:t>Yêu cầu phần cứng</a:t>
                      </a:r>
                    </a:p>
                  </a:txBody>
                  <a:tcPr>
                    <a:solidFill>
                      <a:srgbClr val="F1F5F9"/>
                    </a:solidFill>
                  </a:tcPr>
                </a:tc>
                <a:tc>
                  <a:txBody>
                    <a:bodyPr/>
                    <a:lstStyle/>
                    <a:p>
                      <a:pPr algn="ctr">
                        <a:defRPr sz="1050" b="0">
                          <a:solidFill>
                            <a:srgbClr val="0F172A"/>
                          </a:solidFill>
                          <a:latin typeface="Segoe UI"/>
                        </a:defRPr>
                      </a:pPr>
                      <a:r>
                        <a:t>≥ 1 Core bất kỳ</a:t>
                      </a:r>
                    </a:p>
                  </a:txBody>
                  <a:tcPr>
                    <a:solidFill>
                      <a:srgbClr val="F1F5F9"/>
                    </a:solidFill>
                  </a:tcPr>
                </a:tc>
                <a:tc>
                  <a:txBody>
                    <a:bodyPr/>
                    <a:lstStyle/>
                    <a:p>
                      <a:pPr algn="ctr">
                        <a:defRPr sz="1050" b="0">
                          <a:solidFill>
                            <a:srgbClr val="0F172A"/>
                          </a:solidFill>
                          <a:latin typeface="Segoe UI"/>
                        </a:defRPr>
                      </a:pPr>
                      <a:r>
                        <a:t>≥ 1 Core (Time-slicing)</a:t>
                      </a:r>
                    </a:p>
                  </a:txBody>
                  <a:tcPr>
                    <a:solidFill>
                      <a:srgbClr val="F1F5F9"/>
                    </a:solidFill>
                  </a:tcPr>
                </a:tc>
                <a:tc>
                  <a:txBody>
                    <a:bodyPr/>
                    <a:lstStyle/>
                    <a:p>
                      <a:pPr algn="ctr">
                        <a:defRPr sz="1050" b="0">
                          <a:solidFill>
                            <a:srgbClr val="0F172A"/>
                          </a:solidFill>
                          <a:latin typeface="Segoe UI"/>
                        </a:defRPr>
                      </a:pPr>
                      <a:r>
                        <a:t>Đa nhân (&gt; 1 Physical Cores)</a:t>
                      </a:r>
                    </a:p>
                  </a:txBody>
                  <a:tcPr>
                    <a:solidFill>
                      <a:srgbClr val="F1F5F9"/>
                    </a:solidFill>
                  </a:tcPr>
                </a:tc>
                <a:tc>
                  <a:txBody>
                    <a:bodyPr/>
                    <a:lstStyle/>
                    <a:p>
                      <a:pPr algn="ctr">
                        <a:defRPr sz="1050" b="0">
                          <a:solidFill>
                            <a:srgbClr val="0F172A"/>
                          </a:solidFill>
                          <a:latin typeface="Segoe UI"/>
                        </a:defRPr>
                      </a:pPr>
                      <a:r>
                        <a:t>≥ 1 Core (Single-thread)</a:t>
                      </a:r>
                    </a:p>
                  </a:txBody>
                  <a:tcPr>
                    <a:solidFill>
                      <a:srgbClr val="F1F5F9"/>
                    </a:solidFill>
                  </a:tcPr>
                </a:tc>
              </a:tr>
              <a:tr h="594360">
                <a:tc>
                  <a:txBody>
                    <a:bodyPr/>
                    <a:lstStyle/>
                    <a:p>
                      <a:pPr algn="l">
                        <a:defRPr sz="1050" b="1">
                          <a:solidFill>
                            <a:srgbClr val="0F172A"/>
                          </a:solidFill>
                          <a:latin typeface="Segoe UI"/>
                        </a:defRPr>
                      </a:pPr>
                      <a:r>
                        <a:t>Mức tiêu tốn Bộ nhớ</a:t>
                      </a:r>
                    </a:p>
                  </a:txBody>
                  <a:tcPr>
                    <a:solidFill>
                      <a:srgbClr val="FFFFFF"/>
                    </a:solidFill>
                  </a:tcPr>
                </a:tc>
                <a:tc>
                  <a:txBody>
                    <a:bodyPr/>
                    <a:lstStyle/>
                    <a:p>
                      <a:pPr algn="ctr">
                        <a:defRPr sz="1050" b="0">
                          <a:solidFill>
                            <a:srgbClr val="0F172A"/>
                          </a:solidFill>
                          <a:latin typeface="Segoe UI"/>
                        </a:defRPr>
                      </a:pPr>
                      <a:r>
                        <a:t>Tối thiểu (Vài KB)</a:t>
                      </a:r>
                    </a:p>
                  </a:txBody>
                  <a:tcPr>
                    <a:solidFill>
                      <a:srgbClr val="FFFFFF"/>
                    </a:solidFill>
                  </a:tcPr>
                </a:tc>
                <a:tc>
                  <a:txBody>
                    <a:bodyPr/>
                    <a:lstStyle/>
                    <a:p>
                      <a:pPr algn="ctr">
                        <a:defRPr sz="1050" b="0">
                          <a:solidFill>
                            <a:srgbClr val="0F172A"/>
                          </a:solidFill>
                          <a:latin typeface="Segoe UI"/>
                        </a:defRPr>
                      </a:pPr>
                      <a:r>
                        <a:t>Cao (~2 - 8 MB / Thread)</a:t>
                      </a:r>
                    </a:p>
                  </a:txBody>
                  <a:tcPr>
                    <a:solidFill>
                      <a:srgbClr val="FFFFFF"/>
                    </a:solidFill>
                  </a:tcPr>
                </a:tc>
                <a:tc>
                  <a:txBody>
                    <a:bodyPr/>
                    <a:lstStyle/>
                    <a:p>
                      <a:pPr algn="ctr">
                        <a:defRPr sz="1050" b="0">
                          <a:solidFill>
                            <a:srgbClr val="0F172A"/>
                          </a:solidFill>
                          <a:latin typeface="Segoe UI"/>
                        </a:defRPr>
                      </a:pPr>
                      <a:r>
                        <a:t>Rất cao (Clone toàn bộ RAM)</a:t>
                      </a:r>
                    </a:p>
                  </a:txBody>
                  <a:tcPr>
                    <a:solidFill>
                      <a:srgbClr val="FFFFFF"/>
                    </a:solidFill>
                  </a:tcPr>
                </a:tc>
                <a:tc>
                  <a:txBody>
                    <a:bodyPr/>
                    <a:lstStyle/>
                    <a:p>
                      <a:pPr algn="ctr">
                        <a:defRPr sz="1050" b="0">
                          <a:solidFill>
                            <a:srgbClr val="0F172A"/>
                          </a:solidFill>
                          <a:latin typeface="Segoe UI"/>
                        </a:defRPr>
                      </a:pPr>
                      <a:r>
                        <a:t>Rất thấp (Vài trăm Bytes/Task)</a:t>
                      </a:r>
                    </a:p>
                  </a:txBody>
                  <a:tcPr>
                    <a:solidFill>
                      <a:srgbClr val="FFFFFF"/>
                    </a:solidFill>
                  </a:tcPr>
                </a:tc>
              </a:tr>
              <a:tr h="594360">
                <a:tc>
                  <a:txBody>
                    <a:bodyPr/>
                    <a:lstStyle/>
                    <a:p>
                      <a:pPr algn="l">
                        <a:defRPr sz="1050" b="1">
                          <a:solidFill>
                            <a:srgbClr val="0F172A"/>
                          </a:solidFill>
                          <a:latin typeface="Segoe UI"/>
                        </a:defRPr>
                      </a:pPr>
                      <a:r>
                        <a:t>Tranh chấp Dữ liệu</a:t>
                      </a:r>
                    </a:p>
                  </a:txBody>
                  <a:tcPr>
                    <a:solidFill>
                      <a:srgbClr val="F1F5F9"/>
                    </a:solidFill>
                  </a:tcPr>
                </a:tc>
                <a:tc>
                  <a:txBody>
                    <a:bodyPr/>
                    <a:lstStyle/>
                    <a:p>
                      <a:pPr algn="ctr">
                        <a:defRPr sz="1050" b="0">
                          <a:solidFill>
                            <a:srgbClr val="0F172A"/>
                          </a:solidFill>
                          <a:latin typeface="Segoe UI"/>
                        </a:defRPr>
                      </a:pPr>
                      <a:r>
                        <a:t>Không có (0%)</a:t>
                      </a:r>
                    </a:p>
                  </a:txBody>
                  <a:tcPr>
                    <a:solidFill>
                      <a:srgbClr val="F1F5F9"/>
                    </a:solidFill>
                  </a:tcPr>
                </a:tc>
                <a:tc>
                  <a:txBody>
                    <a:bodyPr/>
                    <a:lstStyle/>
                    <a:p>
                      <a:pPr algn="ctr">
                        <a:defRPr sz="1050" b="0">
                          <a:solidFill>
                            <a:srgbClr val="0F172A"/>
                          </a:solidFill>
                          <a:latin typeface="Segoe UI"/>
                        </a:defRPr>
                      </a:pPr>
                      <a:r>
                        <a:t>Rất cao (Cần Mutex/Lock)</a:t>
                      </a:r>
                    </a:p>
                  </a:txBody>
                  <a:tcPr>
                    <a:solidFill>
                      <a:srgbClr val="F1F5F9"/>
                    </a:solidFill>
                  </a:tcPr>
                </a:tc>
                <a:tc>
                  <a:txBody>
                    <a:bodyPr/>
                    <a:lstStyle/>
                    <a:p>
                      <a:pPr algn="ctr">
                        <a:defRPr sz="1050" b="0">
                          <a:solidFill>
                            <a:srgbClr val="0F172A"/>
                          </a:solidFill>
                          <a:latin typeface="Segoe UI"/>
                        </a:defRPr>
                      </a:pPr>
                      <a:r>
                        <a:t>Không chung RAM (Cần IPC)</a:t>
                      </a:r>
                    </a:p>
                  </a:txBody>
                  <a:tcPr>
                    <a:solidFill>
                      <a:srgbClr val="F1F5F9"/>
                    </a:solidFill>
                  </a:tcPr>
                </a:tc>
                <a:tc>
                  <a:txBody>
                    <a:bodyPr/>
                    <a:lstStyle/>
                    <a:p>
                      <a:pPr algn="ctr">
                        <a:defRPr sz="1050" b="0">
                          <a:solidFill>
                            <a:srgbClr val="0F172A"/>
                          </a:solidFill>
                          <a:latin typeface="Segoe UI"/>
                        </a:defRPr>
                      </a:pPr>
                      <a:r>
                        <a:t>Không có trên biến đơn</a:t>
                      </a:r>
                    </a:p>
                  </a:txBody>
                  <a:tcPr>
                    <a:solidFill>
                      <a:srgbClr val="F1F5F9"/>
                    </a:solidFill>
                  </a:tcPr>
                </a:tc>
              </a:tr>
              <a:tr h="594360">
                <a:tc>
                  <a:txBody>
                    <a:bodyPr/>
                    <a:lstStyle/>
                    <a:p>
                      <a:pPr algn="l">
                        <a:defRPr sz="1050" b="1">
                          <a:solidFill>
                            <a:srgbClr val="0F172A"/>
                          </a:solidFill>
                          <a:latin typeface="Segoe UI"/>
                        </a:defRPr>
                      </a:pPr>
                      <a:r>
                        <a:t>Miền Ứng dụng Tối ưu</a:t>
                      </a:r>
                    </a:p>
                  </a:txBody>
                  <a:tcPr>
                    <a:solidFill>
                      <a:srgbClr val="FFFFFF"/>
                    </a:solidFill>
                  </a:tcPr>
                </a:tc>
                <a:tc>
                  <a:txBody>
                    <a:bodyPr/>
                    <a:lstStyle/>
                    <a:p>
                      <a:pPr algn="ctr">
                        <a:defRPr sz="1050" b="0">
                          <a:solidFill>
                            <a:srgbClr val="0F172A"/>
                          </a:solidFill>
                          <a:latin typeface="Segoe UI"/>
                        </a:defRPr>
                      </a:pPr>
                      <a:r>
                        <a:t>Script đơn giản, tính 1 lần</a:t>
                      </a:r>
                    </a:p>
                  </a:txBody>
                  <a:tcPr>
                    <a:solidFill>
                      <a:srgbClr val="FFFFFF"/>
                    </a:solidFill>
                  </a:tcPr>
                </a:tc>
                <a:tc>
                  <a:txBody>
                    <a:bodyPr/>
                    <a:lstStyle/>
                    <a:p>
                      <a:pPr algn="ctr">
                        <a:defRPr sz="1050" b="0">
                          <a:solidFill>
                            <a:srgbClr val="0F172A"/>
                          </a:solidFill>
                          <a:latin typeface="Segoe UI"/>
                        </a:defRPr>
                      </a:pPr>
                      <a:r>
                        <a:t>I/O blocking, GUI apps</a:t>
                      </a:r>
                    </a:p>
                  </a:txBody>
                  <a:tcPr>
                    <a:solidFill>
                      <a:srgbClr val="FFFFFF"/>
                    </a:solidFill>
                  </a:tcPr>
                </a:tc>
                <a:tc>
                  <a:txBody>
                    <a:bodyPr/>
                    <a:lstStyle/>
                    <a:p>
                      <a:pPr algn="ctr">
                        <a:defRPr sz="1050" b="0">
                          <a:solidFill>
                            <a:srgbClr val="0F172A"/>
                          </a:solidFill>
                          <a:latin typeface="Segoe UI"/>
                        </a:defRPr>
                      </a:pPr>
                      <a:r>
                        <a:t>Machine Learning, Big Data</a:t>
                      </a:r>
                    </a:p>
                  </a:txBody>
                  <a:tcPr>
                    <a:solidFill>
                      <a:srgbClr val="FFFFFF"/>
                    </a:solidFill>
                  </a:tcPr>
                </a:tc>
                <a:tc>
                  <a:txBody>
                    <a:bodyPr/>
                    <a:lstStyle/>
                    <a:p>
                      <a:pPr algn="ctr">
                        <a:defRPr sz="1050" b="0">
                          <a:solidFill>
                            <a:srgbClr val="0F172A"/>
                          </a:solidFill>
                          <a:latin typeface="Segoe UI"/>
                        </a:defRPr>
                      </a:pPr>
                      <a:r>
                        <a:t>Web APIs, Microservices, I/O</a:t>
                      </a:r>
                    </a:p>
                  </a:txBody>
                  <a:tcPr>
                    <a:solidFill>
                      <a:srgbClr val="FFFFFF"/>
                    </a:solidFill>
                  </a:tcPr>
                </a:tc>
              </a:tr>
            </a:tbl>
          </a:graphicData>
        </a:graphic>
      </p:graphicFrame>
      <p:sp>
        <p:nvSpPr>
          <p:cNvPr id="10" name="Rounded Rectangle 9"/>
          <p:cNvSpPr/>
          <p:nvPr/>
        </p:nvSpPr>
        <p:spPr>
          <a:xfrm>
            <a:off x="731520" y="5623560"/>
            <a:ext cx="1072865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50" b="1">
                <a:solidFill>
                  <a:srgbClr val="2563EB"/>
                </a:solidFill>
                <a:latin typeface="Segoe UI"/>
              </a:defRPr>
            </a:pPr>
            <a:r>
              <a:t>⚖️  Nguyên lý kiến trúc phần mềm: </a:t>
            </a:r>
            <a:r>
              <a:rPr sz="1150" b="0">
                <a:solidFill>
                  <a:srgbClr val="334155"/>
                </a:solidFill>
                <a:latin typeface="Segoe UI"/>
              </a:rPr>
              <a:t>Không có mô hình nào là 'tốt nhất cho mọi thứ' (No Silver Bullet). Việc chọn đúng mô hình phụ thuộc hoàn toàn vào bài toán là I/O-bound hay CPU-bound.</a:t>
            </a:r>
          </a:p>
        </p:txBody>
      </p:sp>
      <p:sp>
        <p:nvSpPr>
          <p:cNvPr id="11" name="Rounded Rectangle 10"/>
          <p:cNvSpPr/>
          <p:nvPr/>
        </p:nvSpPr>
        <p:spPr>
          <a:xfrm>
            <a:off x="731520" y="5623560"/>
            <a:ext cx="109728"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9184"/>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137160" tIns="36576"/>
          <a:lstStyle/>
          <a:p>
            <a:pPr algn="ctr">
              <a:defRPr sz="1000" b="1">
                <a:solidFill>
                  <a:srgbClr val="2563EB"/>
                </a:solidFill>
                <a:latin typeface="Segoe UI"/>
              </a:defRPr>
            </a:pPr>
            <a:r>
              <a:t>●  TỔNG KẾT &amp; ĐỊNH HƯỚNG</a:t>
            </a:r>
          </a:p>
        </p:txBody>
      </p:sp>
      <p:sp>
        <p:nvSpPr>
          <p:cNvPr id="4" name="TextBox 3"/>
          <p:cNvSpPr txBox="1"/>
          <p:nvPr/>
        </p:nvSpPr>
        <p:spPr>
          <a:xfrm>
            <a:off x="731520" y="749808"/>
            <a:ext cx="10698480" cy="868680"/>
          </a:xfrm>
          <a:prstGeom prst="rect">
            <a:avLst/>
          </a:prstGeom>
          <a:noFill/>
        </p:spPr>
        <p:txBody>
          <a:bodyPr wrap="square" lIns="0" tIns="0">
            <a:spAutoFit/>
          </a:bodyPr>
          <a:lstStyle/>
          <a:p>
            <a:pPr>
              <a:spcAft>
                <a:spcPts val="200"/>
              </a:spcAft>
              <a:defRPr sz="2200" b="1">
                <a:solidFill>
                  <a:srgbClr val="0F172A"/>
                </a:solidFill>
                <a:latin typeface="Segoe UI"/>
              </a:defRPr>
            </a:pPr>
            <a:r>
              <a:t>Cây Quyết định Kiến trúc &amp; Cầu nối Sang Phần II / Phần IV</a:t>
            </a:r>
          </a:p>
          <a:p>
            <a:pPr>
              <a:defRPr sz="1300">
                <a:solidFill>
                  <a:srgbClr val="64748B"/>
                </a:solidFill>
                <a:latin typeface="Segoe UI"/>
              </a:defRPr>
            </a:pPr>
            <a:r>
              <a:t>Hướng dẫn thực chiến chọn đúng công nghệ cho dự án và lộ trình tiếp theo của học phần</a:t>
            </a:r>
          </a:p>
        </p:txBody>
      </p:sp>
      <p:sp>
        <p:nvSpPr>
          <p:cNvPr id="5" name="Rectangle 4"/>
          <p:cNvSpPr/>
          <p:nvPr/>
        </p:nvSpPr>
        <p:spPr>
          <a:xfrm>
            <a:off x="731520" y="169164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6236208"/>
            <a:ext cx="73152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12</a:t>
            </a:r>
          </a:p>
        </p:txBody>
      </p:sp>
      <p:sp>
        <p:nvSpPr>
          <p:cNvPr id="7" name="TextBox 6"/>
          <p:cNvSpPr txBox="1"/>
          <p:nvPr/>
        </p:nvSpPr>
        <p:spPr>
          <a:xfrm>
            <a:off x="1600200" y="6217920"/>
            <a:ext cx="7772400" cy="365760"/>
          </a:xfrm>
          <a:prstGeom prst="rect">
            <a:avLst/>
          </a:prstGeom>
          <a:noFill/>
        </p:spPr>
        <p:txBody>
          <a:bodyPr wrap="none">
            <a:spAutoFit/>
          </a:bodyPr>
          <a:lstStyle/>
          <a:p>
            <a:pPr>
              <a:defRPr sz="1050">
                <a:solidFill>
                  <a:srgbClr val="64748B"/>
                </a:solidFill>
                <a:latin typeface="Segoe UI"/>
              </a:defRPr>
            </a:pPr>
            <a:r>
              <a:t>Tính toán Song song &amp; Phân tán  ›  Chương 4: Lập trình Bất đồng bộ trong Python  ›  Phần I: Nền tảng Lý thuyết</a:t>
            </a:r>
          </a:p>
        </p:txBody>
      </p:sp>
      <p:sp>
        <p:nvSpPr>
          <p:cNvPr id="8" name="TextBox 7"/>
          <p:cNvSpPr txBox="1"/>
          <p:nvPr/>
        </p:nvSpPr>
        <p:spPr>
          <a:xfrm>
            <a:off x="9326880" y="6217920"/>
            <a:ext cx="2133295" cy="365760"/>
          </a:xfrm>
          <a:prstGeom prst="rect">
            <a:avLst/>
          </a:prstGeom>
          <a:noFill/>
        </p:spPr>
        <p:txBody>
          <a:bodyPr wrap="none">
            <a:spAutoFit/>
          </a:bodyPr>
          <a:lstStyle/>
          <a:p>
            <a:pPr algn="r">
              <a:defRPr sz="1000">
                <a:solidFill>
                  <a:srgbClr val="64748B"/>
                </a:solidFill>
                <a:latin typeface="Segoe UI"/>
              </a:defRPr>
            </a:pPr>
            <a:r>
              <a:t>Slide 12 / 12  |  2026 Edition</a:t>
            </a:r>
          </a:p>
        </p:txBody>
      </p:sp>
      <p:sp>
        <p:nvSpPr>
          <p:cNvPr id="9" name="Rounded Rectangle 8"/>
          <p:cNvSpPr/>
          <p:nvPr/>
        </p:nvSpPr>
        <p:spPr>
          <a:xfrm>
            <a:off x="731520" y="1874519"/>
            <a:ext cx="5120640"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2563EB"/>
                </a:solidFill>
                <a:latin typeface="Segoe UI"/>
              </a:defRPr>
            </a:pPr>
            <a:r>
              <a:t>🌳 Cây Quyết định Thiết kế (Decision Tree)</a:t>
            </a:r>
          </a:p>
          <a:p>
            <a:pPr>
              <a:defRPr b="1" sz="1150">
                <a:solidFill>
                  <a:srgbClr val="7C3AED"/>
                </a:solidFill>
              </a:defRPr>
            </a:pPr>
            <a:r>
              <a:t>Q1: Bài toán có bị nghẽn bởi tính toán CPU không?</a:t>
            </a:r>
          </a:p>
          <a:p>
            <a:pPr>
              <a:spcAft>
                <a:spcPts val="600"/>
              </a:spcAft>
              <a:defRPr sz="1050">
                <a:solidFill>
                  <a:srgbClr val="334155"/>
                </a:solidFill>
              </a:defRPr>
            </a:pPr>
            <a:r>
              <a:t>• NẾU CÓ (CPU-bound: Xử lý video, AI, nén file):</a:t>
            </a:r>
            <a:br/>
            <a:r>
              <a:t>  → CHỌN `multiprocessing` hoặc `ProcessPoolExecutor`.</a:t>
            </a:r>
            <a:br/>
            <a:r>
              <a:t>  → Lý do: Vượt qua rào cản GIL, dùng toàn bộ số nhân vật lý.</a:t>
            </a:r>
          </a:p>
          <a:p>
            <a:pPr>
              <a:defRPr b="1" sz="1150">
                <a:solidFill>
                  <a:srgbClr val="059669"/>
                </a:solidFill>
              </a:defRPr>
            </a:pPr>
            <a:r>
              <a:t>Q2: Bài toán bị nghẽn bởi thao tác Mạng/Ổ đĩa (I/O)?</a:t>
            </a:r>
          </a:p>
          <a:p>
            <a:pPr>
              <a:spcAft>
                <a:spcPts val="600"/>
              </a:spcAft>
              <a:defRPr sz="1050">
                <a:solidFill>
                  <a:srgbClr val="334155"/>
                </a:solidFill>
              </a:defRPr>
            </a:pPr>
            <a:r>
              <a:t>• NẾU CÓ (I/O-bound: Crawl web, gọi API, Database):</a:t>
            </a:r>
            <a:br/>
            <a:r>
              <a:t>  → CHỌN `asyncio` (`aiohttp`, `async/await`).</a:t>
            </a:r>
            <a:br/>
            <a:r>
              <a:t>  → Lý do: Phục vụ hàng vạn kết nối đồng thời với RAM tối thiểu.</a:t>
            </a:r>
          </a:p>
          <a:p>
            <a:pPr>
              <a:defRPr b="1" sz="1150">
                <a:solidFill>
                  <a:srgbClr val="D97706"/>
                </a:solidFill>
              </a:defRPr>
            </a:pPr>
            <a:r>
              <a:t>Q3: Code cũ dùng thư viện chặn (Blocking legacy code)?</a:t>
            </a:r>
          </a:p>
          <a:p>
            <a:pPr>
              <a:spcAft>
                <a:spcPts val="600"/>
              </a:spcAft>
              <a:defRPr sz="1050">
                <a:solidFill>
                  <a:srgbClr val="334155"/>
                </a:solidFill>
              </a:defRPr>
            </a:pPr>
            <a:r>
              <a:t>• NẾU CÓ (Không thể viết lại bằng async):</a:t>
            </a:r>
            <a:br/>
            <a:r>
              <a:t>  → CHỌN `concurrent.futures.ThreadPoolExecutor`.</a:t>
            </a:r>
          </a:p>
        </p:txBody>
      </p:sp>
      <p:sp>
        <p:nvSpPr>
          <p:cNvPr id="10" name="Rounded Rectangle 9"/>
          <p:cNvSpPr/>
          <p:nvPr/>
        </p:nvSpPr>
        <p:spPr>
          <a:xfrm>
            <a:off x="731520" y="1874519"/>
            <a:ext cx="5120640"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874519"/>
            <a:ext cx="5425135"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spcAft>
                <a:spcPts val="800"/>
              </a:spcAft>
              <a:defRPr sz="1400" b="1">
                <a:solidFill>
                  <a:srgbClr val="059669"/>
                </a:solidFill>
                <a:latin typeface="Segoe UI"/>
              </a:defRPr>
            </a:pPr>
            <a:r>
              <a:t>🗺️ Lộ trình Bài giảng Kế tiếp (Next Modules)</a:t>
            </a:r>
          </a:p>
          <a:p>
            <a:pPr>
              <a:spcAft>
                <a:spcPts val="800"/>
              </a:spcAft>
              <a:defRPr sz="1100">
                <a:solidFill>
                  <a:srgbClr val="334155"/>
                </a:solidFill>
              </a:defRPr>
            </a:pPr>
            <a:r>
              <a:t>Phần I đã hoàn tất nền móng lý thuyết. Sinh viên sẵn sàng bước vào các phần triển khai code thực chiến:</a:t>
            </a:r>
          </a:p>
          <a:p>
            <a:pPr>
              <a:defRPr b="1" sz="1150">
                <a:solidFill>
                  <a:srgbClr val="2563EB"/>
                </a:solidFill>
              </a:defRPr>
            </a:pPr>
            <a:r>
              <a:t>👉 Phần II: `concurrent.futures`:</a:t>
            </a:r>
          </a:p>
          <a:p>
            <a:pPr>
              <a:spcAft>
                <a:spcPts val="600"/>
              </a:spcAft>
              <a:defRPr sz="1050">
                <a:solidFill>
                  <a:srgbClr val="334155"/>
                </a:solidFill>
              </a:defRPr>
            </a:pPr>
            <a:r>
              <a:t>   Kỹ thuật quản lý Pool cấp cao (ThreadPool &amp; ProcessPoolExecutor) để song song hóa code đồng bộ.</a:t>
            </a:r>
          </a:p>
          <a:p>
            <a:pPr>
              <a:defRPr b="1" sz="1150">
                <a:solidFill>
                  <a:srgbClr val="2563EB"/>
                </a:solidFill>
              </a:defRPr>
            </a:pPr>
            <a:r>
              <a:t>👉 Phần III: Thư viện `threading` &amp; Đồng bộ hóa:</a:t>
            </a:r>
          </a:p>
          <a:p>
            <a:pPr>
              <a:spcAft>
                <a:spcPts val="600"/>
              </a:spcAft>
              <a:defRPr sz="1050">
                <a:solidFill>
                  <a:srgbClr val="334155"/>
                </a:solidFill>
              </a:defRPr>
            </a:pPr>
            <a:r>
              <a:t>   Quản trị Race Conditions, Locks, Semaphores và Queues.</a:t>
            </a:r>
          </a:p>
          <a:p>
            <a:pPr>
              <a:defRPr b="1" sz="1150">
                <a:solidFill>
                  <a:srgbClr val="2563EB"/>
                </a:solidFill>
              </a:defRPr>
            </a:pPr>
            <a:r>
              <a:t>👉 Phần IV: Chuyên sâu `asyncio` trong Python:</a:t>
            </a:r>
          </a:p>
          <a:p>
            <a:pPr>
              <a:spcAft>
                <a:spcPts val="600"/>
              </a:spcAft>
              <a:defRPr sz="1050">
                <a:solidFill>
                  <a:srgbClr val="334155"/>
                </a:solidFill>
              </a:defRPr>
            </a:pPr>
            <a:r>
              <a:t>   Lập trình Coroutines, Tasks, Futures, Event Loop và xây dựng ứng dụng bất đồng bộ hoàn chỉnh.</a:t>
            </a:r>
          </a:p>
        </p:txBody>
      </p:sp>
      <p:sp>
        <p:nvSpPr>
          <p:cNvPr id="12" name="Rounded Rectangle 11"/>
          <p:cNvSpPr/>
          <p:nvPr/>
        </p:nvSpPr>
        <p:spPr>
          <a:xfrm>
            <a:off x="6035040" y="1874519"/>
            <a:ext cx="5425135" cy="635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5623560"/>
            <a:ext cx="10728655" cy="5029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73152" bIns="73152"/>
          <a:lstStyle/>
          <a:p>
            <a:pPr algn="ctr">
              <a:defRPr sz="1150" b="1">
                <a:solidFill>
                  <a:srgbClr val="2563EB"/>
                </a:solidFill>
                <a:latin typeface="Segoe UI"/>
              </a:defRPr>
            </a:pPr>
            <a:r>
              <a:t>🎓  Thông điệp đúc kết: </a:t>
            </a:r>
            <a:r>
              <a:rPr sz="1150" b="0">
                <a:solidFill>
                  <a:srgbClr val="334155"/>
                </a:solidFill>
                <a:latin typeface="Segoe UI"/>
              </a:rPr>
              <a:t>Hiểu rõ bản chất phần cứng và mô hình luồng là sự khác biệt giữa một người biết code và một Kỹ sư Thiết kế Hệ thống.</a:t>
            </a:r>
          </a:p>
        </p:txBody>
      </p:sp>
      <p:sp>
        <p:nvSpPr>
          <p:cNvPr id="14" name="Rounded Rectangle 13"/>
          <p:cNvSpPr/>
          <p:nvPr/>
        </p:nvSpPr>
        <p:spPr>
          <a:xfrm>
            <a:off x="731520" y="5623560"/>
            <a:ext cx="109728"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