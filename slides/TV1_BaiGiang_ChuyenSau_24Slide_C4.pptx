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0081260" cy="755904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cô và cả lớp. Hôm nay em đại diện Thành viên 1 trình bày Phần I: Giới thiệu trong Chương 4 - Tính toán bất đồng bộ trong Python. Đây là nền tảng cốt lõi định hình tư duy về các mô hình xử lý tính toán trong hệ thống hiện đại.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của phần này là giải quyết triệt để sự nhầm lẫn giữa các thuật ngữ. Sinh viên thường nhầm đồng thời với song song, hoặc nghĩ bất đồng bộ là phải có nhiều luồng. Chúng ta sẽ làm sáng tỏ điều này.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trực quan hóa 4 mô hình. Sơ đồ bên dưới cho thấy sự khác nhau rất rõ ràng về trục thời gian giữa chạy tuần tự, chạy xen kẽ trên 1 CPU, và chạy song song đồng thời trên nhiều CPU.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nội dung Slide 2 bài giảng gốc: Xử lý tuần tự là mô hình cơ bản và trực quan nhất. 1 task làm xong mới tới task tiếp theo. Mọi dòng mã chạy từ trên xuống dưới.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giải thích vì sao tuần tự lại không hiệu quả. Điểm nghẽn không nằm ở tốc độ tính toán của CPU, mà nằm ở việc CPU phải chờ các thao tác I/O. Đây chính là lý do chúng ta cần đến Concurrency.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Nội dung Slide 3 bài giảng gốc: Hệ điều hành đóng vai trò nhạc trưởng. Nó quản lý tiến trình bằng PID. CPU Core thông minh ở chỗ nó băm nhỏ task và sắp xếp xen kẽ nhau.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đào sâu vào cơ chế Time-slicing. Nhờ tốc độ chuyển đổi ngữ cảnh siêu nhanh, người dùng thấy nhạc vẫn phát, web vẫn tải, chuột vẫn di chuyển mượt mà dù máy chỉ có đúng 1 nhân CPU.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nhấn mạnh slide 4 gốc: Concurrency là cấu trúc xử lý nhiều việc cùng lúc (dealing with lots of things at once). Dưới góc nhìn người dùng là cùng lúc, nhưng ở mức vi mô 1 nhân CPU thì lệnh vẫn chạy lần lượt.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phản ánh slide 5 gốc: Khác hẳn với Concurrency, Parallelism bắt buộc phải có phần cứng hỗ trợ (số core &gt; 1). Tại cùng 1 khoảnh khắc đồng hồ vật lý, có nhiều lệnh được thực thi cùng lúc trên các core khác nhau.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làm rõ điều kiện để có song song thực sự. Nếu bài toán có sự phụ thuộc dữ liệu chặt chẽ thì dù máy có 64 nhân cũng không thể chạy song song được hoàn toàn.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bám sát slide 6 gốc: Giảng viên đưa ra lưu ý rất tinh tế về kiến trúc thực tế. Trên mỗi nhân vẫn có concurrency để chạy các task nền, và không bao giờ có chuyện 2 core cùng chạy 1 task tại 1 thời điểm.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so sánh này giúp sinh viên tổng hợp nhanh sự khác biệt giữa 3 mô hình. Hãy nhấn mạnh cột Số nhân CPU: Concurrency chỉ cần 1 nhân, nhưng Parallelism bắt buộc phải có từ 2 nhân trở lên.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dẫn nhập slide 7 gốc: Bất đồng bộ (Asynchronous). Khái niệm then chốt là: Xử lý không theo thứ tự, có thể chuyển sang task khác trước khi task trước hoàn thành. Giảng viên đưa 2 ví dụ: Đi thi và Bãi giữ xe.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làm rõ tại sao bất đồng bộ lại nhanh hơn. Nó không làm CPU tính toán nhanh hơn, mà nó tận dụng việc chồng lấp thời gian chờ I/O của nhiều tác vụ với nhau.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Đi thi là ví dụ cực kỳ gần gũi trong slide 7 gốc. Người đi thi thông minh không bao giờ ngồi chờ chết thời gian ở câu khó, mà tạm gác lại làm câu dễ trước. Đó chính là bất đồng bộ!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Bãi giữ xe trong slide 7 giải thích tuyệt vời mô hình Non-blocking: Bác bảo vệ không chờ khách dắt xe vào vị trí mới tiếp người sau. Bác chỉ quét thẻ, phát vé rồi tiếp tục ngay lập tức.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là slide kết luận cực kỳ quan trọng của phần Giới thiệu (Slide 8 gốc): Bất đồng bộ thực thi đồng thời nằm trong MỘT LUỒNG ĐIỀU KHIỂN DUY NHẤT. Task có thể tạm dừng và tiếp tục lại sau.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phân tích cơ chế Tạm dừng và Tiếp tục lại. Đây là chìa khóa của lập trình Coroutine trong Python: Khi gặp await, nó chủ động nhường quyền, và khi có dữ liệu thì tiếp tục chạy lại ngay điểm đó.</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chứng minh nhận định ở cuối slide 8 gốc: Mô hình này áp dụng tốt cho cả máy 1 CPU lẫn máy nhiều CPU. Đây là giải pháp phần mềm tối ưu giúp tiết kiệm chi phí phần cứng máy chủ tối đa.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đối chiếu Slide 20 giúp giải đáp thắc mắc lớn nhất của sinh viên: Tại sao lại dùng luồng đơn bất đồng bộ thay vì dùng đa luồng? Vì nó nhẹ hơn hàng trăm lần và không lo bị Race Condition hay Deadlock!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đưa ra ví dụ code Python cực kỳ đơn giản để minh họa. Một bên dùng time.sleep làm đơ luồng mất 3 giây, một bên dùng await asyncio.sleep nhường quyền và gom bằng gather chỉ mất đúng 1 giây.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là bảng đúc kết toàn bộ 8 slide đầu tiên. Đây là chiếc la bàn kiến trúc giúp người lập trình viên biết chính xác khi nào chọn mô hình nào cho bài toán của mình.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kết nối mạch giảng từ TV1 sang TV2. Sau khi đã nắm vững lý thuyết, câu hỏi tự nhiên là: Python cung cấp module nào để hiện thực hóa điều này? Đó chính là concurrent.futures do TV2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kết thúc phần trình bày của Thành viên 1 tại đây. 3 câu hỏi thảo luận này sẽ giúp lớp khắc sâu bài học. Kính mời cô và các bạn đưa ra câu hỏi hoặc mời bạn TV2 tiếp tục phần trình bày!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59918" y="571500"/>
            <a:ext cx="9334500" cy="825500"/>
          </a:xfrm>
          <a:prstGeom prst="rect">
            <a:avLst/>
          </a:prstGeom>
          <a:noFill/>
        </p:spPr>
        <p:txBody>
          <a:bodyPr wrap="none">
            <a:spAutoFit/>
          </a:bodyPr>
          <a:lstStyle/>
          <a:p>
            <a:pPr>
              <a:defRPr sz="1400" b="1">
                <a:solidFill>
                  <a:srgbClr val="2C3E50"/>
                </a:solidFill>
                <a:latin typeface="Arial"/>
              </a:defRPr>
            </a:pPr>
            <a:r>
              <a:t>TRƯỜNG ĐẠI HỌC KỸ THUẬT - CÔNG NGHỆ CẦN THƠ (CTUET)</a:t>
            </a:r>
          </a:p>
          <a:p>
            <a:pPr>
              <a:defRPr sz="1150">
                <a:solidFill>
                  <a:srgbClr val="BDC3C7"/>
                </a:solidFill>
                <a:latin typeface="Arial"/>
              </a:defRPr>
            </a:pPr>
            <a:r>
              <a:t>KHOA CÔNG NGHỆ THÔNG TIN — HỌC PHẦN: TÍNH TOÁN SONG SONG VÀ PHÂN TÁN</a:t>
            </a:r>
          </a:p>
        </p:txBody>
      </p:sp>
      <p:sp>
        <p:nvSpPr>
          <p:cNvPr id="3" name="Rectangle 2"/>
          <p:cNvSpPr/>
          <p:nvPr/>
        </p:nvSpPr>
        <p:spPr>
          <a:xfrm>
            <a:off x="0" y="2984500"/>
            <a:ext cx="9720072" cy="15875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lIns="359918"/>
          <a:lstStyle/>
          <a:p>
            <a:pPr algn="ctr">
              <a:defRPr sz="2600" b="1">
                <a:solidFill>
                  <a:srgbClr val="FFFFFF"/>
                </a:solidFill>
                <a:latin typeface="Arial"/>
              </a:defRPr>
            </a:pPr>
            <a:r>
              <a:t>CHƯƠNG  4:</a:t>
            </a:r>
          </a:p>
          <a:p>
            <a:pPr>
              <a:defRPr sz="3000" b="1">
                <a:solidFill>
                  <a:srgbClr val="FFFFFF"/>
                </a:solidFill>
                <a:latin typeface="Arial"/>
              </a:defRPr>
            </a:pPr>
            <a:r>
              <a:t>TÍNH TOÁN BẤT ĐỒNG BỘ TRONG PYTHON</a:t>
            </a:r>
          </a:p>
        </p:txBody>
      </p:sp>
      <p:sp>
        <p:nvSpPr>
          <p:cNvPr id="4" name="TextBox 3"/>
          <p:cNvSpPr txBox="1"/>
          <p:nvPr/>
        </p:nvSpPr>
        <p:spPr>
          <a:xfrm>
            <a:off x="359918" y="4889500"/>
            <a:ext cx="9334500" cy="1778000"/>
          </a:xfrm>
          <a:prstGeom prst="rect">
            <a:avLst/>
          </a:prstGeom>
          <a:noFill/>
        </p:spPr>
        <p:txBody>
          <a:bodyPr wrap="none">
            <a:spAutoFit/>
          </a:bodyPr>
          <a:lstStyle/>
          <a:p>
            <a:pPr>
              <a:defRPr sz="1400" b="1">
                <a:solidFill>
                  <a:srgbClr val="2C3E50"/>
                </a:solidFill>
                <a:latin typeface="Arial"/>
              </a:defRPr>
            </a:pPr>
            <a:r>
              <a:t>PHẦN I: GIỚI THIỆU — NỀN TẢNG CÁC MÔ HÌNH THỰC THI (SLIDE GỐC 1 – 8)</a:t>
            </a:r>
          </a:p>
          <a:p>
            <a:pPr>
              <a:defRPr sz="1250" b="1">
                <a:solidFill>
                  <a:srgbClr val="E67E22"/>
                </a:solidFill>
                <a:latin typeface="Arial"/>
              </a:defRPr>
            </a:pPr>
            <a:r>
              <a:t>Báo cáo chuyên môn &amp; Giảng dạy: Thành viên 1 (TV1)</a:t>
            </a:r>
          </a:p>
          <a:p>
            <a:pPr>
              <a:defRPr sz="1100">
                <a:solidFill>
                  <a:srgbClr val="212F3D"/>
                </a:solidFill>
                <a:latin typeface="Arial"/>
              </a:defRPr>
            </a:pPr>
            <a:r>
              <a:t>Giảng viên hướng dẫn: ThS. Lê Anh Nhã Uyên (lanuyen@ctuet.edu.vn)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2</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Mục tiêu Học tập &amp; Phạm vi Nghiên cứu TV1</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Mục tiêu bài học và kiến thức cốt lõi cần làm chủ</a:t>
            </a:r>
          </a:p>
        </p:txBody>
      </p:sp>
      <p:sp>
        <p:nvSpPr>
          <p:cNvPr id="7" name="TextBox 6"/>
          <p:cNvSpPr txBox="1"/>
          <p:nvPr/>
        </p:nvSpPr>
        <p:spPr>
          <a:xfrm>
            <a:off x="359918" y="1905000"/>
            <a:ext cx="9334500" cy="2095500"/>
          </a:xfrm>
          <a:prstGeom prst="rect">
            <a:avLst/>
          </a:prstGeom>
          <a:noFill/>
        </p:spPr>
        <p:txBody>
          <a:bodyPr wrap="square" lIns="0" tIns="0">
            <a:spAutoFit/>
          </a:bodyPr>
          <a:lstStyle/>
          <a:p>
            <a:pPr>
              <a:spcAft>
                <a:spcPts val="700"/>
              </a:spcAft>
            </a:pPr>
            <a:r>
              <a:rPr sz="1200" b="1">
                <a:solidFill>
                  <a:srgbClr val="E74C3C"/>
                </a:solidFill>
                <a:latin typeface="Arial"/>
              </a:rPr>
              <a:t>• Nắm vững bản chất 4 mô hình thực thi: </a:t>
            </a:r>
            <a:r>
              <a:rPr sz="1200">
                <a:solidFill>
                  <a:srgbClr val="212F3D"/>
                </a:solidFill>
                <a:latin typeface="Arial"/>
              </a:rPr>
              <a:t>Hiểu tường tận sự khác biệt bản chất giữa Tuần tự (Sequential), Đồng thời (Concurrency), Song song (Parallelism) và Bất đồng bộ (Asynchronous).</a:t>
            </a:r>
          </a:p>
          <a:p>
            <a:pPr>
              <a:spcAft>
                <a:spcPts val="700"/>
              </a:spcAft>
            </a:pPr>
            <a:r>
              <a:rPr sz="1200" b="1">
                <a:solidFill>
                  <a:srgbClr val="E74C3C"/>
                </a:solidFill>
                <a:latin typeface="Arial"/>
              </a:rPr>
              <a:t>• Hiểu rõ cơ chế điều phối của Hệ điều hành: </a:t>
            </a:r>
            <a:r>
              <a:rPr sz="1200">
                <a:solidFill>
                  <a:srgbClr val="212F3D"/>
                </a:solidFill>
                <a:latin typeface="Arial"/>
              </a:rPr>
              <a:t>Cách hệ điều hành quản lý chương trình thông qua Process ID (PID) và cách CPU Core phân chia thời gian cho các tác vụ.</a:t>
            </a:r>
          </a:p>
          <a:p>
            <a:pPr>
              <a:spcAft>
                <a:spcPts val="700"/>
              </a:spcAft>
            </a:pPr>
            <a:r>
              <a:rPr sz="1200" b="1">
                <a:solidFill>
                  <a:srgbClr val="E74C3C"/>
                </a:solidFill>
                <a:latin typeface="Arial"/>
              </a:rPr>
              <a:t>• Phân biệt điều kiện phần cứng: </a:t>
            </a:r>
            <a:r>
              <a:rPr sz="1200">
                <a:solidFill>
                  <a:srgbClr val="212F3D"/>
                </a:solidFill>
                <a:latin typeface="Arial"/>
              </a:rPr>
              <a:t>Nắm rõ khi nào bài toán đòi hỏi đa nhân vật lý (Multi-core) và khi nào có thể tối ưu hóa ngay trên một nhân đơn (Single-core).</a:t>
            </a:r>
          </a:p>
          <a:p>
            <a:pPr>
              <a:spcAft>
                <a:spcPts val="700"/>
              </a:spcAft>
            </a:pPr>
            <a:r>
              <a:rPr sz="1200" b="1">
                <a:solidFill>
                  <a:srgbClr val="E74C3C"/>
                </a:solidFill>
                <a:latin typeface="Arial"/>
              </a:rPr>
              <a:t>• Làm chủ mô hình Luồng đơn Bất đồng bộ: </a:t>
            </a:r>
            <a:r>
              <a:rPr sz="1200">
                <a:solidFill>
                  <a:srgbClr val="212F3D"/>
                </a:solidFill>
                <a:latin typeface="Arial"/>
              </a:rPr>
              <a:t>Hiểu cơ chế tạm dừng (pause/suspend) và tiếp tục lại (resume) trong một luồng điều khiển duy nhất qua 2 ví dụ thực tế: Đi thi và Bãi giữ xe.</a:t>
            </a:r>
          </a:p>
        </p:txBody>
      </p:sp>
      <p:sp>
        <p:nvSpPr>
          <p:cNvPr id="8" name="Rounded Rectangle 7"/>
          <p:cNvSpPr/>
          <p:nvPr/>
        </p:nvSpPr>
        <p:spPr>
          <a:xfrm>
            <a:off x="359918" y="4254500"/>
            <a:ext cx="9334500" cy="2286000"/>
          </a:xfrm>
          <a:prstGeom prst="roundRect">
            <a:avLst/>
          </a:prstGeom>
          <a:solidFill>
            <a:srgbClr val="F8F9FA"/>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lIns="203200" tIns="152400" rIns="203200"/>
          <a:lstStyle/>
          <a:p>
            <a:pPr algn="ctr">
              <a:defRPr sz="1250" b="1">
                <a:solidFill>
                  <a:srgbClr val="E74C3C"/>
                </a:solidFill>
                <a:latin typeface="Arial"/>
              </a:defRPr>
            </a:pPr>
            <a:r>
              <a:t>KIM CHỈ NAM CỦA THÀNH VIÊN 1:</a:t>
            </a:r>
          </a:p>
          <a:p>
            <a:pPr>
              <a:spcBef>
                <a:spcPts val="500"/>
              </a:spcBef>
            </a:pPr>
            <a:r>
              <a:rPr b="1" sz="1050">
                <a:solidFill>
                  <a:srgbClr val="2C3E50"/>
                </a:solidFill>
              </a:rPr>
              <a:t>• Bám sát bài giảng gốc: </a:t>
            </a:r>
            <a:r>
              <a:rPr sz="1050">
                <a:solidFill>
                  <a:srgbClr val="212F3D"/>
                </a:solidFill>
              </a:rPr>
              <a:t>Trọng tâm trọn vẹn từ Slide 1 đến Slide 8 của tài liệu Chương 4 chính thức.</a:t>
            </a:r>
          </a:p>
          <a:p>
            <a:pPr>
              <a:spcBef>
                <a:spcPts val="500"/>
              </a:spcBef>
            </a:pPr>
            <a:r>
              <a:rPr b="1" sz="1050">
                <a:solidFill>
                  <a:srgbClr val="2C3E50"/>
                </a:solidFill>
              </a:rPr>
              <a:t>• Phương pháp tiếp cận: </a:t>
            </a:r>
            <a:r>
              <a:rPr sz="1050">
                <a:solidFill>
                  <a:srgbClr val="212F3D"/>
                </a:solidFill>
              </a:rPr>
              <a:t>Đi từ trực quan sinh động đến bản chất kiến trúc máy tính và cơ chế điều phối hệ điều hành.</a:t>
            </a:r>
          </a:p>
          <a:p>
            <a:pPr>
              <a:spcBef>
                <a:spcPts val="500"/>
              </a:spcBef>
            </a:pPr>
            <a:r>
              <a:rPr b="1" sz="1050">
                <a:solidFill>
                  <a:srgbClr val="2C3E50"/>
                </a:solidFill>
              </a:rPr>
              <a:t>• Chuẩn bị chuyển giao: </a:t>
            </a:r>
            <a:r>
              <a:rPr sz="1050">
                <a:solidFill>
                  <a:srgbClr val="212F3D"/>
                </a:solidFill>
              </a:rPr>
              <a:t>Tạo nền tảng tư duy vững chắc trước khi bước vào các thư viện cụ thể như concurrent.futures và asyncio.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3</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Bản đồ Tư duy 4 Mô hình Tính toán</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Bản đồ tư duy: Bốn mô hình tính toán nền tảng của Chương 4</a:t>
            </a:r>
          </a:p>
        </p:txBody>
      </p:sp>
      <p:sp>
        <p:nvSpPr>
          <p:cNvPr id="7" name="TextBox 6"/>
          <p:cNvSpPr txBox="1"/>
          <p:nvPr/>
        </p:nvSpPr>
        <p:spPr>
          <a:xfrm>
            <a:off x="359918" y="1905000"/>
            <a:ext cx="9334500" cy="2095500"/>
          </a:xfrm>
          <a:prstGeom prst="rect">
            <a:avLst/>
          </a:prstGeom>
          <a:noFill/>
        </p:spPr>
        <p:txBody>
          <a:bodyPr wrap="square" lIns="0" tIns="0">
            <a:spAutoFit/>
          </a:bodyPr>
          <a:lstStyle/>
          <a:p>
            <a:pPr>
              <a:spcAft>
                <a:spcPts val="700"/>
              </a:spcAft>
            </a:pPr>
            <a:r>
              <a:rPr sz="1200" b="1">
                <a:solidFill>
                  <a:srgbClr val="E74C3C"/>
                </a:solidFill>
                <a:latin typeface="Arial"/>
              </a:rPr>
              <a:t>• Mô hình 1 — Tuần tự (Sequential): </a:t>
            </a:r>
            <a:r>
              <a:rPr sz="1200">
                <a:solidFill>
                  <a:srgbClr val="212F3D"/>
                </a:solidFill>
                <a:latin typeface="Arial"/>
              </a:rPr>
              <a:t>Xử lý 1 tác vụ trong 1 khoảng thời gian; các task nối tiếp nhau theo thứ tự cố định nghiêm ngặt.</a:t>
            </a:r>
          </a:p>
          <a:p>
            <a:pPr>
              <a:spcAft>
                <a:spcPts val="700"/>
              </a:spcAft>
            </a:pPr>
            <a:r>
              <a:rPr sz="1200" b="1">
                <a:solidFill>
                  <a:srgbClr val="E74C3C"/>
                </a:solidFill>
                <a:latin typeface="Arial"/>
              </a:rPr>
              <a:t>• Mô hình 2 — Đồng thời (Concurrency): </a:t>
            </a:r>
            <a:r>
              <a:rPr sz="1200">
                <a:solidFill>
                  <a:srgbClr val="212F3D"/>
                </a:solidFill>
                <a:latin typeface="Arial"/>
              </a:rPr>
              <a:t>Phân chia và điều phối nhiều tác vụ cùng tiến triển xen kẽ nhau trong cùng khoảng thời gian trên 1 nhân CPU.</a:t>
            </a:r>
          </a:p>
          <a:p>
            <a:pPr>
              <a:spcAft>
                <a:spcPts val="700"/>
              </a:spcAft>
            </a:pPr>
            <a:r>
              <a:rPr sz="1200" b="1">
                <a:solidFill>
                  <a:srgbClr val="E74C3C"/>
                </a:solidFill>
                <a:latin typeface="Arial"/>
              </a:rPr>
              <a:t>• Mô hình 3 — Song song (Parallelism): </a:t>
            </a:r>
            <a:r>
              <a:rPr sz="1200">
                <a:solidFill>
                  <a:srgbClr val="212F3D"/>
                </a:solidFill>
                <a:latin typeface="Arial"/>
              </a:rPr>
              <a:t>Nhiều tác vụ độc lập được thực thi đồng thời vật lý tại cùng thời điểm trên nhiều nhân CPU độc lập.</a:t>
            </a:r>
          </a:p>
          <a:p>
            <a:pPr>
              <a:spcAft>
                <a:spcPts val="700"/>
              </a:spcAft>
            </a:pPr>
            <a:r>
              <a:rPr sz="1200" b="1">
                <a:solidFill>
                  <a:srgbClr val="E74C3C"/>
                </a:solidFill>
                <a:latin typeface="Arial"/>
              </a:rPr>
              <a:t>• Mô hình 4 — Bất đồng bộ (Asynchronous): </a:t>
            </a:r>
            <a:r>
              <a:rPr sz="1200">
                <a:solidFill>
                  <a:srgbClr val="212F3D"/>
                </a:solidFill>
                <a:latin typeface="Arial"/>
              </a:rPr>
              <a:t>Xử lý không theo thứ tự, giải quyết nhiều yêu cầu đồng thời trong khoảng thời gian ngắn hơn rất nhiều.</a:t>
            </a:r>
          </a:p>
        </p:txBody>
      </p:sp>
      <p:pic>
        <p:nvPicPr>
          <p:cNvPr id="8" name="Picture 7" descr="diag_orig_compare_3_models.png"/>
          <p:cNvPicPr>
            <a:picLocks noChangeAspect="1"/>
          </p:cNvPicPr>
          <p:nvPr/>
        </p:nvPicPr>
        <p:blipFill>
          <a:blip r:embed="rId2"/>
          <a:stretch>
            <a:fillRect/>
          </a:stretch>
        </p:blipFill>
        <p:spPr>
          <a:xfrm>
            <a:off x="359918" y="4127500"/>
            <a:ext cx="9334500" cy="2476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4</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Sequential - Tuần tự (Slide 2 gốc)</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Mô hình xử lý tuần tự (Sequential Computing)</a:t>
            </a:r>
          </a:p>
        </p:txBody>
      </p:sp>
      <p:sp>
        <p:nvSpPr>
          <p:cNvPr id="7" name="TextBox 6"/>
          <p:cNvSpPr txBox="1"/>
          <p:nvPr/>
        </p:nvSpPr>
        <p:spPr>
          <a:xfrm>
            <a:off x="359918" y="1905000"/>
            <a:ext cx="9334500" cy="2095500"/>
          </a:xfrm>
          <a:prstGeom prst="rect">
            <a:avLst/>
          </a:prstGeom>
          <a:noFill/>
        </p:spPr>
        <p:txBody>
          <a:bodyPr wrap="square" lIns="0" tIns="0">
            <a:spAutoFit/>
          </a:bodyPr>
          <a:lstStyle/>
          <a:p>
            <a:pPr>
              <a:spcAft>
                <a:spcPts val="700"/>
              </a:spcAft>
            </a:pPr>
            <a:r>
              <a:rPr sz="1200" b="1">
                <a:solidFill>
                  <a:srgbClr val="E74C3C"/>
                </a:solidFill>
                <a:latin typeface="Arial"/>
              </a:rPr>
              <a:t>• Định nghĩa xử lý tuần tự: </a:t>
            </a:r>
            <a:r>
              <a:rPr sz="1200">
                <a:solidFill>
                  <a:srgbClr val="212F3D"/>
                </a:solidFill>
                <a:latin typeface="Arial"/>
              </a:rPr>
              <a:t>Xử lý 1 tác vụ (task) trong một khoảng thời gian xác định.</a:t>
            </a:r>
          </a:p>
          <a:p>
            <a:pPr>
              <a:spcAft>
                <a:spcPts val="700"/>
              </a:spcAft>
            </a:pPr>
            <a:r>
              <a:rPr sz="1200" b="1">
                <a:solidFill>
                  <a:srgbClr val="E74C3C"/>
                </a:solidFill>
                <a:latin typeface="Arial"/>
              </a:rPr>
              <a:t>• Quy tắc thứ tự thực thi: </a:t>
            </a:r>
            <a:r>
              <a:rPr sz="1200">
                <a:solidFill>
                  <a:srgbClr val="212F3D"/>
                </a:solidFill>
                <a:latin typeface="Arial"/>
              </a:rPr>
              <a:t>Các task sẽ được thực thi tuần tự theo thứ tự: Tác vụ trước phải kết thúc hoàn toàn thì tác vụ sau mới được phép bắt đầu.</a:t>
            </a:r>
          </a:p>
          <a:p>
            <a:pPr>
              <a:spcAft>
                <a:spcPts val="700"/>
              </a:spcAft>
            </a:pPr>
            <a:r>
              <a:rPr sz="1200" b="1">
                <a:solidFill>
                  <a:srgbClr val="E74C3C"/>
                </a:solidFill>
                <a:latin typeface="Arial"/>
              </a:rPr>
              <a:t>• Đường đi của luồng điều khiển: </a:t>
            </a:r>
            <a:r>
              <a:rPr sz="1200">
                <a:solidFill>
                  <a:srgbClr val="212F3D"/>
                </a:solidFill>
                <a:latin typeface="Arial"/>
              </a:rPr>
              <a:t>Chương trình chỉ duy trì một dòng thực thi duy nhất (Single Execution Path) từ điểm bắt đầu đến điểm kết thúc.</a:t>
            </a:r>
          </a:p>
          <a:p>
            <a:pPr>
              <a:spcAft>
                <a:spcPts val="700"/>
              </a:spcAft>
            </a:pPr>
            <a:r>
              <a:rPr sz="1200" b="1">
                <a:solidFill>
                  <a:srgbClr val="E74C3C"/>
                </a:solidFill>
                <a:latin typeface="Arial"/>
              </a:rPr>
              <a:t>• Đặc điểm dự đoán: </a:t>
            </a:r>
            <a:r>
              <a:rPr sz="1200">
                <a:solidFill>
                  <a:srgbClr val="212F3D"/>
                </a:solidFill>
                <a:latin typeface="Arial"/>
              </a:rPr>
              <a:t>Hệ thống có tính tất định cao nhất (Deterministic), dễ gỡ lỗi nhất, không có hiện tượng tranh chấp tài nguyên.</a:t>
            </a:r>
          </a:p>
        </p:txBody>
      </p:sp>
      <p:pic>
        <p:nvPicPr>
          <p:cNvPr id="8" name="Picture 7" descr="diag_orig_sequential.png"/>
          <p:cNvPicPr>
            <a:picLocks noChangeAspect="1"/>
          </p:cNvPicPr>
          <p:nvPr/>
        </p:nvPicPr>
        <p:blipFill>
          <a:blip r:embed="rId2"/>
          <a:stretch>
            <a:fillRect/>
          </a:stretch>
        </p:blipFill>
        <p:spPr>
          <a:xfrm>
            <a:off x="359918" y="4191000"/>
            <a:ext cx="9334500" cy="2413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5</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Phân tích Hạn chế của Xử lý Tuần tự</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Hạn chế cốt tử của xử lý tuần tự: Lãng phí tài nguyên CPU</a:t>
            </a:r>
          </a:p>
        </p:txBody>
      </p:sp>
      <p:sp>
        <p:nvSpPr>
          <p:cNvPr id="7" name="TextBox 6"/>
          <p:cNvSpPr txBox="1"/>
          <p:nvPr/>
        </p:nvSpPr>
        <p:spPr>
          <a:xfrm>
            <a:off x="359918" y="1905000"/>
            <a:ext cx="9334500" cy="2095500"/>
          </a:xfrm>
          <a:prstGeom prst="rect">
            <a:avLst/>
          </a:prstGeom>
          <a:noFill/>
        </p:spPr>
        <p:txBody>
          <a:bodyPr wrap="square" lIns="0" tIns="0">
            <a:spAutoFit/>
          </a:bodyPr>
          <a:lstStyle/>
          <a:p>
            <a:pPr>
              <a:spcAft>
                <a:spcPts val="700"/>
              </a:spcAft>
            </a:pPr>
            <a:r>
              <a:rPr sz="1200" b="1">
                <a:solidFill>
                  <a:srgbClr val="E74C3C"/>
                </a:solidFill>
                <a:latin typeface="Arial"/>
              </a:rPr>
              <a:t>• Nút thắt chặn dòng (Blocking): </a:t>
            </a:r>
            <a:r>
              <a:rPr sz="1200">
                <a:solidFill>
                  <a:srgbClr val="212F3D"/>
                </a:solidFill>
                <a:latin typeface="Arial"/>
              </a:rPr>
              <a:t>Nếu một tác vụ gặp thao tác cần thời gian chờ (ví dụ: đọc ghi đĩa, truy vấn cơ sở dữ liệu, chờ phản hồi qua mạng Internet), nó sẽ giữ chặt luồng xử lý.</a:t>
            </a:r>
          </a:p>
          <a:p>
            <a:pPr>
              <a:spcAft>
                <a:spcPts val="700"/>
              </a:spcAft>
            </a:pPr>
            <a:r>
              <a:rPr sz="1200" b="1">
                <a:solidFill>
                  <a:srgbClr val="E74C3C"/>
                </a:solidFill>
                <a:latin typeface="Arial"/>
              </a:rPr>
              <a:t>• Trạng thái CPU nhàn rỗi (CPU Idle): </a:t>
            </a:r>
            <a:r>
              <a:rPr sz="1200">
                <a:solidFill>
                  <a:srgbClr val="212F3D"/>
                </a:solidFill>
                <a:latin typeface="Arial"/>
              </a:rPr>
              <a:t>Trong thời gian tác vụ chờ dữ liệu bên ngoài, bộ vi xử lý (CPU) hoàn toàn rơi vào trạng thái nhàn rỗi lãng phí.</a:t>
            </a:r>
          </a:p>
          <a:p>
            <a:pPr>
              <a:spcAft>
                <a:spcPts val="700"/>
              </a:spcAft>
            </a:pPr>
            <a:r>
              <a:rPr sz="1200" b="1">
                <a:solidFill>
                  <a:srgbClr val="E74C3C"/>
                </a:solidFill>
                <a:latin typeface="Arial"/>
              </a:rPr>
              <a:t>• Thời gian thực thi tích lũy: </a:t>
            </a:r>
            <a:r>
              <a:rPr sz="1200">
                <a:solidFill>
                  <a:srgbClr val="212F3D"/>
                </a:solidFill>
                <a:latin typeface="Arial"/>
              </a:rPr>
              <a:t>Tổng thời gian của chương trình bằng tổng thời gian của từng tác vụ cộng lại: T_total = T_1 + T_2 + ... + T_n.</a:t>
            </a:r>
          </a:p>
          <a:p>
            <a:pPr>
              <a:spcAft>
                <a:spcPts val="700"/>
              </a:spcAft>
            </a:pPr>
            <a:r>
              <a:rPr sz="1200" b="1">
                <a:solidFill>
                  <a:srgbClr val="E74C3C"/>
                </a:solidFill>
                <a:latin typeface="Arial"/>
              </a:rPr>
              <a:t>• Nhu cầu cấp bách: </a:t>
            </a:r>
            <a:r>
              <a:rPr sz="1200">
                <a:solidFill>
                  <a:srgbClr val="212F3D"/>
                </a:solidFill>
                <a:latin typeface="Arial"/>
              </a:rPr>
              <a:t>Cần một giải pháp cho phép hệ thống tận dụng khoảng thời gian chết này để làm việc khác mà không phải chờ đợi vô ích.</a:t>
            </a:r>
          </a:p>
        </p:txBody>
      </p:sp>
      <p:sp>
        <p:nvSpPr>
          <p:cNvPr id="8" name="Rounded Rectangle 7"/>
          <p:cNvSpPr/>
          <p:nvPr/>
        </p:nvSpPr>
        <p:spPr>
          <a:xfrm>
            <a:off x="359918" y="4254500"/>
            <a:ext cx="9334500" cy="2286000"/>
          </a:xfrm>
          <a:prstGeom prst="roundRect">
            <a:avLst/>
          </a:prstGeom>
          <a:solidFill>
            <a:srgbClr val="F8F9FA"/>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lIns="203200" tIns="152400" rIns="203200"/>
          <a:lstStyle/>
          <a:p>
            <a:pPr algn="ctr">
              <a:defRPr sz="1250" b="1">
                <a:solidFill>
                  <a:srgbClr val="E67E22"/>
                </a:solidFill>
                <a:latin typeface="Arial"/>
              </a:defRPr>
            </a:pPr>
            <a:r>
              <a:t>BÀI TOÁN THỰC TẾ: TẢI 100 TỆP DỮ LIỆU TỪ MẠNG</a:t>
            </a:r>
          </a:p>
          <a:p>
            <a:pPr>
              <a:spcBef>
                <a:spcPts val="500"/>
              </a:spcBef>
            </a:pPr>
            <a:r>
              <a:rPr b="1" sz="1050">
                <a:solidFill>
                  <a:srgbClr val="2C3E50"/>
                </a:solidFill>
              </a:rPr>
              <a:t>• Chạy tuần tự: </a:t>
            </a:r>
            <a:r>
              <a:rPr sz="1050">
                <a:solidFill>
                  <a:srgbClr val="212F3D"/>
                </a:solidFill>
              </a:rPr>
              <a:t>Mỗi tệp mất 1 giây chờ mạng ➔ Tổng thời gian: 100 giây! Suốt 100 giây đó, CPU chạy chưa tới 1% công suất.</a:t>
            </a:r>
          </a:p>
          <a:p>
            <a:pPr>
              <a:spcBef>
                <a:spcPts val="500"/>
              </a:spcBef>
            </a:pPr>
            <a:r>
              <a:rPr b="1" sz="1050">
                <a:solidFill>
                  <a:srgbClr val="2C3E50"/>
                </a:solidFill>
              </a:rPr>
              <a:t>• Vấn đề: </a:t>
            </a:r>
            <a:r>
              <a:rPr sz="1050">
                <a:solidFill>
                  <a:srgbClr val="212F3D"/>
                </a:solidFill>
              </a:rPr>
              <a:t>CPU phải chờ thiết bị ngoại vi I/O hoàn thành mới chuyển sang lệnh kế tiếp.</a:t>
            </a:r>
          </a:p>
          <a:p>
            <a:pPr>
              <a:spcBef>
                <a:spcPts val="500"/>
              </a:spcBef>
            </a:pPr>
            <a:r>
              <a:rPr b="1" sz="1050">
                <a:solidFill>
                  <a:srgbClr val="2C3E50"/>
                </a:solidFill>
              </a:rPr>
              <a:t>• Giải pháp đặt ra: </a:t>
            </a:r>
            <a:r>
              <a:rPr sz="1050">
                <a:solidFill>
                  <a:srgbClr val="212F3D"/>
                </a:solidFill>
              </a:rPr>
              <a:t>Chuyển giao việc chờ đợi cho hệ thống ngoại vi và chuyển CPU sang xử lý tác vụ khác!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6</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Concurrency - Đồng thời (Slide 3 gốc)</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Xử lý đồng thời: Vai trò của Hệ điều hành và Tiến trình</a:t>
            </a:r>
          </a:p>
        </p:txBody>
      </p:sp>
      <p:sp>
        <p:nvSpPr>
          <p:cNvPr id="7" name="TextBox 6"/>
          <p:cNvSpPr txBox="1"/>
          <p:nvPr/>
        </p:nvSpPr>
        <p:spPr>
          <a:xfrm>
            <a:off x="359918" y="1905000"/>
            <a:ext cx="9334500" cy="2095500"/>
          </a:xfrm>
          <a:prstGeom prst="rect">
            <a:avLst/>
          </a:prstGeom>
          <a:noFill/>
        </p:spPr>
        <p:txBody>
          <a:bodyPr wrap="square" lIns="0" tIns="0">
            <a:spAutoFit/>
          </a:bodyPr>
          <a:lstStyle/>
          <a:p>
            <a:pPr>
              <a:spcAft>
                <a:spcPts val="700"/>
              </a:spcAft>
            </a:pPr>
            <a:r>
              <a:rPr sz="1200" b="1">
                <a:solidFill>
                  <a:srgbClr val="E74C3C"/>
                </a:solidFill>
                <a:latin typeface="Arial"/>
              </a:rPr>
              <a:t>• Chương trình và Tiến trình (Process): </a:t>
            </a:r>
            <a:r>
              <a:rPr sz="1200">
                <a:solidFill>
                  <a:srgbClr val="212F3D"/>
                </a:solidFill>
                <a:latin typeface="Arial"/>
              </a:rPr>
              <a:t>Hệ điều hành quản lý các chương trình đang chạy trong máy tính thông qua các Tiến trình (Process).</a:t>
            </a:r>
          </a:p>
          <a:p>
            <a:pPr>
              <a:spcAft>
                <a:spcPts val="700"/>
              </a:spcAft>
            </a:pPr>
            <a:r>
              <a:rPr sz="1200" b="1">
                <a:solidFill>
                  <a:srgbClr val="E74C3C"/>
                </a:solidFill>
                <a:latin typeface="Arial"/>
              </a:rPr>
              <a:t>• Mã định danh Process ID (PID): </a:t>
            </a:r>
            <a:r>
              <a:rPr sz="1200">
                <a:solidFill>
                  <a:srgbClr val="212F3D"/>
                </a:solidFill>
                <a:latin typeface="Arial"/>
              </a:rPr>
              <a:t>Hệ điều hành cấp phát một mã số Process ID (PID) duy nhất để nhận diện, giám sát và phân bổ tài nguyên cho từng chương trình.</a:t>
            </a:r>
          </a:p>
          <a:p>
            <a:pPr>
              <a:spcAft>
                <a:spcPts val="700"/>
              </a:spcAft>
            </a:pPr>
            <a:r>
              <a:rPr sz="1200" b="1">
                <a:solidFill>
                  <a:srgbClr val="E74C3C"/>
                </a:solidFill>
                <a:latin typeface="Arial"/>
              </a:rPr>
              <a:t>• Cơ chế phân chia của CPU Core: </a:t>
            </a:r>
            <a:r>
              <a:rPr sz="1200">
                <a:solidFill>
                  <a:srgbClr val="212F3D"/>
                </a:solidFill>
                <a:latin typeface="Arial"/>
              </a:rPr>
              <a:t>Nhân CPU (CPU Core) chia các task của process thành các task nhỏ hơn + sắp xếp xen kẽ nhau linh hoạt.</a:t>
            </a:r>
          </a:p>
          <a:p>
            <a:pPr>
              <a:spcAft>
                <a:spcPts val="700"/>
              </a:spcAft>
            </a:pPr>
            <a:r>
              <a:rPr sz="1200" b="1">
                <a:solidFill>
                  <a:srgbClr val="E74C3C"/>
                </a:solidFill>
                <a:latin typeface="Arial"/>
              </a:rPr>
              <a:t>• Mục tiêu tối ưu hóa tài nguyên: </a:t>
            </a:r>
            <a:r>
              <a:rPr sz="1200">
                <a:solidFill>
                  <a:srgbClr val="212F3D"/>
                </a:solidFill>
                <a:latin typeface="Arial"/>
              </a:rPr>
              <a:t>Tận dụng tối đa thời gian rảnh của task này để chuyển sang thực hiện task khác, không để CPU rơi vào trạng thái lãng phí.</a:t>
            </a:r>
          </a:p>
        </p:txBody>
      </p:sp>
      <p:pic>
        <p:nvPicPr>
          <p:cNvPr id="8" name="Picture 7" descr="diag_orig_concurrency_pid.png"/>
          <p:cNvPicPr>
            <a:picLocks noChangeAspect="1"/>
          </p:cNvPicPr>
          <p:nvPr/>
        </p:nvPicPr>
        <p:blipFill>
          <a:blip r:embed="rId2"/>
          <a:stretch>
            <a:fillRect/>
          </a:stretch>
        </p:blipFill>
        <p:spPr>
          <a:xfrm>
            <a:off x="359918" y="4127500"/>
            <a:ext cx="9334500" cy="2476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7</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Cơ chế Điều phối Xen kẽ trên 1 Nhân CPU</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Cơ chế phân chia và lập lịch xen kẽ (Time-slicing)</a:t>
            </a:r>
          </a:p>
        </p:txBody>
      </p:sp>
      <p:sp>
        <p:nvSpPr>
          <p:cNvPr id="7" name="TextBox 6"/>
          <p:cNvSpPr txBox="1"/>
          <p:nvPr/>
        </p:nvSpPr>
        <p:spPr>
          <a:xfrm>
            <a:off x="359918" y="1905000"/>
            <a:ext cx="9334500" cy="2095500"/>
          </a:xfrm>
          <a:prstGeom prst="rect">
            <a:avLst/>
          </a:prstGeom>
          <a:noFill/>
        </p:spPr>
        <p:txBody>
          <a:bodyPr wrap="square" lIns="0" tIns="0">
            <a:spAutoFit/>
          </a:bodyPr>
          <a:lstStyle/>
          <a:p>
            <a:pPr>
              <a:spcAft>
                <a:spcPts val="700"/>
              </a:spcAft>
            </a:pPr>
            <a:r>
              <a:rPr sz="1200" b="1">
                <a:solidFill>
                  <a:srgbClr val="E74C3C"/>
                </a:solidFill>
                <a:latin typeface="Arial"/>
              </a:rPr>
              <a:t>• Phân đoạn thời gian (Quantum / Time Slice): </a:t>
            </a:r>
            <a:r>
              <a:rPr sz="1200">
                <a:solidFill>
                  <a:srgbClr val="212F3D"/>
                </a:solidFill>
                <a:latin typeface="Arial"/>
              </a:rPr>
              <a:t>Hệ điều hành chia thời gian xử lý của CPU Core thành các lát cắt siêu nhỏ (khoảng vài mili-giây đến micro-giây).</a:t>
            </a:r>
          </a:p>
          <a:p>
            <a:pPr>
              <a:spcAft>
                <a:spcPts val="700"/>
              </a:spcAft>
            </a:pPr>
            <a:r>
              <a:rPr sz="1200" b="1">
                <a:solidFill>
                  <a:srgbClr val="E74C3C"/>
                </a:solidFill>
                <a:latin typeface="Arial"/>
              </a:rPr>
              <a:t>• Chuyển đổi ngữ cảnh (Context Switching): </a:t>
            </a:r>
            <a:r>
              <a:rPr sz="1200">
                <a:solidFill>
                  <a:srgbClr val="212F3D"/>
                </a:solidFill>
                <a:latin typeface="Arial"/>
              </a:rPr>
              <a:t>CPU tạm dừng task A, lưu trạng thái thanh ghi và bộ nhớ của A, sau đó nạp trạng thái của task B vào để thực thi tiếp tục.</a:t>
            </a:r>
          </a:p>
          <a:p>
            <a:pPr>
              <a:spcAft>
                <a:spcPts val="700"/>
              </a:spcAft>
            </a:pPr>
            <a:r>
              <a:rPr sz="1200" b="1">
                <a:solidFill>
                  <a:srgbClr val="E74C3C"/>
                </a:solidFill>
                <a:latin typeface="Arial"/>
              </a:rPr>
              <a:t>• Tạo cảm giác chạy cùng lúc: </a:t>
            </a:r>
            <a:r>
              <a:rPr sz="1200">
                <a:solidFill>
                  <a:srgbClr val="212F3D"/>
                </a:solidFill>
                <a:latin typeface="Arial"/>
              </a:rPr>
              <a:t>Tốc độ chuyển đổi giữa các task cực nhanh (hàng nghìn lần mỗi giây) tạo cho người dùng cảm giác các tác vụ đang chạy đồng thời mượt mà.</a:t>
            </a:r>
          </a:p>
          <a:p>
            <a:pPr>
              <a:spcAft>
                <a:spcPts val="700"/>
              </a:spcAft>
            </a:pPr>
            <a:r>
              <a:rPr sz="1200" b="1">
                <a:solidFill>
                  <a:srgbClr val="E74C3C"/>
                </a:solidFill>
                <a:latin typeface="Arial"/>
              </a:rPr>
              <a:t>• Tiến triển đồng thời (Concurrent Progress): </a:t>
            </a:r>
            <a:r>
              <a:rPr sz="1200">
                <a:solidFill>
                  <a:srgbClr val="212F3D"/>
                </a:solidFill>
                <a:latin typeface="Arial"/>
              </a:rPr>
              <a:t>Tất cả các task đều đạt được sự tiến triển (progress) trong cùng một khoảng thời gian quan sát.</a:t>
            </a:r>
          </a:p>
        </p:txBody>
      </p:sp>
      <p:sp>
        <p:nvSpPr>
          <p:cNvPr id="8" name="Rounded Rectangle 7"/>
          <p:cNvSpPr/>
          <p:nvPr/>
        </p:nvSpPr>
        <p:spPr>
          <a:xfrm>
            <a:off x="359918" y="4254500"/>
            <a:ext cx="9334500" cy="2286000"/>
          </a:xfrm>
          <a:prstGeom prst="roundRect">
            <a:avLst/>
          </a:prstGeom>
          <a:solidFill>
            <a:srgbClr val="F8F9FA"/>
          </a:solidFill>
          <a:ln w="1905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lIns="203200" tIns="152400" rIns="203200"/>
          <a:lstStyle/>
          <a:p>
            <a:pPr algn="ctr">
              <a:defRPr sz="1250" b="1">
                <a:solidFill>
                  <a:srgbClr val="2980B9"/>
                </a:solidFill>
                <a:latin typeface="Arial"/>
              </a:defRPr>
            </a:pPr>
            <a:r>
              <a:t>QUY TRÌNH TIME-SLICING VÍ DỤ:</a:t>
            </a:r>
          </a:p>
          <a:p>
            <a:pPr>
              <a:spcBef>
                <a:spcPts val="500"/>
              </a:spcBef>
            </a:pPr>
            <a:r>
              <a:rPr b="1" sz="1050">
                <a:solidFill>
                  <a:srgbClr val="2C3E50"/>
                </a:solidFill>
              </a:rPr>
              <a:t>• 0ms - 10ms: </a:t>
            </a:r>
            <a:r>
              <a:rPr sz="1050">
                <a:solidFill>
                  <a:srgbClr val="212F3D"/>
                </a:solidFill>
              </a:rPr>
              <a:t>CPU thực thi một đoạn của Tiến trình 1 (PID 1024 - Trình duyệt Web).</a:t>
            </a:r>
          </a:p>
          <a:p>
            <a:pPr>
              <a:spcBef>
                <a:spcPts val="500"/>
              </a:spcBef>
            </a:pPr>
            <a:r>
              <a:rPr b="1" sz="1050">
                <a:solidFill>
                  <a:srgbClr val="2C3E50"/>
                </a:solidFill>
              </a:rPr>
              <a:t>• 10ms - 20ms: </a:t>
            </a:r>
            <a:r>
              <a:rPr sz="1050">
                <a:solidFill>
                  <a:srgbClr val="212F3D"/>
                </a:solidFill>
              </a:rPr>
              <a:t>CPU chuyển đổi ngữ cảnh, thực thi một đoạn của Tiến trình 2 (PID 1088 - Phát nhạc Spotify).</a:t>
            </a:r>
          </a:p>
          <a:p>
            <a:pPr>
              <a:spcBef>
                <a:spcPts val="500"/>
              </a:spcBef>
            </a:pPr>
            <a:r>
              <a:rPr b="1" sz="1050">
                <a:solidFill>
                  <a:srgbClr val="2C3E50"/>
                </a:solidFill>
              </a:rPr>
              <a:t>• 20ms - 30ms: </a:t>
            </a:r>
            <a:r>
              <a:rPr sz="1050">
                <a:solidFill>
                  <a:srgbClr val="212F3D"/>
                </a:solidFill>
              </a:rPr>
              <a:t>CPU chuyển đổi ngữ cảnh, tiếp tục thực thi Tiến trình 1 ➔ Người dùng vừa nghe nhạc vừa lướt web trơn tru!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8</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Concurrency - Bản chất Thực thi (Slide 4 gốc)</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Xử lý đồng thời: Bản chất vi mô so với góc nhìn vĩ mô</a:t>
            </a:r>
          </a:p>
        </p:txBody>
      </p:sp>
      <p:sp>
        <p:nvSpPr>
          <p:cNvPr id="7" name="TextBox 6"/>
          <p:cNvSpPr txBox="1"/>
          <p:nvPr/>
        </p:nvSpPr>
        <p:spPr>
          <a:xfrm>
            <a:off x="359918" y="1905000"/>
            <a:ext cx="9334500" cy="2095500"/>
          </a:xfrm>
          <a:prstGeom prst="rect">
            <a:avLst/>
          </a:prstGeom>
          <a:noFill/>
        </p:spPr>
        <p:txBody>
          <a:bodyPr wrap="square" lIns="0" tIns="0">
            <a:spAutoFit/>
          </a:bodyPr>
          <a:lstStyle/>
          <a:p>
            <a:pPr>
              <a:spcAft>
                <a:spcPts val="700"/>
              </a:spcAft>
            </a:pPr>
            <a:r>
              <a:rPr sz="1200" b="1">
                <a:solidFill>
                  <a:srgbClr val="E74C3C"/>
                </a:solidFill>
                <a:latin typeface="Arial"/>
              </a:rPr>
              <a:t>• Điều phối trong cùng khoảng thời gian: </a:t>
            </a:r>
            <a:r>
              <a:rPr sz="1200">
                <a:solidFill>
                  <a:srgbClr val="212F3D"/>
                </a:solidFill>
                <a:latin typeface="Arial"/>
              </a:rPr>
              <a:t>Hệ thống phân chia, điều phối nhiều tác vụ (task) khác nhau trong cùng một khoảng thời gian xác định.</a:t>
            </a:r>
          </a:p>
          <a:p>
            <a:pPr>
              <a:spcAft>
                <a:spcPts val="700"/>
              </a:spcAft>
            </a:pPr>
            <a:r>
              <a:rPr sz="1200" b="1">
                <a:solidFill>
                  <a:srgbClr val="E74C3C"/>
                </a:solidFill>
                <a:latin typeface="Arial"/>
              </a:rPr>
              <a:t>• Quy tắc vật lý vi mô bên dưới: </a:t>
            </a:r>
            <a:r>
              <a:rPr sz="1200">
                <a:solidFill>
                  <a:srgbClr val="212F3D"/>
                </a:solidFill>
                <a:latin typeface="Arial"/>
              </a:rPr>
              <a:t>Bên dưới CPU core chỉ có thể thực thi MỘT TASK NHỎ trong task lớn tại một thời điểm vi mô duy nhất!</a:t>
            </a:r>
          </a:p>
          <a:p>
            <a:pPr>
              <a:spcAft>
                <a:spcPts val="700"/>
              </a:spcAft>
            </a:pPr>
            <a:r>
              <a:rPr sz="1200" b="1">
                <a:solidFill>
                  <a:srgbClr val="E74C3C"/>
                </a:solidFill>
                <a:latin typeface="Arial"/>
              </a:rPr>
              <a:t>• Góc nhìn người dùng (Vĩ mô): </a:t>
            </a:r>
            <a:r>
              <a:rPr sz="1200">
                <a:solidFill>
                  <a:srgbClr val="212F3D"/>
                </a:solidFill>
                <a:latin typeface="Arial"/>
              </a:rPr>
              <a:t>Máy tính xử lý nhiều việc cùng lúc tại cùng thời điểm dưới góc nhìn của người dùng.</a:t>
            </a:r>
          </a:p>
          <a:p>
            <a:pPr>
              <a:spcAft>
                <a:spcPts val="700"/>
              </a:spcAft>
            </a:pPr>
            <a:r>
              <a:rPr sz="1200" b="1">
                <a:solidFill>
                  <a:srgbClr val="E74C3C"/>
                </a:solidFill>
                <a:latin typeface="Arial"/>
              </a:rPr>
              <a:t>• Kết luận cốt lõi của Concurrency: </a:t>
            </a:r>
            <a:r>
              <a:rPr sz="1200">
                <a:solidFill>
                  <a:srgbClr val="212F3D"/>
                </a:solidFill>
                <a:latin typeface="Arial"/>
              </a:rPr>
              <a:t>Concurrency là sự TIẾN TRIỂN XEN KẼ (Interleaving), giải quyết bài toán quản lý và điều phối nhiều việc trên tài nguyên hạn chế.</a:t>
            </a:r>
          </a:p>
        </p:txBody>
      </p:sp>
      <p:sp>
        <p:nvSpPr>
          <p:cNvPr id="8" name="Rounded Rectangle 7"/>
          <p:cNvSpPr/>
          <p:nvPr/>
        </p:nvSpPr>
        <p:spPr>
          <a:xfrm>
            <a:off x="359918" y="4254500"/>
            <a:ext cx="9334500" cy="2286000"/>
          </a:xfrm>
          <a:prstGeom prst="roundRect">
            <a:avLst/>
          </a:prstGeom>
          <a:solidFill>
            <a:srgbClr val="F8F9FA"/>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lIns="203200" tIns="152400" rIns="203200"/>
          <a:lstStyle/>
          <a:p>
            <a:pPr algn="ctr">
              <a:defRPr sz="1250" b="1">
                <a:solidFill>
                  <a:srgbClr val="E67E22"/>
                </a:solidFill>
                <a:latin typeface="Arial"/>
              </a:defRPr>
            </a:pPr>
            <a:r>
              <a:t>TỔNG KẾT SLIDE 4 BÀI GIẢNG GỐC:</a:t>
            </a:r>
          </a:p>
          <a:p>
            <a:pPr>
              <a:spcBef>
                <a:spcPts val="500"/>
              </a:spcBef>
            </a:pPr>
            <a:r>
              <a:rPr b="1" sz="1050">
                <a:solidFill>
                  <a:srgbClr val="2C3E50"/>
                </a:solidFill>
              </a:rPr>
              <a:t>• Khái niệm: </a:t>
            </a:r>
            <a:r>
              <a:rPr sz="1050">
                <a:solidFill>
                  <a:srgbClr val="212F3D"/>
                </a:solidFill>
              </a:rPr>
              <a:t>Xử lý đồng thời là điều phối nhiều task trong cùng 1 khoảng thời gian.</a:t>
            </a:r>
          </a:p>
          <a:p>
            <a:pPr>
              <a:spcBef>
                <a:spcPts val="500"/>
              </a:spcBef>
            </a:pPr>
            <a:r>
              <a:rPr b="1" sz="1050">
                <a:solidFill>
                  <a:srgbClr val="2C3E50"/>
                </a:solidFill>
              </a:rPr>
              <a:t>• Góc nhìn vĩ mô: </a:t>
            </a:r>
            <a:r>
              <a:rPr sz="1050">
                <a:solidFill>
                  <a:srgbClr val="212F3D"/>
                </a:solidFill>
              </a:rPr>
              <a:t>Người dùng thấy nhiều chương trình cùng chạy song hành trơn tru.</a:t>
            </a:r>
          </a:p>
          <a:p>
            <a:pPr>
              <a:spcBef>
                <a:spcPts val="500"/>
              </a:spcBef>
            </a:pPr>
            <a:r>
              <a:rPr b="1" sz="1050">
                <a:solidFill>
                  <a:srgbClr val="2C3E50"/>
                </a:solidFill>
              </a:rPr>
              <a:t>• Góc nhìn vi mô: </a:t>
            </a:r>
            <a:r>
              <a:rPr sz="1050">
                <a:solidFill>
                  <a:srgbClr val="212F3D"/>
                </a:solidFill>
              </a:rPr>
              <a:t>Tại MỘT thời điểm cực nhỏ trên 1 nhân CPU, CHỈ CÓ ĐÚNG 1 task được thi hành!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9</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Parallel - Song song (Slide 5 gốc)</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Mô hình xử lý song song (Parallel Computing)</a:t>
            </a:r>
          </a:p>
        </p:txBody>
      </p:sp>
      <p:sp>
        <p:nvSpPr>
          <p:cNvPr id="7" name="TextBox 6"/>
          <p:cNvSpPr txBox="1"/>
          <p:nvPr/>
        </p:nvSpPr>
        <p:spPr>
          <a:xfrm>
            <a:off x="359918" y="1905000"/>
            <a:ext cx="9334500" cy="2095500"/>
          </a:xfrm>
          <a:prstGeom prst="rect">
            <a:avLst/>
          </a:prstGeom>
          <a:noFill/>
        </p:spPr>
        <p:txBody>
          <a:bodyPr wrap="square" lIns="0" tIns="0">
            <a:spAutoFit/>
          </a:bodyPr>
          <a:lstStyle/>
          <a:p>
            <a:pPr>
              <a:spcAft>
                <a:spcPts val="700"/>
              </a:spcAft>
            </a:pPr>
            <a:r>
              <a:rPr sz="1200" b="1">
                <a:solidFill>
                  <a:srgbClr val="E74C3C"/>
                </a:solidFill>
                <a:latin typeface="Arial"/>
              </a:rPr>
              <a:t>• Định nghĩa xử lý song song: </a:t>
            </a:r>
            <a:r>
              <a:rPr sz="1200">
                <a:solidFill>
                  <a:srgbClr val="212F3D"/>
                </a:solidFill>
                <a:latin typeface="Arial"/>
              </a:rPr>
              <a:t>Nhiều task khác nhau được xử lý trong CÙNG 1 THỜI ĐIỂM (thực thi đồng thời vật lý thực sự).</a:t>
            </a:r>
          </a:p>
          <a:p>
            <a:pPr>
              <a:spcAft>
                <a:spcPts val="700"/>
              </a:spcAft>
            </a:pPr>
            <a:r>
              <a:rPr sz="1200" b="1">
                <a:solidFill>
                  <a:srgbClr val="E74C3C"/>
                </a:solidFill>
                <a:latin typeface="Arial"/>
              </a:rPr>
              <a:t>• Yêu cầu tính độc lập dữ liệu: </a:t>
            </a:r>
            <a:r>
              <a:rPr sz="1200">
                <a:solidFill>
                  <a:srgbClr val="212F3D"/>
                </a:solidFill>
                <a:latin typeface="Arial"/>
              </a:rPr>
              <a:t>Các task phải hoàn toàn độc lập với nhau để có thể chạy song song mà không xung đột hay tranh chấp bộ nhớ.</a:t>
            </a:r>
          </a:p>
          <a:p>
            <a:pPr>
              <a:spcAft>
                <a:spcPts val="700"/>
              </a:spcAft>
            </a:pPr>
            <a:r>
              <a:rPr sz="1200" b="1">
                <a:solidFill>
                  <a:srgbClr val="E74C3C"/>
                </a:solidFill>
                <a:latin typeface="Arial"/>
              </a:rPr>
              <a:t>• Điều kiện phần cứng bắt buộc: </a:t>
            </a:r>
            <a:r>
              <a:rPr sz="1200">
                <a:solidFill>
                  <a:srgbClr val="212F3D"/>
                </a:solidFill>
                <a:latin typeface="Arial"/>
              </a:rPr>
              <a:t>Chỉ có thể thực hiện trên máy tính có số nhân (core) vật lý lớn hơn 1 (Multi-core CPU, hệ thống Multi-CPU hoặc GPU).</a:t>
            </a:r>
          </a:p>
          <a:p>
            <a:pPr>
              <a:spcAft>
                <a:spcPts val="700"/>
              </a:spcAft>
            </a:pPr>
            <a:r>
              <a:rPr sz="1200" b="1">
                <a:solidFill>
                  <a:srgbClr val="E74C3C"/>
                </a:solidFill>
                <a:latin typeface="Arial"/>
              </a:rPr>
              <a:t>• Rút ngắn thời gian thực tế: </a:t>
            </a:r>
            <a:r>
              <a:rPr sz="1200">
                <a:solidFill>
                  <a:srgbClr val="212F3D"/>
                </a:solidFill>
                <a:latin typeface="Arial"/>
              </a:rPr>
              <a:t>Thời gian hoàn thành toàn bộ khối lượng công việc được rút ngắn nhờ tận dụng đồng thời nhiều bộ vi xử lý vật lý.</a:t>
            </a:r>
          </a:p>
        </p:txBody>
      </p:sp>
      <p:pic>
        <p:nvPicPr>
          <p:cNvPr id="8" name="Picture 7" descr="diag_orig_parallel_multicore.png"/>
          <p:cNvPicPr>
            <a:picLocks noChangeAspect="1"/>
          </p:cNvPicPr>
          <p:nvPr/>
        </p:nvPicPr>
        <p:blipFill>
          <a:blip r:embed="rId2"/>
          <a:stretch>
            <a:fillRect/>
          </a:stretch>
        </p:blipFill>
        <p:spPr>
          <a:xfrm>
            <a:off x="359918" y="4127500"/>
            <a:ext cx="9334500" cy="2476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10</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Điều kiện Phần cứng &amp; Tính Độc lập Dữ liệu</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Điều kiện tiên quyết để đạt được xử lý song song thực sự</a:t>
            </a:r>
          </a:p>
        </p:txBody>
      </p:sp>
      <p:sp>
        <p:nvSpPr>
          <p:cNvPr id="7" name="TextBox 6"/>
          <p:cNvSpPr txBox="1"/>
          <p:nvPr/>
        </p:nvSpPr>
        <p:spPr>
          <a:xfrm>
            <a:off x="359918" y="1905000"/>
            <a:ext cx="9334500" cy="2095500"/>
          </a:xfrm>
          <a:prstGeom prst="rect">
            <a:avLst/>
          </a:prstGeom>
          <a:noFill/>
        </p:spPr>
        <p:txBody>
          <a:bodyPr wrap="square" lIns="0" tIns="0">
            <a:spAutoFit/>
          </a:bodyPr>
          <a:lstStyle/>
          <a:p>
            <a:pPr>
              <a:spcAft>
                <a:spcPts val="700"/>
              </a:spcAft>
            </a:pPr>
            <a:r>
              <a:rPr sz="1200" b="1">
                <a:solidFill>
                  <a:srgbClr val="E74C3C"/>
                </a:solidFill>
                <a:latin typeface="Arial"/>
              </a:rPr>
              <a:t>• Kiến trúc vi xử lý đa nhân (Multi-core): </a:t>
            </a:r>
            <a:r>
              <a:rPr sz="1200">
                <a:solidFill>
                  <a:srgbClr val="212F3D"/>
                </a:solidFill>
                <a:latin typeface="Arial"/>
              </a:rPr>
              <a:t>Mỗi nhân CPU là một đơn vị xử lý độc lập hoàn chỉnh, sở hữu tập thanh ghi và bộ giải mã lệnh riêng biệt.</a:t>
            </a:r>
          </a:p>
          <a:p>
            <a:pPr>
              <a:spcAft>
                <a:spcPts val="700"/>
              </a:spcAft>
            </a:pPr>
            <a:r>
              <a:rPr sz="1200" b="1">
                <a:solidFill>
                  <a:srgbClr val="E74C3C"/>
                </a:solidFill>
                <a:latin typeface="Arial"/>
              </a:rPr>
              <a:t>• Tính độc lập dữ liệu (Data Independence): </a:t>
            </a:r>
            <a:r>
              <a:rPr sz="1200">
                <a:solidFill>
                  <a:srgbClr val="212F3D"/>
                </a:solidFill>
                <a:latin typeface="Arial"/>
              </a:rPr>
              <a:t>Nếu Task B cần kết quả của Task A để tính toán, Task B không thể chạy song song với Task A mà buộc phải chờ!</a:t>
            </a:r>
          </a:p>
          <a:p>
            <a:pPr>
              <a:spcAft>
                <a:spcPts val="700"/>
              </a:spcAft>
            </a:pPr>
            <a:r>
              <a:rPr sz="1200" b="1">
                <a:solidFill>
                  <a:srgbClr val="E74C3C"/>
                </a:solidFill>
                <a:latin typeface="Arial"/>
              </a:rPr>
              <a:t>• Khả năng phân rã bài toán (Decomposition): </a:t>
            </a:r>
            <a:r>
              <a:rPr sz="1200">
                <a:solidFill>
                  <a:srgbClr val="212F3D"/>
                </a:solidFill>
                <a:latin typeface="Arial"/>
              </a:rPr>
              <a:t>Bài toán phải có khả năng chia thành các phần việc độc lập (như xử lý từng pixel của ảnh, nhân ma trận theo khối).</a:t>
            </a:r>
          </a:p>
          <a:p>
            <a:pPr>
              <a:spcAft>
                <a:spcPts val="700"/>
              </a:spcAft>
            </a:pPr>
            <a:r>
              <a:rPr sz="1200" b="1">
                <a:solidFill>
                  <a:srgbClr val="E74C3C"/>
                </a:solidFill>
                <a:latin typeface="Arial"/>
              </a:rPr>
              <a:t>• Phân biệt với Concurrency: </a:t>
            </a:r>
            <a:r>
              <a:rPr sz="1200">
                <a:solidFill>
                  <a:srgbClr val="212F3D"/>
                </a:solidFill>
                <a:latin typeface="Arial"/>
              </a:rPr>
              <a:t>Concurrency có thể chạy trên 1 nhân CPU đơn lẻ; nhưng Parallelism tuyệt đối không thể tồn tại nếu chỉ có 1 nhân CPU duy nhất.</a:t>
            </a:r>
          </a:p>
        </p:txBody>
      </p:sp>
      <p:sp>
        <p:nvSpPr>
          <p:cNvPr id="8" name="Rounded Rectangle 7"/>
          <p:cNvSpPr/>
          <p:nvPr/>
        </p:nvSpPr>
        <p:spPr>
          <a:xfrm>
            <a:off x="359918" y="4254500"/>
            <a:ext cx="9334500" cy="22860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lIns="203200" tIns="152400" rIns="203200"/>
          <a:lstStyle/>
          <a:p>
            <a:pPr algn="ctr">
              <a:defRPr sz="1250" b="1">
                <a:solidFill>
                  <a:srgbClr val="27AE60"/>
                </a:solidFill>
                <a:latin typeface="Arial"/>
              </a:defRPr>
            </a:pPr>
            <a:r>
              <a:t>HAI ĐIỀU KIỆN BẮT BUỘC ĐỂ SONG SONG HÓA:</a:t>
            </a:r>
          </a:p>
          <a:p>
            <a:pPr>
              <a:spcBef>
                <a:spcPts val="500"/>
              </a:spcBef>
            </a:pPr>
            <a:r>
              <a:rPr b="1" sz="1050">
                <a:solidFill>
                  <a:srgbClr val="2C3E50"/>
                </a:solidFill>
              </a:rPr>
              <a:t>• 1. Điều kiện Phần cứng: </a:t>
            </a:r>
            <a:r>
              <a:rPr sz="1050">
                <a:solidFill>
                  <a:srgbClr val="212F3D"/>
                </a:solidFill>
              </a:rPr>
              <a:t>Hệ thống phải có từ 2 nhân CPU vật lý trở lên (hoặc nhiều vi xử lý / GPU).</a:t>
            </a:r>
          </a:p>
          <a:p>
            <a:pPr>
              <a:spcBef>
                <a:spcPts val="500"/>
              </a:spcBef>
            </a:pPr>
            <a:r>
              <a:rPr b="1" sz="1050">
                <a:solidFill>
                  <a:srgbClr val="2C3E50"/>
                </a:solidFill>
              </a:rPr>
              <a:t>• 2. Điều kiện Thuật toán: </a:t>
            </a:r>
            <a:r>
              <a:rPr sz="1050">
                <a:solidFill>
                  <a:srgbClr val="212F3D"/>
                </a:solidFill>
              </a:rPr>
              <a:t>Các tác vụ không phụ thuộc dữ liệu lẫn nhau (Data-independent tasks).</a:t>
            </a:r>
          </a:p>
          <a:p>
            <a:pPr>
              <a:spcBef>
                <a:spcPts val="500"/>
              </a:spcBef>
            </a:pPr>
            <a:r>
              <a:rPr b="1" sz="1050">
                <a:solidFill>
                  <a:srgbClr val="2C3E50"/>
                </a:solidFill>
              </a:rPr>
              <a:t>• Nếu thiếu 1 trong 2: </a:t>
            </a:r>
            <a:r>
              <a:rPr sz="1050">
                <a:solidFill>
                  <a:srgbClr val="212F3D"/>
                </a:solidFill>
              </a:rPr>
              <a:t>Hệ thống sẽ tự động quay trở về mô hình Đồng thời (Concurrency) xen kẽ thông thường.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11</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Parallel - Song song (Slide 6 gốc)</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Mối quan hệ thực tế giữa Song song và Đồng thời trên Đa nhân</a:t>
            </a:r>
          </a:p>
        </p:txBody>
      </p:sp>
      <p:sp>
        <p:nvSpPr>
          <p:cNvPr id="7" name="TextBox 6"/>
          <p:cNvSpPr txBox="1"/>
          <p:nvPr/>
        </p:nvSpPr>
        <p:spPr>
          <a:xfrm>
            <a:off x="359918" y="1905000"/>
            <a:ext cx="9334500" cy="2095500"/>
          </a:xfrm>
          <a:prstGeom prst="rect">
            <a:avLst/>
          </a:prstGeom>
          <a:noFill/>
        </p:spPr>
        <p:txBody>
          <a:bodyPr wrap="square" lIns="0" tIns="0">
            <a:spAutoFit/>
          </a:bodyPr>
          <a:lstStyle/>
          <a:p>
            <a:pPr>
              <a:spcAft>
                <a:spcPts val="700"/>
              </a:spcAft>
            </a:pPr>
            <a:r>
              <a:rPr sz="1200" b="1">
                <a:solidFill>
                  <a:srgbClr val="E74C3C"/>
                </a:solidFill>
                <a:latin typeface="Arial"/>
              </a:rPr>
              <a:t>• Thực tế kiến trúc máy tính hiện đại: </a:t>
            </a:r>
            <a:r>
              <a:rPr sz="1200">
                <a:solidFill>
                  <a:srgbClr val="212F3D"/>
                </a:solidFill>
                <a:latin typeface="Arial"/>
              </a:rPr>
              <a:t>Trên thực tế, trên mỗi nhân của CPU vẫn xảy ra quá trình xử lý ĐỒNG THỜI (xen kẽ các task nền của hệ điều hành).</a:t>
            </a:r>
          </a:p>
          <a:p>
            <a:pPr>
              <a:spcAft>
                <a:spcPts val="700"/>
              </a:spcAft>
            </a:pPr>
            <a:r>
              <a:rPr sz="1200" b="1">
                <a:solidFill>
                  <a:srgbClr val="E74C3C"/>
                </a:solidFill>
                <a:latin typeface="Arial"/>
              </a:rPr>
              <a:t>• Quy tắc không trùng lặp tác vụ: </a:t>
            </a:r>
            <a:r>
              <a:rPr sz="1200">
                <a:solidFill>
                  <a:srgbClr val="212F3D"/>
                </a:solidFill>
                <a:latin typeface="Arial"/>
              </a:rPr>
              <a:t>Tại một thời điểm, KHÔNG xảy ra việc xử lý cùng một task trên hai nhân CPU khác nhau.</a:t>
            </a:r>
          </a:p>
          <a:p>
            <a:pPr>
              <a:spcAft>
                <a:spcPts val="700"/>
              </a:spcAft>
            </a:pPr>
            <a:r>
              <a:rPr sz="1200" b="1">
                <a:solidFill>
                  <a:srgbClr val="E74C3C"/>
                </a:solidFill>
                <a:latin typeface="Arial"/>
              </a:rPr>
              <a:t>• Sự phối hợp giữa hai cấp độ: </a:t>
            </a:r>
            <a:r>
              <a:rPr sz="1200">
                <a:solidFill>
                  <a:srgbClr val="212F3D"/>
                </a:solidFill>
                <a:latin typeface="Arial"/>
              </a:rPr>
              <a:t>Hệ thống đa nhân vừa có tính song song (giữa các nhân với nhau) vừa có tính đồng thời (bên trong từng nhân riêng lẻ).</a:t>
            </a:r>
          </a:p>
          <a:p>
            <a:pPr>
              <a:spcAft>
                <a:spcPts val="700"/>
              </a:spcAft>
            </a:pPr>
            <a:r>
              <a:rPr sz="1200" b="1">
                <a:solidFill>
                  <a:srgbClr val="E74C3C"/>
                </a:solidFill>
                <a:latin typeface="Arial"/>
              </a:rPr>
              <a:t>• Hiệu quả tối ưu toàn diện: </a:t>
            </a:r>
            <a:r>
              <a:rPr sz="1200">
                <a:solidFill>
                  <a:srgbClr val="212F3D"/>
                </a:solidFill>
                <a:latin typeface="Arial"/>
              </a:rPr>
              <a:t>Khai thác tối đa công suất phần cứng: vừa tận dụng sức mạnh đa nhân vật lý, vừa không lãng phí thời gian nhàn rỗi của từng nhân.</a:t>
            </a:r>
          </a:p>
        </p:txBody>
      </p:sp>
      <p:sp>
        <p:nvSpPr>
          <p:cNvPr id="8" name="Rounded Rectangle 7"/>
          <p:cNvSpPr/>
          <p:nvPr/>
        </p:nvSpPr>
        <p:spPr>
          <a:xfrm>
            <a:off x="359918" y="4254500"/>
            <a:ext cx="9334500" cy="22860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lIns="203200" tIns="152400" rIns="203200"/>
          <a:lstStyle/>
          <a:p>
            <a:pPr algn="ctr">
              <a:defRPr sz="1250" b="1">
                <a:solidFill>
                  <a:srgbClr val="27AE60"/>
                </a:solidFill>
                <a:latin typeface="Arial"/>
              </a:defRPr>
            </a:pPr>
            <a:r>
              <a:t>QUY TẮC BẢN QUYỀN SLIDE 6 BÀI GIẢNG GỐC:</a:t>
            </a:r>
          </a:p>
          <a:p>
            <a:pPr>
              <a:spcBef>
                <a:spcPts val="500"/>
              </a:spcBef>
            </a:pPr>
            <a:r>
              <a:rPr b="1" sz="1050">
                <a:solidFill>
                  <a:srgbClr val="2C3E50"/>
                </a:solidFill>
              </a:rPr>
              <a:t>• Nội bộ từng nhân: </a:t>
            </a:r>
            <a:r>
              <a:rPr sz="1050">
                <a:solidFill>
                  <a:srgbClr val="212F3D"/>
                </a:solidFill>
              </a:rPr>
              <a:t>Vẫn diễn ra Concurrency (xen kẽ các thread / process do OS điều phối).</a:t>
            </a:r>
          </a:p>
          <a:p>
            <a:pPr>
              <a:spcBef>
                <a:spcPts val="500"/>
              </a:spcBef>
            </a:pPr>
            <a:r>
              <a:rPr b="1" sz="1050">
                <a:solidFill>
                  <a:srgbClr val="2C3E50"/>
                </a:solidFill>
              </a:rPr>
              <a:t>• Giữa các nhân: </a:t>
            </a:r>
            <a:r>
              <a:rPr sz="1050">
                <a:solidFill>
                  <a:srgbClr val="212F3D"/>
                </a:solidFill>
              </a:rPr>
              <a:t>Diễn ra Parallelism thực sự (chạy song song các tiến trình độc lập).</a:t>
            </a:r>
          </a:p>
          <a:p>
            <a:pPr>
              <a:spcBef>
                <a:spcPts val="500"/>
              </a:spcBef>
            </a:pPr>
            <a:r>
              <a:rPr b="1" sz="1050">
                <a:solidFill>
                  <a:srgbClr val="2C3E50"/>
                </a:solidFill>
              </a:rPr>
              <a:t>• Điều kiện chốt: </a:t>
            </a:r>
            <a:r>
              <a:rPr sz="1050">
                <a:solidFill>
                  <a:srgbClr val="212F3D"/>
                </a:solidFill>
              </a:rPr>
              <a:t>Tại cùng một thời điểm vi mô, tuyệt đối không có chuyện 2 nhân CPU cùng chạy chung 1 task!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SO SÁNH</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12</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So sánh Ba Mô hình Tính toán Cơ bản</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Bảng đối chiếu toàn diện: Tuần tự vs Đồng thời vs Song song</a:t>
            </a:r>
          </a:p>
        </p:txBody>
      </p:sp>
      <p:graphicFrame>
        <p:nvGraphicFramePr>
          <p:cNvPr id="7" name="Table 6"/>
          <p:cNvGraphicFramePr>
            <a:graphicFrameLocks noGrp="1"/>
          </p:cNvGraphicFramePr>
          <p:nvPr/>
        </p:nvGraphicFramePr>
        <p:xfrm>
          <a:off x="359918" y="2095500"/>
          <a:ext cx="9334500" cy="4445000"/>
        </p:xfrm>
        <a:graphic>
          <a:graphicData uri="http://schemas.openxmlformats.org/drawingml/2006/table">
            <a:tbl>
              <a:tblPr firstRow="1" bandRow="1">
                <a:tableStyleId>{5C22544A-7EE6-4342-B048-85BDC9FD1C3A}</a:tableStyleId>
              </a:tblPr>
              <a:tblGrid>
                <a:gridCol w="1841500"/>
                <a:gridCol w="2349500"/>
                <a:gridCol w="2603500"/>
                <a:gridCol w="2540000"/>
              </a:tblGrid>
              <a:tr h="740833">
                <a:tc>
                  <a:txBody>
                    <a:bodyPr/>
                    <a:lstStyle/>
                    <a:p>
                      <a:pPr algn="ctr">
                        <a:defRPr sz="1100" b="1">
                          <a:solidFill>
                            <a:srgbClr val="FFFFFF"/>
                          </a:solidFill>
                          <a:latin typeface="Arial"/>
                        </a:defRPr>
                      </a:pPr>
                      <a:r>
                        <a:t>Tiêu chí so sánh</a:t>
                      </a:r>
                    </a:p>
                  </a:txBody>
                  <a:tcPr anchor="ctr">
                    <a:solidFill>
                      <a:srgbClr val="E74C3C"/>
                    </a:solidFill>
                  </a:tcPr>
                </a:tc>
                <a:tc>
                  <a:txBody>
                    <a:bodyPr/>
                    <a:lstStyle/>
                    <a:p>
                      <a:pPr algn="ctr">
                        <a:defRPr sz="1100" b="1">
                          <a:solidFill>
                            <a:srgbClr val="FFFFFF"/>
                          </a:solidFill>
                          <a:latin typeface="Arial"/>
                        </a:defRPr>
                      </a:pPr>
                      <a:r>
                        <a:t>Tuần tự (Sequential)</a:t>
                      </a:r>
                    </a:p>
                  </a:txBody>
                  <a:tcPr anchor="ctr">
                    <a:solidFill>
                      <a:srgbClr val="E74C3C"/>
                    </a:solidFill>
                  </a:tcPr>
                </a:tc>
                <a:tc>
                  <a:txBody>
                    <a:bodyPr/>
                    <a:lstStyle/>
                    <a:p>
                      <a:pPr algn="ctr">
                        <a:defRPr sz="1100" b="1">
                          <a:solidFill>
                            <a:srgbClr val="FFFFFF"/>
                          </a:solidFill>
                          <a:latin typeface="Arial"/>
                        </a:defRPr>
                      </a:pPr>
                      <a:r>
                        <a:t>Đồng thời (Concurrency)</a:t>
                      </a:r>
                    </a:p>
                  </a:txBody>
                  <a:tcPr anchor="ctr">
                    <a:solidFill>
                      <a:srgbClr val="E74C3C"/>
                    </a:solidFill>
                  </a:tcPr>
                </a:tc>
                <a:tc>
                  <a:txBody>
                    <a:bodyPr/>
                    <a:lstStyle/>
                    <a:p>
                      <a:pPr algn="ctr">
                        <a:defRPr sz="1100" b="1">
                          <a:solidFill>
                            <a:srgbClr val="FFFFFF"/>
                          </a:solidFill>
                          <a:latin typeface="Arial"/>
                        </a:defRPr>
                      </a:pPr>
                      <a:r>
                        <a:t>Song song (Parallelism)</a:t>
                      </a:r>
                    </a:p>
                  </a:txBody>
                  <a:tcPr anchor="ctr">
                    <a:solidFill>
                      <a:srgbClr val="E74C3C"/>
                    </a:solidFill>
                  </a:tcPr>
                </a:tc>
              </a:tr>
              <a:tr h="740833">
                <a:tc>
                  <a:txBody>
                    <a:bodyPr/>
                    <a:lstStyle/>
                    <a:p>
                      <a:pPr>
                        <a:defRPr sz="1050">
                          <a:solidFill>
                            <a:srgbClr val="212F3D"/>
                          </a:solidFill>
                          <a:latin typeface="Arial"/>
                        </a:defRPr>
                      </a:pPr>
                      <a:r>
                        <a:t>Số tác vụ cùng lúc</a:t>
                      </a:r>
                    </a:p>
                  </a:txBody>
                  <a:tcPr anchor="ctr">
                    <a:solidFill>
                      <a:srgbClr val="FFFFFF"/>
                    </a:solidFill>
                  </a:tcPr>
                </a:tc>
                <a:tc>
                  <a:txBody>
                    <a:bodyPr/>
                    <a:lstStyle/>
                    <a:p>
                      <a:pPr>
                        <a:defRPr sz="1050">
                          <a:solidFill>
                            <a:srgbClr val="212F3D"/>
                          </a:solidFill>
                          <a:latin typeface="Arial"/>
                        </a:defRPr>
                      </a:pPr>
                      <a:r>
                        <a:t>1 tác vụ tại 1 thời điểm</a:t>
                      </a:r>
                    </a:p>
                  </a:txBody>
                  <a:tcPr anchor="ctr">
                    <a:solidFill>
                      <a:srgbClr val="FFFFFF"/>
                    </a:solidFill>
                  </a:tcPr>
                </a:tc>
                <a:tc>
                  <a:txBody>
                    <a:bodyPr/>
                    <a:lstStyle/>
                    <a:p>
                      <a:pPr>
                        <a:defRPr sz="1050">
                          <a:solidFill>
                            <a:srgbClr val="212F3D"/>
                          </a:solidFill>
                          <a:latin typeface="Arial"/>
                        </a:defRPr>
                      </a:pPr>
                      <a:r>
                        <a:t>Nhiều tác vụ cùng tiến triển</a:t>
                      </a:r>
                    </a:p>
                  </a:txBody>
                  <a:tcPr anchor="ctr">
                    <a:solidFill>
                      <a:srgbClr val="FFFFFF"/>
                    </a:solidFill>
                  </a:tcPr>
                </a:tc>
                <a:tc>
                  <a:txBody>
                    <a:bodyPr/>
                    <a:lstStyle/>
                    <a:p>
                      <a:pPr>
                        <a:defRPr sz="1050">
                          <a:solidFill>
                            <a:srgbClr val="212F3D"/>
                          </a:solidFill>
                          <a:latin typeface="Arial"/>
                        </a:defRPr>
                      </a:pPr>
                      <a:r>
                        <a:t>Nhiều tác vụ chạy đồng thời vật lý</a:t>
                      </a:r>
                    </a:p>
                  </a:txBody>
                  <a:tcPr anchor="ctr">
                    <a:solidFill>
                      <a:srgbClr val="FFFFFF"/>
                    </a:solidFill>
                  </a:tcPr>
                </a:tc>
              </a:tr>
              <a:tr h="740833">
                <a:tc>
                  <a:txBody>
                    <a:bodyPr/>
                    <a:lstStyle/>
                    <a:p>
                      <a:pPr>
                        <a:defRPr sz="1050">
                          <a:solidFill>
                            <a:srgbClr val="212F3D"/>
                          </a:solidFill>
                          <a:latin typeface="Arial"/>
                        </a:defRPr>
                      </a:pPr>
                      <a:r>
                        <a:t>Số nhân CPU tối thiểu</a:t>
                      </a:r>
                    </a:p>
                  </a:txBody>
                  <a:tcPr anchor="ctr">
                    <a:solidFill>
                      <a:srgbClr val="F8F9FA"/>
                    </a:solidFill>
                  </a:tcPr>
                </a:tc>
                <a:tc>
                  <a:txBody>
                    <a:bodyPr/>
                    <a:lstStyle/>
                    <a:p>
                      <a:pPr>
                        <a:defRPr sz="1050">
                          <a:solidFill>
                            <a:srgbClr val="212F3D"/>
                          </a:solidFill>
                          <a:latin typeface="Arial"/>
                        </a:defRPr>
                      </a:pPr>
                      <a:r>
                        <a:t>1 nhân CPU là đủ</a:t>
                      </a:r>
                    </a:p>
                  </a:txBody>
                  <a:tcPr anchor="ctr">
                    <a:solidFill>
                      <a:srgbClr val="F8F9FA"/>
                    </a:solidFill>
                  </a:tcPr>
                </a:tc>
                <a:tc>
                  <a:txBody>
                    <a:bodyPr/>
                    <a:lstStyle/>
                    <a:p>
                      <a:pPr>
                        <a:defRPr sz="1050">
                          <a:solidFill>
                            <a:srgbClr val="212F3D"/>
                          </a:solidFill>
                          <a:latin typeface="Arial"/>
                        </a:defRPr>
                      </a:pPr>
                      <a:r>
                        <a:t>1 nhân CPU là đủ</a:t>
                      </a:r>
                    </a:p>
                  </a:txBody>
                  <a:tcPr anchor="ctr">
                    <a:solidFill>
                      <a:srgbClr val="F8F9FA"/>
                    </a:solidFill>
                  </a:tcPr>
                </a:tc>
                <a:tc>
                  <a:txBody>
                    <a:bodyPr/>
                    <a:lstStyle/>
                    <a:p>
                      <a:pPr>
                        <a:defRPr sz="1050">
                          <a:solidFill>
                            <a:srgbClr val="212F3D"/>
                          </a:solidFill>
                          <a:latin typeface="Arial"/>
                        </a:defRPr>
                      </a:pPr>
                      <a:r>
                        <a:t>Bắt buộc phải &gt; 1 nhân CPU</a:t>
                      </a:r>
                    </a:p>
                  </a:txBody>
                  <a:tcPr anchor="ctr">
                    <a:solidFill>
                      <a:srgbClr val="F8F9FA"/>
                    </a:solidFill>
                  </a:tcPr>
                </a:tc>
              </a:tr>
              <a:tr h="740833">
                <a:tc>
                  <a:txBody>
                    <a:bodyPr/>
                    <a:lstStyle/>
                    <a:p>
                      <a:pPr>
                        <a:defRPr sz="1050">
                          <a:solidFill>
                            <a:srgbClr val="212F3D"/>
                          </a:solidFill>
                          <a:latin typeface="Arial"/>
                        </a:defRPr>
                      </a:pPr>
                      <a:r>
                        <a:t>Cơ chế thực thi</a:t>
                      </a:r>
                    </a:p>
                  </a:txBody>
                  <a:tcPr anchor="ctr">
                    <a:solidFill>
                      <a:srgbClr val="FFFFFF"/>
                    </a:solidFill>
                  </a:tcPr>
                </a:tc>
                <a:tc>
                  <a:txBody>
                    <a:bodyPr/>
                    <a:lstStyle/>
                    <a:p>
                      <a:pPr>
                        <a:defRPr sz="1050">
                          <a:solidFill>
                            <a:srgbClr val="212F3D"/>
                          </a:solidFill>
                          <a:latin typeface="Arial"/>
                        </a:defRPr>
                      </a:pPr>
                      <a:r>
                        <a:t>Nối tiếp từ đầu đến cuối</a:t>
                      </a:r>
                    </a:p>
                  </a:txBody>
                  <a:tcPr anchor="ctr">
                    <a:solidFill>
                      <a:srgbClr val="FFFFFF"/>
                    </a:solidFill>
                  </a:tcPr>
                </a:tc>
                <a:tc>
                  <a:txBody>
                    <a:bodyPr/>
                    <a:lstStyle/>
                    <a:p>
                      <a:pPr>
                        <a:defRPr sz="1050">
                          <a:solidFill>
                            <a:srgbClr val="212F3D"/>
                          </a:solidFill>
                          <a:latin typeface="Arial"/>
                        </a:defRPr>
                      </a:pPr>
                      <a:r>
                        <a:t>Phân chia thời gian xen kẽ</a:t>
                      </a:r>
                    </a:p>
                  </a:txBody>
                  <a:tcPr anchor="ctr">
                    <a:solidFill>
                      <a:srgbClr val="FFFFFF"/>
                    </a:solidFill>
                  </a:tcPr>
                </a:tc>
                <a:tc>
                  <a:txBody>
                    <a:bodyPr/>
                    <a:lstStyle/>
                    <a:p>
                      <a:pPr>
                        <a:defRPr sz="1050">
                          <a:solidFill>
                            <a:srgbClr val="212F3D"/>
                          </a:solidFill>
                          <a:latin typeface="Arial"/>
                        </a:defRPr>
                      </a:pPr>
                      <a:r>
                        <a:t>Chạy thực sự tại cùng 1 khoảnh khắc</a:t>
                      </a:r>
                    </a:p>
                  </a:txBody>
                  <a:tcPr anchor="ctr">
                    <a:solidFill>
                      <a:srgbClr val="FFFFFF"/>
                    </a:solidFill>
                  </a:tcPr>
                </a:tc>
              </a:tr>
              <a:tr h="740833">
                <a:tc>
                  <a:txBody>
                    <a:bodyPr/>
                    <a:lstStyle/>
                    <a:p>
                      <a:pPr>
                        <a:defRPr sz="1050">
                          <a:solidFill>
                            <a:srgbClr val="212F3D"/>
                          </a:solidFill>
                          <a:latin typeface="Arial"/>
                        </a:defRPr>
                      </a:pPr>
                      <a:r>
                        <a:t>Xử lý khi bị nghẽn</a:t>
                      </a:r>
                    </a:p>
                  </a:txBody>
                  <a:tcPr anchor="ctr">
                    <a:solidFill>
                      <a:srgbClr val="F8F9FA"/>
                    </a:solidFill>
                  </a:tcPr>
                </a:tc>
                <a:tc>
                  <a:txBody>
                    <a:bodyPr/>
                    <a:lstStyle/>
                    <a:p>
                      <a:pPr>
                        <a:defRPr sz="1050">
                          <a:solidFill>
                            <a:srgbClr val="212F3D"/>
                          </a:solidFill>
                          <a:latin typeface="Arial"/>
                        </a:defRPr>
                      </a:pPr>
                      <a:r>
                        <a:t>Toàn bộ hệ thống bị chặn</a:t>
                      </a:r>
                    </a:p>
                  </a:txBody>
                  <a:tcPr anchor="ctr">
                    <a:solidFill>
                      <a:srgbClr val="F8F9FA"/>
                    </a:solidFill>
                  </a:tcPr>
                </a:tc>
                <a:tc>
                  <a:txBody>
                    <a:bodyPr/>
                    <a:lstStyle/>
                    <a:p>
                      <a:pPr>
                        <a:defRPr sz="1050">
                          <a:solidFill>
                            <a:srgbClr val="212F3D"/>
                          </a:solidFill>
                          <a:latin typeface="Arial"/>
                        </a:defRPr>
                      </a:pPr>
                      <a:r>
                        <a:t>Chuyển sang làm task khác</a:t>
                      </a:r>
                    </a:p>
                  </a:txBody>
                  <a:tcPr anchor="ctr">
                    <a:solidFill>
                      <a:srgbClr val="F8F9FA"/>
                    </a:solidFill>
                  </a:tcPr>
                </a:tc>
                <a:tc>
                  <a:txBody>
                    <a:bodyPr/>
                    <a:lstStyle/>
                    <a:p>
                      <a:pPr>
                        <a:defRPr sz="1050">
                          <a:solidFill>
                            <a:srgbClr val="212F3D"/>
                          </a:solidFill>
                          <a:latin typeface="Arial"/>
                        </a:defRPr>
                      </a:pPr>
                      <a:r>
                        <a:t>Các core khác vẫn chạy bình thường</a:t>
                      </a:r>
                    </a:p>
                  </a:txBody>
                  <a:tcPr anchor="ctr">
                    <a:solidFill>
                      <a:srgbClr val="F8F9FA"/>
                    </a:solidFill>
                  </a:tcPr>
                </a:tc>
              </a:tr>
              <a:tr h="740835">
                <a:tc>
                  <a:txBody>
                    <a:bodyPr/>
                    <a:lstStyle/>
                    <a:p>
                      <a:pPr>
                        <a:defRPr sz="1050">
                          <a:solidFill>
                            <a:srgbClr val="212F3D"/>
                          </a:solidFill>
                          <a:latin typeface="Arial"/>
                        </a:defRPr>
                      </a:pPr>
                      <a:r>
                        <a:t>Mục tiêu cốt lõi</a:t>
                      </a:r>
                    </a:p>
                  </a:txBody>
                  <a:tcPr anchor="ctr">
                    <a:solidFill>
                      <a:srgbClr val="FFFFFF"/>
                    </a:solidFill>
                  </a:tcPr>
                </a:tc>
                <a:tc>
                  <a:txBody>
                    <a:bodyPr/>
                    <a:lstStyle/>
                    <a:p>
                      <a:pPr>
                        <a:defRPr sz="1050">
                          <a:solidFill>
                            <a:srgbClr val="212F3D"/>
                          </a:solidFill>
                          <a:latin typeface="Arial"/>
                        </a:defRPr>
                      </a:pPr>
                      <a:r>
                        <a:t>Đơn giản, đúng thứ tự</a:t>
                      </a:r>
                    </a:p>
                  </a:txBody>
                  <a:tcPr anchor="ctr">
                    <a:solidFill>
                      <a:srgbClr val="FFFFFF"/>
                    </a:solidFill>
                  </a:tcPr>
                </a:tc>
                <a:tc>
                  <a:txBody>
                    <a:bodyPr/>
                    <a:lstStyle/>
                    <a:p>
                      <a:pPr>
                        <a:defRPr sz="1050">
                          <a:solidFill>
                            <a:srgbClr val="212F3D"/>
                          </a:solidFill>
                          <a:latin typeface="Arial"/>
                        </a:defRPr>
                      </a:pPr>
                      <a:r>
                        <a:t>Cấu trúc hóa nhiều việc</a:t>
                      </a:r>
                    </a:p>
                  </a:txBody>
                  <a:tcPr anchor="ctr">
                    <a:solidFill>
                      <a:srgbClr val="FFFFFF"/>
                    </a:solidFill>
                  </a:tcPr>
                </a:tc>
                <a:tc>
                  <a:txBody>
                    <a:bodyPr/>
                    <a:lstStyle/>
                    <a:p>
                      <a:pPr>
                        <a:defRPr sz="1050">
                          <a:solidFill>
                            <a:srgbClr val="212F3D"/>
                          </a:solidFill>
                          <a:latin typeface="Arial"/>
                        </a:defRPr>
                      </a:pPr>
                      <a:r>
                        <a:t>Tăng tốc độ tính toán phần cứng</a:t>
                      </a:r>
                    </a:p>
                  </a:txBody>
                  <a:tcPr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13</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Asynchronous - Bất đồng bộ (Slide 7 gốc)</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Mô hình xử lý bất đồng bộ (Asynchronous Computing)</a:t>
            </a:r>
          </a:p>
        </p:txBody>
      </p:sp>
      <p:sp>
        <p:nvSpPr>
          <p:cNvPr id="7" name="TextBox 6"/>
          <p:cNvSpPr txBox="1"/>
          <p:nvPr/>
        </p:nvSpPr>
        <p:spPr>
          <a:xfrm>
            <a:off x="359918" y="1905000"/>
            <a:ext cx="9334500" cy="2095500"/>
          </a:xfrm>
          <a:prstGeom prst="rect">
            <a:avLst/>
          </a:prstGeom>
          <a:noFill/>
        </p:spPr>
        <p:txBody>
          <a:bodyPr wrap="square" lIns="0" tIns="0">
            <a:spAutoFit/>
          </a:bodyPr>
          <a:lstStyle/>
          <a:p>
            <a:pPr>
              <a:spcAft>
                <a:spcPts val="700"/>
              </a:spcAft>
            </a:pPr>
            <a:r>
              <a:rPr sz="1200" b="1">
                <a:solidFill>
                  <a:srgbClr val="E74C3C"/>
                </a:solidFill>
                <a:latin typeface="Arial"/>
              </a:rPr>
              <a:t>• Xử lý không theo thứ tự cố định: </a:t>
            </a:r>
            <a:r>
              <a:rPr sz="1200">
                <a:solidFill>
                  <a:srgbClr val="212F3D"/>
                </a:solidFill>
                <a:latin typeface="Arial"/>
              </a:rPr>
              <a:t>Cho phép các task được xử lý KHÔNG THEO THỨ TỰ (có thể chuyển sang làm task khác trước khi task trước đó hoàn thành).</a:t>
            </a:r>
          </a:p>
          <a:p>
            <a:pPr>
              <a:spcAft>
                <a:spcPts val="700"/>
              </a:spcAft>
            </a:pPr>
            <a:r>
              <a:rPr sz="1200" b="1">
                <a:solidFill>
                  <a:srgbClr val="E74C3C"/>
                </a:solidFill>
                <a:latin typeface="Arial"/>
              </a:rPr>
              <a:t>• Tiếp nhận nhiều yêu cầu cùng lúc: </a:t>
            </a:r>
            <a:r>
              <a:rPr sz="1200">
                <a:solidFill>
                  <a:srgbClr val="212F3D"/>
                </a:solidFill>
                <a:latin typeface="Arial"/>
              </a:rPr>
              <a:t>Hệ thống có thể liên tục tiếp nhận các yêu cầu mới mà không bị chặn lại bởi các yêu cầu cũ đang chờ xử lý.</a:t>
            </a:r>
          </a:p>
          <a:p>
            <a:pPr>
              <a:spcAft>
                <a:spcPts val="700"/>
              </a:spcAft>
            </a:pPr>
            <a:r>
              <a:rPr sz="1200" b="1">
                <a:solidFill>
                  <a:srgbClr val="E74C3C"/>
                </a:solidFill>
                <a:latin typeface="Arial"/>
              </a:rPr>
              <a:t>• Rút ngắn thời gian toàn cục: </a:t>
            </a:r>
            <a:r>
              <a:rPr sz="1200">
                <a:solidFill>
                  <a:srgbClr val="212F3D"/>
                </a:solidFill>
                <a:latin typeface="Arial"/>
              </a:rPr>
              <a:t>Giải quyết nhiều yêu cầu đồng thời trong khoảng thời gian ngắn hơn rất nhiều so với mô hình tuần tự truyền thống.</a:t>
            </a:r>
          </a:p>
          <a:p>
            <a:pPr>
              <a:spcAft>
                <a:spcPts val="700"/>
              </a:spcAft>
            </a:pPr>
            <a:r>
              <a:rPr sz="1200" b="1">
                <a:solidFill>
                  <a:srgbClr val="E74C3C"/>
                </a:solidFill>
                <a:latin typeface="Arial"/>
              </a:rPr>
              <a:t>• Ví dụ đời sống trong slide gốc: </a:t>
            </a:r>
            <a:r>
              <a:rPr sz="1200">
                <a:solidFill>
                  <a:srgbClr val="212F3D"/>
                </a:solidFill>
                <a:latin typeface="Arial"/>
              </a:rPr>
              <a:t>Đi thi (làm bài thi), Bãi giữ xe (quét thẻ gửi xe), ...</a:t>
            </a:r>
          </a:p>
        </p:txBody>
      </p:sp>
      <p:pic>
        <p:nvPicPr>
          <p:cNvPr id="8" name="Picture 7" descr="diag_orig_async_parking_exam.png"/>
          <p:cNvPicPr>
            <a:picLocks noChangeAspect="1"/>
          </p:cNvPicPr>
          <p:nvPr/>
        </p:nvPicPr>
        <p:blipFill>
          <a:blip r:embed="rId2"/>
          <a:stretch>
            <a:fillRect/>
          </a:stretch>
        </p:blipFill>
        <p:spPr>
          <a:xfrm>
            <a:off x="359918" y="4127500"/>
            <a:ext cx="9334500" cy="2476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14</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Cơ chế Tối ưu Thời gian của Bất đồng bộ</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Cơ chế tối ưu hóa thời gian: Chồng lấp thời gian chờ I/O</a:t>
            </a:r>
          </a:p>
        </p:txBody>
      </p:sp>
      <p:sp>
        <p:nvSpPr>
          <p:cNvPr id="7" name="TextBox 6"/>
          <p:cNvSpPr txBox="1"/>
          <p:nvPr/>
        </p:nvSpPr>
        <p:spPr>
          <a:xfrm>
            <a:off x="359918" y="1905000"/>
            <a:ext cx="9334500" cy="2095500"/>
          </a:xfrm>
          <a:prstGeom prst="rect">
            <a:avLst/>
          </a:prstGeom>
          <a:noFill/>
        </p:spPr>
        <p:txBody>
          <a:bodyPr wrap="square" lIns="0" tIns="0">
            <a:spAutoFit/>
          </a:bodyPr>
          <a:lstStyle/>
          <a:p>
            <a:pPr>
              <a:spcAft>
                <a:spcPts val="700"/>
              </a:spcAft>
            </a:pPr>
            <a:r>
              <a:rPr sz="1200" b="1">
                <a:solidFill>
                  <a:srgbClr val="E74C3C"/>
                </a:solidFill>
                <a:latin typeface="Arial"/>
              </a:rPr>
              <a:t>• Khoảng chờ I/O là cơ hội: </a:t>
            </a:r>
            <a:r>
              <a:rPr sz="1200">
                <a:solidFill>
                  <a:srgbClr val="212F3D"/>
                </a:solidFill>
                <a:latin typeface="Arial"/>
              </a:rPr>
              <a:t>Trong các ứng dụng thực tế (web, mạng, cơ sở dữ liệu), hơn 90% thời gian là chờ phản hồi từ thiết bị hoặc server khác.</a:t>
            </a:r>
          </a:p>
          <a:p>
            <a:pPr>
              <a:spcAft>
                <a:spcPts val="700"/>
              </a:spcAft>
            </a:pPr>
            <a:r>
              <a:rPr sz="1200" b="1">
                <a:solidFill>
                  <a:srgbClr val="E74C3C"/>
                </a:solidFill>
                <a:latin typeface="Arial"/>
              </a:rPr>
              <a:t>• Cơ chế Không chờ đợi (Non-blocking): </a:t>
            </a:r>
            <a:r>
              <a:rPr sz="1200">
                <a:solidFill>
                  <a:srgbClr val="212F3D"/>
                </a:solidFill>
                <a:latin typeface="Arial"/>
              </a:rPr>
              <a:t>Khi gửi yêu cầu I/O, tác vụ không đứng chờ kết quả mà đăng ký một điểm hẹn (callback / event / future) rồi nhường quyền thực thi.</a:t>
            </a:r>
          </a:p>
          <a:p>
            <a:pPr>
              <a:spcAft>
                <a:spcPts val="700"/>
              </a:spcAft>
            </a:pPr>
            <a:r>
              <a:rPr sz="1200" b="1">
                <a:solidFill>
                  <a:srgbClr val="E74C3C"/>
                </a:solidFill>
                <a:latin typeface="Arial"/>
              </a:rPr>
              <a:t>• Chồng lấp thời gian chờ (I/O Overlapping): </a:t>
            </a:r>
            <a:r>
              <a:rPr sz="1200">
                <a:solidFill>
                  <a:srgbClr val="212F3D"/>
                </a:solidFill>
                <a:latin typeface="Arial"/>
              </a:rPr>
              <a:t>Thời gian chờ của 10 yêu cầu diễn ra song song cùng lúc trong mạng; CPU chỉ tốn chút thời gian phát lệnh và thu hoạch kết quả.</a:t>
            </a:r>
          </a:p>
          <a:p>
            <a:pPr>
              <a:spcAft>
                <a:spcPts val="700"/>
              </a:spcAft>
            </a:pPr>
            <a:r>
              <a:rPr sz="1200" b="1">
                <a:solidFill>
                  <a:srgbClr val="E74C3C"/>
                </a:solidFill>
                <a:latin typeface="Arial"/>
              </a:rPr>
              <a:t>• Kết quả tăng tốc vượt bậc: </a:t>
            </a:r>
            <a:r>
              <a:rPr sz="1200">
                <a:solidFill>
                  <a:srgbClr val="212F3D"/>
                </a:solidFill>
                <a:latin typeface="Arial"/>
              </a:rPr>
              <a:t>Thời gian hoàn thành 10 tác vụ I/O xấp xỉ bằng thời gian của 1 tác vụ lâu nhất, thay vì tổng thời gian của cả 10 tác vụ cộng lại!</a:t>
            </a:r>
          </a:p>
        </p:txBody>
      </p:sp>
      <p:sp>
        <p:nvSpPr>
          <p:cNvPr id="8" name="Rounded Rectangle 7"/>
          <p:cNvSpPr/>
          <p:nvPr/>
        </p:nvSpPr>
        <p:spPr>
          <a:xfrm>
            <a:off x="359918" y="4254500"/>
            <a:ext cx="9334500" cy="2286000"/>
          </a:xfrm>
          <a:prstGeom prst="roundRect">
            <a:avLst/>
          </a:prstGeom>
          <a:solidFill>
            <a:srgbClr val="F8F9FA"/>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lIns="203200" tIns="152400" rIns="203200"/>
          <a:lstStyle/>
          <a:p>
            <a:pPr algn="ctr">
              <a:defRPr sz="1250" b="1">
                <a:solidFill>
                  <a:srgbClr val="E74C3C"/>
                </a:solidFill>
                <a:latin typeface="Arial"/>
              </a:defRPr>
            </a:pPr>
            <a:r>
              <a:t>SO SÁNH THỜI GIAN THỰC HIỆN 5 LỆNH TRUY VẤN MẠNG (MỖI LỆNH MẤT 1 GIÂY):</a:t>
            </a:r>
          </a:p>
          <a:p>
            <a:pPr>
              <a:spcBef>
                <a:spcPts val="500"/>
              </a:spcBef>
            </a:pPr>
            <a:r>
              <a:rPr b="1" sz="1050">
                <a:solidFill>
                  <a:srgbClr val="2C3E50"/>
                </a:solidFill>
              </a:rPr>
              <a:t>• Mô hình Đồng bộ (Sync): </a:t>
            </a:r>
            <a:r>
              <a:rPr sz="1050">
                <a:solidFill>
                  <a:srgbClr val="212F3D"/>
                </a:solidFill>
              </a:rPr>
              <a:t>Lệnh 1 (1s) ➔ Lệnh 2 (1s) ➔ Lệnh 3 (1s) ➔ Lệnh 4 (1s) ➔ Lệnh 5 (1s). Tổng cộng: 5 GIÂY!</a:t>
            </a:r>
          </a:p>
          <a:p>
            <a:pPr>
              <a:spcBef>
                <a:spcPts val="500"/>
              </a:spcBef>
            </a:pPr>
            <a:r>
              <a:rPr b="1" sz="1050">
                <a:solidFill>
                  <a:srgbClr val="2C3E50"/>
                </a:solidFill>
              </a:rPr>
              <a:t>• Mô hình Bất đồng bộ (Async): </a:t>
            </a:r>
            <a:r>
              <a:rPr sz="1050">
                <a:solidFill>
                  <a:srgbClr val="212F3D"/>
                </a:solidFill>
              </a:rPr>
              <a:t>Phát 5 lệnh cùng lúc (tốn 0.01s CPU) ➔ Cả 5 lệnh cùng chờ mạng ➔ Tổng cộng: KHOẢNG 1.05 GIÂY!</a:t>
            </a:r>
          </a:p>
          <a:p>
            <a:pPr>
              <a:spcBef>
                <a:spcPts val="500"/>
              </a:spcBef>
            </a:pPr>
            <a:r>
              <a:rPr b="1" sz="1050">
                <a:solidFill>
                  <a:srgbClr val="2C3E50"/>
                </a:solidFill>
              </a:rPr>
              <a:t>• Hiệu quả: </a:t>
            </a:r>
            <a:r>
              <a:rPr sz="1050">
                <a:solidFill>
                  <a:srgbClr val="212F3D"/>
                </a:solidFill>
              </a:rPr>
              <a:t>Tăng tốc gấp gần 5 lần mà không cần tạo thêm bất kỳ luồng hay tiến trình nào!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VÍ DỤ THỰC TẾ</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15</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Ví dụ 1: Đi thi (Làm bài thi)</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Phân tích ví dụ Đi thi: Xử lý không theo thứ tự trong bài thi</a:t>
            </a:r>
          </a:p>
        </p:txBody>
      </p:sp>
      <p:sp>
        <p:nvSpPr>
          <p:cNvPr id="7" name="TextBox 6"/>
          <p:cNvSpPr txBox="1"/>
          <p:nvPr/>
        </p:nvSpPr>
        <p:spPr>
          <a:xfrm>
            <a:off x="359918" y="1905000"/>
            <a:ext cx="9334500" cy="2159000"/>
          </a:xfrm>
          <a:prstGeom prst="rect">
            <a:avLst/>
          </a:prstGeom>
          <a:noFill/>
        </p:spPr>
        <p:txBody>
          <a:bodyPr wrap="square" lIns="0" tIns="0">
            <a:spAutoFit/>
          </a:bodyPr>
          <a:lstStyle/>
          <a:p>
            <a:pPr>
              <a:spcAft>
                <a:spcPts val="700"/>
              </a:spcAft>
            </a:pPr>
            <a:r>
              <a:rPr sz="1200" b="1">
                <a:solidFill>
                  <a:srgbClr val="E74C3C"/>
                </a:solidFill>
                <a:latin typeface="Arial"/>
              </a:rPr>
              <a:t>• Bối cảnh trong phòng thi: </a:t>
            </a:r>
            <a:r>
              <a:rPr sz="1200">
                <a:solidFill>
                  <a:srgbClr val="212F3D"/>
                </a:solidFill>
                <a:latin typeface="Arial"/>
              </a:rPr>
              <a:t>Đề thi gồm 10 câu hỏi, được đánh số từ Câu 1 đến Câu 10. Mỗi câu có độ khó và thời gian giải khác nhau.</a:t>
            </a:r>
          </a:p>
          <a:p>
            <a:pPr>
              <a:spcAft>
                <a:spcPts val="700"/>
              </a:spcAft>
            </a:pPr>
            <a:r>
              <a:rPr sz="1200" b="1">
                <a:solidFill>
                  <a:srgbClr val="E74C3C"/>
                </a:solidFill>
                <a:latin typeface="Arial"/>
              </a:rPr>
              <a:t>• Cách làm theo kiểu Tuần tự: </a:t>
            </a:r>
            <a:r>
              <a:rPr sz="1200">
                <a:solidFill>
                  <a:srgbClr val="212F3D"/>
                </a:solidFill>
                <a:latin typeface="Arial"/>
              </a:rPr>
              <a:t>Thí sinh cắm đầu làm Câu 1. Đến Câu 2 gặp bài toán hóc búa, thí sinh ngồi suy nghĩ 45 phút không nhúc nhích ➔ Hết giờ thi chỉ làm được 2 câu!</a:t>
            </a:r>
          </a:p>
          <a:p>
            <a:pPr>
              <a:spcAft>
                <a:spcPts val="700"/>
              </a:spcAft>
            </a:pPr>
            <a:r>
              <a:rPr sz="1200" b="1">
                <a:solidFill>
                  <a:srgbClr val="E74C3C"/>
                </a:solidFill>
                <a:latin typeface="Arial"/>
              </a:rPr>
              <a:t>• Cách làm theo kiểu Bất đồng bộ: </a:t>
            </a:r>
            <a:r>
              <a:rPr sz="1200">
                <a:solidFill>
                  <a:srgbClr val="212F3D"/>
                </a:solidFill>
                <a:latin typeface="Arial"/>
              </a:rPr>
              <a:t>Thí sinh đọc Câu 2 thấy khó ➔ TẠM DỪNG, đánh dấu lại và CHUYỂN NGAY sang làm Câu 3, Câu 4 dễ hơn. Khi làm xong các câu dễ và não bộ đã có thêm ý tưởng ➔ QUAY LẠI giải Câu 2!</a:t>
            </a:r>
          </a:p>
          <a:p>
            <a:pPr>
              <a:spcAft>
                <a:spcPts val="700"/>
              </a:spcAft>
            </a:pPr>
            <a:r>
              <a:rPr sz="1200" b="1">
                <a:solidFill>
                  <a:srgbClr val="E74C3C"/>
                </a:solidFill>
                <a:latin typeface="Arial"/>
              </a:rPr>
              <a:t>• Bài học công nghệ: </a:t>
            </a:r>
            <a:r>
              <a:rPr sz="1200">
                <a:solidFill>
                  <a:srgbClr val="212F3D"/>
                </a:solidFill>
                <a:latin typeface="Arial"/>
              </a:rPr>
              <a:t>Chương trình máy tính cũng vậy: Khi gặp một tác vụ mất thời gian chờ dữ liệu, nó tạm bỏ qua để phục vụ các yêu cầu khác trước.</a:t>
            </a:r>
          </a:p>
        </p:txBody>
      </p:sp>
      <p:sp>
        <p:nvSpPr>
          <p:cNvPr id="8" name="Rounded Rectangle 7"/>
          <p:cNvSpPr/>
          <p:nvPr/>
        </p:nvSpPr>
        <p:spPr>
          <a:xfrm>
            <a:off x="359918" y="4381500"/>
            <a:ext cx="9334500" cy="2159000"/>
          </a:xfrm>
          <a:prstGeom prst="roundRect">
            <a:avLst/>
          </a:prstGeom>
          <a:solidFill>
            <a:srgbClr val="F8F9FA"/>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lIns="203200" tIns="152400" rIns="203200"/>
          <a:lstStyle/>
          <a:p>
            <a:pPr algn="ctr">
              <a:defRPr sz="1250" b="1">
                <a:solidFill>
                  <a:srgbClr val="E67E22"/>
                </a:solidFill>
                <a:latin typeface="Arial"/>
              </a:defRPr>
            </a:pPr>
            <a:r>
              <a:t>Ý NGHĨA KỸ THUẬT CỦA VÍ DỤ 'ĐI THI':</a:t>
            </a:r>
          </a:p>
          <a:p>
            <a:pPr>
              <a:spcBef>
                <a:spcPts val="500"/>
              </a:spcBef>
            </a:pPr>
            <a:r>
              <a:rPr b="1" sz="1050">
                <a:solidFill>
                  <a:srgbClr val="2C3E50"/>
                </a:solidFill>
              </a:rPr>
              <a:t>• Tài nguyên xử lý: </a:t>
            </a:r>
            <a:r>
              <a:rPr sz="1050">
                <a:solidFill>
                  <a:srgbClr val="212F3D"/>
                </a:solidFill>
              </a:rPr>
              <a:t>Một thí sinh duy nhất (tương ứng với MỘT LUỒNG ĐIỀU KHIỂN DUY NHẤT).</a:t>
            </a:r>
          </a:p>
          <a:p>
            <a:pPr>
              <a:spcBef>
                <a:spcPts val="500"/>
              </a:spcBef>
            </a:pPr>
            <a:r>
              <a:rPr b="1" sz="1050">
                <a:solidFill>
                  <a:srgbClr val="2C3E50"/>
                </a:solidFill>
              </a:rPr>
              <a:t>• Tác vụ khó/chờ lâu: </a:t>
            </a:r>
            <a:r>
              <a:rPr sz="1050">
                <a:solidFill>
                  <a:srgbClr val="212F3D"/>
                </a:solidFill>
              </a:rPr>
              <a:t>Tương ứng với thao tác Blocking I/O (chờ mạng, chờ đĩa).</a:t>
            </a:r>
          </a:p>
          <a:p>
            <a:pPr>
              <a:spcBef>
                <a:spcPts val="500"/>
              </a:spcBef>
            </a:pPr>
            <a:r>
              <a:rPr b="1" sz="1050">
                <a:solidFill>
                  <a:srgbClr val="2C3E50"/>
                </a:solidFill>
              </a:rPr>
              <a:t>• Hành động tạm dừng &amp; quay lại: </a:t>
            </a:r>
            <a:r>
              <a:rPr sz="1050">
                <a:solidFill>
                  <a:srgbClr val="212F3D"/>
                </a:solidFill>
              </a:rPr>
              <a:t>Tương ứng với lệnh 'await' và cơ chế Cooperative Scheduling trong Python Asyncio!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VÍ DỤ THỰC TẾ</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16</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Ví dụ 2: Bãi giữ xe (Gửi &amp; Lấy thẻ xe)</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Phân tích ví dụ Bãi giữ xe: Tiếp nhận nhiều yêu cầu không bị chặn</a:t>
            </a:r>
          </a:p>
        </p:txBody>
      </p:sp>
      <p:sp>
        <p:nvSpPr>
          <p:cNvPr id="7" name="TextBox 6"/>
          <p:cNvSpPr txBox="1"/>
          <p:nvPr/>
        </p:nvSpPr>
        <p:spPr>
          <a:xfrm>
            <a:off x="359918" y="1905000"/>
            <a:ext cx="9334500" cy="2159000"/>
          </a:xfrm>
          <a:prstGeom prst="rect">
            <a:avLst/>
          </a:prstGeom>
          <a:noFill/>
        </p:spPr>
        <p:txBody>
          <a:bodyPr wrap="square" lIns="0" tIns="0">
            <a:spAutoFit/>
          </a:bodyPr>
          <a:lstStyle/>
          <a:p>
            <a:pPr>
              <a:spcAft>
                <a:spcPts val="700"/>
              </a:spcAft>
            </a:pPr>
            <a:r>
              <a:rPr sz="1200" b="1">
                <a:solidFill>
                  <a:srgbClr val="E74C3C"/>
                </a:solidFill>
                <a:latin typeface="Arial"/>
              </a:rPr>
              <a:t>• Bối cảnh tại cổng bãi xe: </a:t>
            </a:r>
            <a:r>
              <a:rPr sz="1200">
                <a:solidFill>
                  <a:srgbClr val="212F3D"/>
                </a:solidFill>
                <a:latin typeface="Arial"/>
              </a:rPr>
              <a:t>Khách hàng liên tục đi xe máy đến gửi xe tại cổng trường hoặc trung tâm thương mại vào giờ cao điểm.</a:t>
            </a:r>
          </a:p>
          <a:p>
            <a:pPr>
              <a:spcAft>
                <a:spcPts val="700"/>
              </a:spcAft>
            </a:pPr>
            <a:r>
              <a:rPr sz="1200" b="1">
                <a:solidFill>
                  <a:srgbClr val="E74C3C"/>
                </a:solidFill>
                <a:latin typeface="Arial"/>
              </a:rPr>
              <a:t>• Cách phục vụ Tuần tự (Blocking): </a:t>
            </a:r>
            <a:r>
              <a:rPr sz="1200">
                <a:solidFill>
                  <a:srgbClr val="212F3D"/>
                </a:solidFill>
                <a:latin typeface="Arial"/>
              </a:rPr>
              <a:t>Bác bảo vệ phát thẻ xe, sau đó DẪN XE CỦA KHÁCH VÀO TẬN VỊ TRÍ ĐỖ, khóa xe xong mới quay ra cổng đón người tiếp theo ➔ Hàng dài xe bị ùn tắc hàng cây số!</a:t>
            </a:r>
          </a:p>
          <a:p>
            <a:pPr>
              <a:spcAft>
                <a:spcPts val="700"/>
              </a:spcAft>
            </a:pPr>
            <a:r>
              <a:rPr sz="1200" b="1">
                <a:solidFill>
                  <a:srgbClr val="E74C3C"/>
                </a:solidFill>
                <a:latin typeface="Arial"/>
              </a:rPr>
              <a:t>• Cách phục vụ Bất đồng bộ (Non-blocking): </a:t>
            </a:r>
            <a:r>
              <a:rPr sz="1200">
                <a:solidFill>
                  <a:srgbClr val="212F3D"/>
                </a:solidFill>
                <a:latin typeface="Arial"/>
              </a:rPr>
              <a:t>Bác bảo vệ quẹt thẻ xe, trao vé cho khách (nhận vé hẹn / handle). Khách TỰ DẮT XE VÀO BÃI. Bác bảo vệ KHÔNG CHỜ mà lập tức quẹt thẻ phục vụ người tiếp theo!</a:t>
            </a:r>
          </a:p>
          <a:p>
            <a:pPr>
              <a:spcAft>
                <a:spcPts val="700"/>
              </a:spcAft>
            </a:pPr>
            <a:r>
              <a:rPr sz="1200" b="1">
                <a:solidFill>
                  <a:srgbClr val="E74C3C"/>
                </a:solidFill>
                <a:latin typeface="Arial"/>
              </a:rPr>
              <a:t>• Bài học công nghệ: </a:t>
            </a:r>
            <a:r>
              <a:rPr sz="1200">
                <a:solidFill>
                  <a:srgbClr val="212F3D"/>
                </a:solidFill>
                <a:latin typeface="Arial"/>
              </a:rPr>
              <a:t>Bảo vệ (CPU/Server) chỉ làm nhiệm vụ tiếp nhận và cấp phát vé (handle). Việc dắt xe vào bãi (I/O chờ đĩa/mạng) do khách tự thực hiện độc lập.</a:t>
            </a:r>
          </a:p>
        </p:txBody>
      </p:sp>
      <p:sp>
        <p:nvSpPr>
          <p:cNvPr id="8" name="Rounded Rectangle 7"/>
          <p:cNvSpPr/>
          <p:nvPr/>
        </p:nvSpPr>
        <p:spPr>
          <a:xfrm>
            <a:off x="359918" y="4381500"/>
            <a:ext cx="9334500" cy="2159000"/>
          </a:xfrm>
          <a:prstGeom prst="roundRect">
            <a:avLst/>
          </a:prstGeom>
          <a:solidFill>
            <a:srgbClr val="F8F9FA"/>
          </a:solidFill>
          <a:ln w="1905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lIns="203200" tIns="152400" rIns="203200"/>
          <a:lstStyle/>
          <a:p>
            <a:pPr algn="ctr">
              <a:defRPr sz="1250" b="1">
                <a:solidFill>
                  <a:srgbClr val="2980B9"/>
                </a:solidFill>
                <a:latin typeface="Arial"/>
              </a:defRPr>
            </a:pPr>
            <a:r>
              <a:t>Ý NGHĨA KỸ THUẬT CỦA VÍ DỤ 'BÃI GIỮ XE':</a:t>
            </a:r>
          </a:p>
          <a:p>
            <a:pPr>
              <a:spcBef>
                <a:spcPts val="500"/>
              </a:spcBef>
            </a:pPr>
            <a:r>
              <a:rPr b="1" sz="1050">
                <a:solidFill>
                  <a:srgbClr val="2C3E50"/>
                </a:solidFill>
              </a:rPr>
              <a:t>• Nhân viên bảo vệ: </a:t>
            </a:r>
            <a:r>
              <a:rPr sz="1050">
                <a:solidFill>
                  <a:srgbClr val="212F3D"/>
                </a:solidFill>
              </a:rPr>
              <a:t>Bộ điều phối Event Loop (chỉ có 1 luồng duy nhất nhưng xử lý hàng nghìn khách).</a:t>
            </a:r>
          </a:p>
          <a:p>
            <a:pPr>
              <a:spcBef>
                <a:spcPts val="500"/>
              </a:spcBef>
            </a:pPr>
            <a:r>
              <a:rPr b="1" sz="1050">
                <a:solidFill>
                  <a:srgbClr val="2C3E50"/>
                </a:solidFill>
              </a:rPr>
              <a:t>• Vé gửi xe: </a:t>
            </a:r>
            <a:r>
              <a:rPr sz="1050">
                <a:solidFill>
                  <a:srgbClr val="212F3D"/>
                </a:solidFill>
              </a:rPr>
              <a:t>Đối tượng Future / Task trong Python (giữ quyền nhận kết quả sau này).</a:t>
            </a:r>
          </a:p>
          <a:p>
            <a:pPr>
              <a:spcBef>
                <a:spcPts val="500"/>
              </a:spcBef>
            </a:pPr>
            <a:r>
              <a:rPr b="1" sz="1050">
                <a:solidFill>
                  <a:srgbClr val="2C3E50"/>
                </a:solidFill>
              </a:rPr>
              <a:t>• Kết quả đạt được: </a:t>
            </a:r>
            <a:r>
              <a:rPr sz="1050">
                <a:solidFill>
                  <a:srgbClr val="212F3D"/>
                </a:solidFill>
              </a:rPr>
              <a:t>Không một ai bị chặn ở cổng bãi xe, hệ thống đạt thông lượng (Throughput) tối đa!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17</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Single Thread of Control (Slide 8 gốc)</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Mô hình bất đồng bộ thực thi đồng thời trên một luồng điều khiển</a:t>
            </a:r>
          </a:p>
        </p:txBody>
      </p:sp>
      <p:sp>
        <p:nvSpPr>
          <p:cNvPr id="7" name="TextBox 6"/>
          <p:cNvSpPr txBox="1"/>
          <p:nvPr/>
        </p:nvSpPr>
        <p:spPr>
          <a:xfrm>
            <a:off x="359918" y="1905000"/>
            <a:ext cx="9334500" cy="2095500"/>
          </a:xfrm>
          <a:prstGeom prst="rect">
            <a:avLst/>
          </a:prstGeom>
          <a:noFill/>
        </p:spPr>
        <p:txBody>
          <a:bodyPr wrap="square" lIns="0" tIns="0">
            <a:spAutoFit/>
          </a:bodyPr>
          <a:lstStyle/>
          <a:p>
            <a:pPr>
              <a:spcAft>
                <a:spcPts val="700"/>
              </a:spcAft>
            </a:pPr>
            <a:r>
              <a:rPr sz="1200" b="1">
                <a:solidFill>
                  <a:srgbClr val="E74C3C"/>
                </a:solidFill>
                <a:latin typeface="Arial"/>
              </a:rPr>
              <a:t>• Thực hiện xen kẽ trong một khoảng thời gian: </a:t>
            </a:r>
            <a:r>
              <a:rPr sz="1200">
                <a:solidFill>
                  <a:srgbClr val="212F3D"/>
                </a:solidFill>
                <a:latin typeface="Arial"/>
              </a:rPr>
              <a:t>Trong một khoảng thời gian xác định, các task được thực hiện xen kẽ nhau linh hoạt.</a:t>
            </a:r>
          </a:p>
          <a:p>
            <a:pPr>
              <a:spcAft>
                <a:spcPts val="700"/>
              </a:spcAft>
            </a:pPr>
            <a:r>
              <a:rPr sz="1200" b="1">
                <a:solidFill>
                  <a:srgbClr val="E74C3C"/>
                </a:solidFill>
                <a:latin typeface="Arial"/>
              </a:rPr>
              <a:t>• Nằm trong một luồng điều khiển duy nhất: </a:t>
            </a:r>
            <a:r>
              <a:rPr sz="1200">
                <a:solidFill>
                  <a:srgbClr val="212F3D"/>
                </a:solidFill>
                <a:latin typeface="Arial"/>
              </a:rPr>
              <a:t>Toàn bộ mô hình chạy trong MỘT LUỒNG ĐIỀU KHIỂN CHÍNH DUY NHẤT (Single Thread of Control).</a:t>
            </a:r>
          </a:p>
          <a:p>
            <a:pPr>
              <a:spcAft>
                <a:spcPts val="700"/>
              </a:spcAft>
            </a:pPr>
            <a:r>
              <a:rPr sz="1200" b="1">
                <a:solidFill>
                  <a:srgbClr val="E74C3C"/>
                </a:solidFill>
                <a:latin typeface="Arial"/>
              </a:rPr>
              <a:t>• Nguyên tắc thực thi luồng đơn: </a:t>
            </a:r>
            <a:r>
              <a:rPr sz="1200">
                <a:solidFill>
                  <a:srgbClr val="212F3D"/>
                </a:solidFill>
                <a:latin typeface="Arial"/>
              </a:rPr>
              <a:t>Khi 1 task đang thực thi thì các task khác KHÔNG THỰC THI; việc thực thi của 1 task có thể bị TẠM DỪNG và sau đó TIẾP TỤC LẠI.</a:t>
            </a:r>
          </a:p>
          <a:p>
            <a:pPr>
              <a:spcAft>
                <a:spcPts val="700"/>
              </a:spcAft>
            </a:pPr>
            <a:r>
              <a:rPr sz="1200" b="1">
                <a:solidFill>
                  <a:srgbClr val="E74C3C"/>
                </a:solidFill>
                <a:latin typeface="Arial"/>
              </a:rPr>
              <a:t>• Phạm vi ứng dụng rộng rãi: </a:t>
            </a:r>
            <a:r>
              <a:rPr sz="1200">
                <a:solidFill>
                  <a:srgbClr val="212F3D"/>
                </a:solidFill>
                <a:latin typeface="Arial"/>
              </a:rPr>
              <a:t>Áp dụng hiệu quả cả trong hệ thống đơn bộ xử lý (Uniprocessor systems) lẫn hệ thống đa bộ xử lý (Multiprocessor systems).</a:t>
            </a:r>
          </a:p>
        </p:txBody>
      </p:sp>
      <p:pic>
        <p:nvPicPr>
          <p:cNvPr id="8" name="Picture 7" descr="diag_orig_async_single_thread.png"/>
          <p:cNvPicPr>
            <a:picLocks noChangeAspect="1"/>
          </p:cNvPicPr>
          <p:nvPr/>
        </p:nvPicPr>
        <p:blipFill>
          <a:blip r:embed="rId2"/>
          <a:stretch>
            <a:fillRect/>
          </a:stretch>
        </p:blipFill>
        <p:spPr>
          <a:xfrm>
            <a:off x="359918" y="4127500"/>
            <a:ext cx="9334500" cy="24765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18</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Cơ chế Tạm dừng &amp; Tiếp tục lại</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Cơ chế sâu sắc: Tạm dừng (Suspend) và Tiếp tục lại (Resume)</a:t>
            </a:r>
          </a:p>
        </p:txBody>
      </p:sp>
      <p:sp>
        <p:nvSpPr>
          <p:cNvPr id="7" name="TextBox 6"/>
          <p:cNvSpPr txBox="1"/>
          <p:nvPr/>
        </p:nvSpPr>
        <p:spPr>
          <a:xfrm>
            <a:off x="359918" y="1905000"/>
            <a:ext cx="9334500" cy="2095500"/>
          </a:xfrm>
          <a:prstGeom prst="rect">
            <a:avLst/>
          </a:prstGeom>
          <a:noFill/>
        </p:spPr>
        <p:txBody>
          <a:bodyPr wrap="square" lIns="0" tIns="0">
            <a:spAutoFit/>
          </a:bodyPr>
          <a:lstStyle/>
          <a:p>
            <a:pPr>
              <a:spcAft>
                <a:spcPts val="700"/>
              </a:spcAft>
            </a:pPr>
            <a:r>
              <a:rPr sz="1200" b="1">
                <a:solidFill>
                  <a:srgbClr val="E74C3C"/>
                </a:solidFill>
                <a:latin typeface="Arial"/>
              </a:rPr>
              <a:t>• Điểm nhượng quyền chủ động (Yield Point): </a:t>
            </a:r>
            <a:r>
              <a:rPr sz="1200">
                <a:solidFill>
                  <a:srgbClr val="212F3D"/>
                </a:solidFill>
                <a:latin typeface="Arial"/>
              </a:rPr>
              <a:t>Khác với lập lịch cưỡng bức của hệ điều hành, trong mô hình này tác vụ CHỦ ĐỘNG TẠM DỪNG khi nó biết mình phải chờ đợi I/O.</a:t>
            </a:r>
          </a:p>
          <a:p>
            <a:pPr>
              <a:spcAft>
                <a:spcPts val="700"/>
              </a:spcAft>
            </a:pPr>
            <a:r>
              <a:rPr sz="1200" b="1">
                <a:solidFill>
                  <a:srgbClr val="E74C3C"/>
                </a:solidFill>
                <a:latin typeface="Arial"/>
              </a:rPr>
              <a:t>• Lưu trữ trạng thái Coroutine (Frame State): </a:t>
            </a:r>
            <a:r>
              <a:rPr sz="1200">
                <a:solidFill>
                  <a:srgbClr val="212F3D"/>
                </a:solidFill>
                <a:latin typeface="Arial"/>
              </a:rPr>
              <a:t>Khi tạm dừng, con trỏ lệnh và các biến cục bộ của hàm không bị xóa khỏi bộ nhớ, mà được đóng gói lưu trữ lại an toàn.</a:t>
            </a:r>
          </a:p>
          <a:p>
            <a:pPr>
              <a:spcAft>
                <a:spcPts val="700"/>
              </a:spcAft>
            </a:pPr>
            <a:r>
              <a:rPr sz="1200" b="1">
                <a:solidFill>
                  <a:srgbClr val="E74C3C"/>
                </a:solidFill>
                <a:latin typeface="Arial"/>
              </a:rPr>
              <a:t>• Sự tiếp tục lại thông minh (Resume): </a:t>
            </a:r>
            <a:r>
              <a:rPr sz="1200">
                <a:solidFill>
                  <a:srgbClr val="212F3D"/>
                </a:solidFill>
                <a:latin typeface="Arial"/>
              </a:rPr>
              <a:t>Khi tài nguyên I/O sẵn sàng, tác vụ được đánh thức và tiếp tục chạy ngay tại vị trí vừa tạm dừng như thể chưa từng bị gián đoạn.</a:t>
            </a:r>
          </a:p>
          <a:p>
            <a:pPr>
              <a:spcAft>
                <a:spcPts val="700"/>
              </a:spcAft>
            </a:pPr>
            <a:r>
              <a:rPr sz="1200" b="1">
                <a:solidFill>
                  <a:srgbClr val="E74C3C"/>
                </a:solidFill>
                <a:latin typeface="Arial"/>
              </a:rPr>
              <a:t>• Không tốn tài nguyên chuyển ngữ cảnh nặng: </a:t>
            </a:r>
            <a:r>
              <a:rPr sz="1200">
                <a:solidFill>
                  <a:srgbClr val="212F3D"/>
                </a:solidFill>
                <a:latin typeface="Arial"/>
              </a:rPr>
              <a:t>Việc tạm dừng và tiếp tục diễn ra hoàn toàn ở tầng ứng dụng (User Space), không cần gọi xuống nhân hệ điều hành (Kernel Space).</a:t>
            </a:r>
          </a:p>
        </p:txBody>
      </p:sp>
      <p:sp>
        <p:nvSpPr>
          <p:cNvPr id="8" name="Rounded Rectangle 7"/>
          <p:cNvSpPr/>
          <p:nvPr/>
        </p:nvSpPr>
        <p:spPr>
          <a:xfrm>
            <a:off x="359918" y="4254500"/>
            <a:ext cx="9334500" cy="2286000"/>
          </a:xfrm>
          <a:prstGeom prst="roundRect">
            <a:avLst/>
          </a:prstGeom>
          <a:solidFill>
            <a:srgbClr val="F8F9FA"/>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lIns="203200" tIns="152400" rIns="203200"/>
          <a:lstStyle/>
          <a:p>
            <a:pPr algn="ctr">
              <a:defRPr sz="1250" b="1">
                <a:solidFill>
                  <a:srgbClr val="E74C3C"/>
                </a:solidFill>
                <a:latin typeface="Arial"/>
              </a:defRPr>
            </a:pPr>
            <a:r>
              <a:t>SO SÁNH CƠ CHẾ DỪNG GIỮA HỆ ĐIỀU HÀNH VÀ ASYNC:</a:t>
            </a:r>
          </a:p>
          <a:p>
            <a:pPr>
              <a:spcBef>
                <a:spcPts val="500"/>
              </a:spcBef>
            </a:pPr>
            <a:r>
              <a:rPr b="1" sz="1050">
                <a:solidFill>
                  <a:srgbClr val="2C3E50"/>
                </a:solidFill>
              </a:rPr>
              <a:t>• Preemptive Scheduling (HĐH): </a:t>
            </a:r>
            <a:r>
              <a:rPr sz="1050">
                <a:solidFill>
                  <a:srgbClr val="212F3D"/>
                </a:solidFill>
              </a:rPr>
              <a:t>HĐH tự động ngắt ép buộc tiến trình bất kỳ lúc nào ➔ Tốn chi phí lưu trữ phần cứng lớn.</a:t>
            </a:r>
          </a:p>
          <a:p>
            <a:pPr>
              <a:spcBef>
                <a:spcPts val="500"/>
              </a:spcBef>
            </a:pPr>
            <a:r>
              <a:rPr b="1" sz="1050">
                <a:solidFill>
                  <a:srgbClr val="2C3E50"/>
                </a:solidFill>
              </a:rPr>
              <a:t>• Cooperative Scheduling (Async): </a:t>
            </a:r>
            <a:r>
              <a:rPr sz="1050">
                <a:solidFill>
                  <a:srgbClr val="212F3D"/>
                </a:solidFill>
              </a:rPr>
              <a:t>Tác vụ tự giác nhường CPU tại các lệnh chờ (như 'await') ➔ Cực kỳ nhẹ, có thể chạy hàng triệu tác vụ!</a:t>
            </a:r>
          </a:p>
          <a:p>
            <a:pPr>
              <a:spcBef>
                <a:spcPts val="500"/>
              </a:spcBef>
            </a:pPr>
            <a:r>
              <a:rPr b="1" sz="1050">
                <a:solidFill>
                  <a:srgbClr val="2C3E50"/>
                </a:solidFill>
              </a:rPr>
              <a:t>• Ý nghĩa: </a:t>
            </a:r>
            <a:r>
              <a:rPr sz="1050">
                <a:solidFill>
                  <a:srgbClr val="212F3D"/>
                </a:solidFill>
              </a:rPr>
              <a:t>Cho phép 1 luồng duy nhất phục vụ hàng trăm nghìn kết nối mạng đồng thời mà không bị tràn bộ nhớ.</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19</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Khả năng Ứng dụng trên Mọi Hệ thống Phần cứng</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Tính linh hoạt: Hiệu quả trên cả Uniprocessor và Multiprocessor</a:t>
            </a:r>
          </a:p>
        </p:txBody>
      </p:sp>
      <p:sp>
        <p:nvSpPr>
          <p:cNvPr id="7" name="TextBox 6"/>
          <p:cNvSpPr txBox="1"/>
          <p:nvPr/>
        </p:nvSpPr>
        <p:spPr>
          <a:xfrm>
            <a:off x="359918" y="1905000"/>
            <a:ext cx="9334500" cy="2095500"/>
          </a:xfrm>
          <a:prstGeom prst="rect">
            <a:avLst/>
          </a:prstGeom>
          <a:noFill/>
        </p:spPr>
        <p:txBody>
          <a:bodyPr wrap="square" lIns="0" tIns="0">
            <a:spAutoFit/>
          </a:bodyPr>
          <a:lstStyle/>
          <a:p>
            <a:pPr>
              <a:spcAft>
                <a:spcPts val="700"/>
              </a:spcAft>
            </a:pPr>
            <a:r>
              <a:rPr sz="1200" b="1">
                <a:solidFill>
                  <a:srgbClr val="E74C3C"/>
                </a:solidFill>
                <a:latin typeface="Arial"/>
              </a:rPr>
              <a:t>• Trên hệ thống Đơn bộ xử lý (Uniprocessor - 1 CPU): </a:t>
            </a:r>
            <a:r>
              <a:rPr sz="1200">
                <a:solidFill>
                  <a:srgbClr val="212F3D"/>
                </a:solidFill>
                <a:latin typeface="Arial"/>
              </a:rPr>
              <a:t>Mô hình bất đồng bộ luồng đơn phát huy hiệu quả tối đa: Tận dụng thời gian rảnh của 1 CPU duy nhất để không bị chết nghẽn bởi các tác vụ I/O chậm chạp.</a:t>
            </a:r>
          </a:p>
          <a:p>
            <a:pPr>
              <a:spcAft>
                <a:spcPts val="700"/>
              </a:spcAft>
            </a:pPr>
            <a:r>
              <a:rPr sz="1200" b="1">
                <a:solidFill>
                  <a:srgbClr val="E74C3C"/>
                </a:solidFill>
                <a:latin typeface="Arial"/>
              </a:rPr>
              <a:t>• Trên hệ thống Đa bộ xử lý (Multiprocessor - Nhiều CPU): </a:t>
            </a:r>
            <a:r>
              <a:rPr sz="1200">
                <a:solidFill>
                  <a:srgbClr val="212F3D"/>
                </a:solidFill>
                <a:latin typeface="Arial"/>
              </a:rPr>
              <a:t>Mô hình vẫn hoạt động hoàn hảo: Mỗi nhân CPU có thể chạy một tiến trình chứa một luồng điều khiển bất đồng bộ riêng biệt.</a:t>
            </a:r>
          </a:p>
          <a:p>
            <a:pPr>
              <a:spcAft>
                <a:spcPts val="700"/>
              </a:spcAft>
            </a:pPr>
            <a:r>
              <a:rPr sz="1200" b="1">
                <a:solidFill>
                  <a:srgbClr val="E74C3C"/>
                </a:solidFill>
                <a:latin typeface="Arial"/>
              </a:rPr>
              <a:t>• Tính độc lập phần cứng: </a:t>
            </a:r>
            <a:r>
              <a:rPr sz="1200">
                <a:solidFill>
                  <a:srgbClr val="212F3D"/>
                </a:solidFill>
                <a:latin typeface="Arial"/>
              </a:rPr>
              <a:t>Mô hình bất đồng bộ không phụ thuộc vào việc máy tính có bao nhiêu nhân vật lý để có thể đem lại lợi ích hiệu năng.</a:t>
            </a:r>
          </a:p>
          <a:p>
            <a:pPr>
              <a:spcAft>
                <a:spcPts val="700"/>
              </a:spcAft>
            </a:pPr>
            <a:r>
              <a:rPr sz="1200" b="1">
                <a:solidFill>
                  <a:srgbClr val="E74C3C"/>
                </a:solidFill>
                <a:latin typeface="Arial"/>
              </a:rPr>
              <a:t>• Tiết kiệm chi phí phần cứng: </a:t>
            </a:r>
            <a:r>
              <a:rPr sz="1200">
                <a:solidFill>
                  <a:srgbClr val="212F3D"/>
                </a:solidFill>
                <a:latin typeface="Arial"/>
              </a:rPr>
              <a:t>Các máy chủ chỉ cần 1 lõi hoặc 2 lõi vẫn có thể chịu tải hàng chục nghìn kết nối mạng khi áp dụng mô hình bất đồng bộ.</a:t>
            </a:r>
          </a:p>
        </p:txBody>
      </p:sp>
      <p:sp>
        <p:nvSpPr>
          <p:cNvPr id="8" name="Rounded Rectangle 7"/>
          <p:cNvSpPr/>
          <p:nvPr/>
        </p:nvSpPr>
        <p:spPr>
          <a:xfrm>
            <a:off x="359918" y="4254500"/>
            <a:ext cx="9334500" cy="2286000"/>
          </a:xfrm>
          <a:prstGeom prst="roundRect">
            <a:avLst/>
          </a:prstGeom>
          <a:solidFill>
            <a:srgbClr val="F8F9FA"/>
          </a:solidFill>
          <a:ln w="1905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lIns="203200" tIns="152400" rIns="203200"/>
          <a:lstStyle/>
          <a:p>
            <a:pPr algn="ctr">
              <a:defRPr sz="1250" b="1">
                <a:solidFill>
                  <a:srgbClr val="2980B9"/>
                </a:solidFill>
                <a:latin typeface="Arial"/>
              </a:defRPr>
            </a:pPr>
            <a:r>
              <a:t>KHẲNG ĐỊNH CỦA BÀI GIẢNG GỐC TẠI TRANG 8:</a:t>
            </a:r>
          </a:p>
          <a:p>
            <a:pPr>
              <a:spcBef>
                <a:spcPts val="500"/>
              </a:spcBef>
            </a:pPr>
            <a:r>
              <a:rPr b="1" sz="1050">
                <a:solidFill>
                  <a:srgbClr val="2C3E50"/>
                </a:solidFill>
              </a:rPr>
              <a:t>• Đơn bộ xử lý (Uniprocessor): </a:t>
            </a:r>
            <a:r>
              <a:rPr sz="1050">
                <a:solidFill>
                  <a:srgbClr val="212F3D"/>
                </a:solidFill>
              </a:rPr>
              <a:t>Vẫn đạt hiệu năng vượt trội nhờ tối ưu hóa chu kỳ nhàn rỗi của vi xử lý.</a:t>
            </a:r>
          </a:p>
          <a:p>
            <a:pPr>
              <a:spcBef>
                <a:spcPts val="500"/>
              </a:spcBef>
            </a:pPr>
            <a:r>
              <a:rPr b="1" sz="1050">
                <a:solidFill>
                  <a:srgbClr val="2C3E50"/>
                </a:solidFill>
              </a:rPr>
              <a:t>• Đa bộ xử lý (Multiprocessor): </a:t>
            </a:r>
            <a:r>
              <a:rPr sz="1050">
                <a:solidFill>
                  <a:srgbClr val="212F3D"/>
                </a:solidFill>
              </a:rPr>
              <a:t>Có thể kết hợp nhiều luồng bất đồng bộ trên các nhân khác nhau để tăng tốc gấp bội.</a:t>
            </a:r>
          </a:p>
          <a:p>
            <a:pPr>
              <a:spcBef>
                <a:spcPts val="500"/>
              </a:spcBef>
            </a:pPr>
            <a:r>
              <a:rPr b="1" sz="1050">
                <a:solidFill>
                  <a:srgbClr val="2C3E50"/>
                </a:solidFill>
              </a:rPr>
              <a:t>• Kết luận: </a:t>
            </a:r>
            <a:r>
              <a:rPr sz="1050">
                <a:solidFill>
                  <a:srgbClr val="212F3D"/>
                </a:solidFill>
              </a:rPr>
              <a:t>Bất đồng bộ là giải pháp kiến trúc phần mềm tối ưu độc lập với cấu hình phần cứng bên dưới!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ĐỐI CHIẾU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20</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Phân biệt Bất đồng bộ Luồng đơn vs Đa luồng</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Phân biệt then chốt: Async Single-thread vs Multi-threading</a:t>
            </a:r>
          </a:p>
        </p:txBody>
      </p:sp>
      <p:graphicFrame>
        <p:nvGraphicFramePr>
          <p:cNvPr id="7" name="Table 6"/>
          <p:cNvGraphicFramePr>
            <a:graphicFrameLocks noGrp="1"/>
          </p:cNvGraphicFramePr>
          <p:nvPr/>
        </p:nvGraphicFramePr>
        <p:xfrm>
          <a:off x="359918" y="2095500"/>
          <a:ext cx="9334500" cy="4445000"/>
        </p:xfrm>
        <a:graphic>
          <a:graphicData uri="http://schemas.openxmlformats.org/drawingml/2006/table">
            <a:tbl>
              <a:tblPr firstRow="1" bandRow="1">
                <a:tableStyleId>{5C22544A-7EE6-4342-B048-85BDC9FD1C3A}</a:tableStyleId>
              </a:tblPr>
              <a:tblGrid>
                <a:gridCol w="1968500"/>
                <a:gridCol w="3683000"/>
                <a:gridCol w="3683000"/>
              </a:tblGrid>
              <a:tr h="635000">
                <a:tc>
                  <a:txBody>
                    <a:bodyPr/>
                    <a:lstStyle/>
                    <a:p>
                      <a:pPr algn="ctr">
                        <a:defRPr sz="1100" b="1">
                          <a:solidFill>
                            <a:srgbClr val="FFFFFF"/>
                          </a:solidFill>
                          <a:latin typeface="Arial"/>
                        </a:defRPr>
                      </a:pPr>
                      <a:r>
                        <a:t>Đặc tính kỹ thuật</a:t>
                      </a:r>
                    </a:p>
                  </a:txBody>
                  <a:tcPr anchor="ctr">
                    <a:solidFill>
                      <a:srgbClr val="E74C3C"/>
                    </a:solidFill>
                  </a:tcPr>
                </a:tc>
                <a:tc>
                  <a:txBody>
                    <a:bodyPr/>
                    <a:lstStyle/>
                    <a:p>
                      <a:pPr algn="ctr">
                        <a:defRPr sz="1100" b="1">
                          <a:solidFill>
                            <a:srgbClr val="FFFFFF"/>
                          </a:solidFill>
                          <a:latin typeface="Arial"/>
                        </a:defRPr>
                      </a:pPr>
                      <a:r>
                        <a:t>Async Single-thread (Luồng đơn Bất đồng bộ)</a:t>
                      </a:r>
                    </a:p>
                  </a:txBody>
                  <a:tcPr anchor="ctr">
                    <a:solidFill>
                      <a:srgbClr val="E74C3C"/>
                    </a:solidFill>
                  </a:tcPr>
                </a:tc>
                <a:tc>
                  <a:txBody>
                    <a:bodyPr/>
                    <a:lstStyle/>
                    <a:p>
                      <a:pPr algn="ctr">
                        <a:defRPr sz="1100" b="1">
                          <a:solidFill>
                            <a:srgbClr val="FFFFFF"/>
                          </a:solidFill>
                          <a:latin typeface="Arial"/>
                        </a:defRPr>
                      </a:pPr>
                      <a:r>
                        <a:t>Multi-threading (Đa luồng truyền thống)</a:t>
                      </a:r>
                    </a:p>
                  </a:txBody>
                  <a:tcPr anchor="ctr">
                    <a:solidFill>
                      <a:srgbClr val="E74C3C"/>
                    </a:solidFill>
                  </a:tcPr>
                </a:tc>
              </a:tr>
              <a:tr h="635000">
                <a:tc>
                  <a:txBody>
                    <a:bodyPr/>
                    <a:lstStyle/>
                    <a:p>
                      <a:pPr>
                        <a:defRPr sz="1050">
                          <a:solidFill>
                            <a:srgbClr val="212F3D"/>
                          </a:solidFill>
                          <a:latin typeface="Arial"/>
                        </a:defRPr>
                      </a:pPr>
                      <a:r>
                        <a:t>Số luồng điều khiển</a:t>
                      </a:r>
                    </a:p>
                  </a:txBody>
                  <a:tcPr anchor="ctr">
                    <a:solidFill>
                      <a:srgbClr val="FFFFFF"/>
                    </a:solidFill>
                  </a:tcPr>
                </a:tc>
                <a:tc>
                  <a:txBody>
                    <a:bodyPr/>
                    <a:lstStyle/>
                    <a:p>
                      <a:pPr>
                        <a:defRPr sz="1050">
                          <a:solidFill>
                            <a:srgbClr val="212F3D"/>
                          </a:solidFill>
                          <a:latin typeface="Arial"/>
                        </a:defRPr>
                      </a:pPr>
                      <a:r>
                        <a:t>Duy nhất 1 luồng hệ điều hành (1 OS Thread)</a:t>
                      </a:r>
                    </a:p>
                  </a:txBody>
                  <a:tcPr anchor="ctr">
                    <a:solidFill>
                      <a:srgbClr val="FFFFFF"/>
                    </a:solidFill>
                  </a:tcPr>
                </a:tc>
                <a:tc>
                  <a:txBody>
                    <a:bodyPr/>
                    <a:lstStyle/>
                    <a:p>
                      <a:pPr>
                        <a:defRPr sz="1050">
                          <a:solidFill>
                            <a:srgbClr val="212F3D"/>
                          </a:solidFill>
                          <a:latin typeface="Arial"/>
                        </a:defRPr>
                      </a:pPr>
                      <a:r>
                        <a:t>Nhiều luồng chạy đồng thời (N OS Threads)</a:t>
                      </a:r>
                    </a:p>
                  </a:txBody>
                  <a:tcPr anchor="ctr">
                    <a:solidFill>
                      <a:srgbClr val="FFFFFF"/>
                    </a:solidFill>
                  </a:tcPr>
                </a:tc>
              </a:tr>
              <a:tr h="635000">
                <a:tc>
                  <a:txBody>
                    <a:bodyPr/>
                    <a:lstStyle/>
                    <a:p>
                      <a:pPr>
                        <a:defRPr sz="1050">
                          <a:solidFill>
                            <a:srgbClr val="212F3D"/>
                          </a:solidFill>
                          <a:latin typeface="Arial"/>
                        </a:defRPr>
                      </a:pPr>
                      <a:r>
                        <a:t>Tiêu tốn bộ nhớ RAM</a:t>
                      </a:r>
                    </a:p>
                  </a:txBody>
                  <a:tcPr anchor="ctr">
                    <a:solidFill>
                      <a:srgbClr val="F8F9FA"/>
                    </a:solidFill>
                  </a:tcPr>
                </a:tc>
                <a:tc>
                  <a:txBody>
                    <a:bodyPr/>
                    <a:lstStyle/>
                    <a:p>
                      <a:pPr>
                        <a:defRPr sz="1050">
                          <a:solidFill>
                            <a:srgbClr val="212F3D"/>
                          </a:solidFill>
                          <a:latin typeface="Arial"/>
                        </a:defRPr>
                      </a:pPr>
                      <a:r>
                        <a:t>Cực thấp (khoảng vài KB cho mỗi tác vụ)</a:t>
                      </a:r>
                    </a:p>
                  </a:txBody>
                  <a:tcPr anchor="ctr">
                    <a:solidFill>
                      <a:srgbClr val="F8F9FA"/>
                    </a:solidFill>
                  </a:tcPr>
                </a:tc>
                <a:tc>
                  <a:txBody>
                    <a:bodyPr/>
                    <a:lstStyle/>
                    <a:p>
                      <a:pPr>
                        <a:defRPr sz="1050">
                          <a:solidFill>
                            <a:srgbClr val="212F3D"/>
                          </a:solidFill>
                          <a:latin typeface="Arial"/>
                        </a:defRPr>
                      </a:pPr>
                      <a:r>
                        <a:t>Cao (mỗi luồng tốn từ 1MB đến 8MB Stack memory)</a:t>
                      </a:r>
                    </a:p>
                  </a:txBody>
                  <a:tcPr anchor="ctr">
                    <a:solidFill>
                      <a:srgbClr val="F8F9FA"/>
                    </a:solidFill>
                  </a:tcPr>
                </a:tc>
              </a:tr>
              <a:tr h="635000">
                <a:tc>
                  <a:txBody>
                    <a:bodyPr/>
                    <a:lstStyle/>
                    <a:p>
                      <a:pPr>
                        <a:defRPr sz="1050">
                          <a:solidFill>
                            <a:srgbClr val="212F3D"/>
                          </a:solidFill>
                          <a:latin typeface="Arial"/>
                        </a:defRPr>
                      </a:pPr>
                      <a:r>
                        <a:t>Hiện tượng Race Condition</a:t>
                      </a:r>
                    </a:p>
                  </a:txBody>
                  <a:tcPr anchor="ctr">
                    <a:solidFill>
                      <a:srgbClr val="FFFFFF"/>
                    </a:solidFill>
                  </a:tcPr>
                </a:tc>
                <a:tc>
                  <a:txBody>
                    <a:bodyPr/>
                    <a:lstStyle/>
                    <a:p>
                      <a:pPr>
                        <a:defRPr sz="1050">
                          <a:solidFill>
                            <a:srgbClr val="212F3D"/>
                          </a:solidFill>
                          <a:latin typeface="Arial"/>
                        </a:defRPr>
                      </a:pPr>
                      <a:r>
                        <a:t>Không bao giờ xảy ra giữa các coroutines</a:t>
                      </a:r>
                    </a:p>
                  </a:txBody>
                  <a:tcPr anchor="ctr">
                    <a:solidFill>
                      <a:srgbClr val="FFFFFF"/>
                    </a:solidFill>
                  </a:tcPr>
                </a:tc>
                <a:tc>
                  <a:txBody>
                    <a:bodyPr/>
                    <a:lstStyle/>
                    <a:p>
                      <a:pPr>
                        <a:defRPr sz="1050">
                          <a:solidFill>
                            <a:srgbClr val="212F3D"/>
                          </a:solidFill>
                          <a:latin typeface="Arial"/>
                        </a:defRPr>
                      </a:pPr>
                      <a:r>
                        <a:t>Rất dễ xảy ra nếu không dùng Lock / Mutex cẩn thận</a:t>
                      </a:r>
                    </a:p>
                  </a:txBody>
                  <a:tcPr anchor="ctr">
                    <a:solidFill>
                      <a:srgbClr val="FFFFFF"/>
                    </a:solidFill>
                  </a:tcPr>
                </a:tc>
              </a:tr>
              <a:tr h="635000">
                <a:tc>
                  <a:txBody>
                    <a:bodyPr/>
                    <a:lstStyle/>
                    <a:p>
                      <a:pPr>
                        <a:defRPr sz="1050">
                          <a:solidFill>
                            <a:srgbClr val="212F3D"/>
                          </a:solidFill>
                          <a:latin typeface="Arial"/>
                        </a:defRPr>
                      </a:pPr>
                      <a:r>
                        <a:t>Hiện tượng Deadlock</a:t>
                      </a:r>
                    </a:p>
                  </a:txBody>
                  <a:tcPr anchor="ctr">
                    <a:solidFill>
                      <a:srgbClr val="F8F9FA"/>
                    </a:solidFill>
                  </a:tcPr>
                </a:tc>
                <a:tc>
                  <a:txBody>
                    <a:bodyPr/>
                    <a:lstStyle/>
                    <a:p>
                      <a:pPr>
                        <a:defRPr sz="1050">
                          <a:solidFill>
                            <a:srgbClr val="212F3D"/>
                          </a:solidFill>
                          <a:latin typeface="Arial"/>
                        </a:defRPr>
                      </a:pPr>
                      <a:r>
                        <a:t>Hầu như không bị khóa chết luồng</a:t>
                      </a:r>
                    </a:p>
                  </a:txBody>
                  <a:tcPr anchor="ctr">
                    <a:solidFill>
                      <a:srgbClr val="F8F9FA"/>
                    </a:solidFill>
                  </a:tcPr>
                </a:tc>
                <a:tc>
                  <a:txBody>
                    <a:bodyPr/>
                    <a:lstStyle/>
                    <a:p>
                      <a:pPr>
                        <a:defRPr sz="1050">
                          <a:solidFill>
                            <a:srgbClr val="212F3D"/>
                          </a:solidFill>
                          <a:latin typeface="Arial"/>
                        </a:defRPr>
                      </a:pPr>
                      <a:r>
                        <a:t>Nguy cơ Deadlock rất cao khi khóa chéo tài nguyên</a:t>
                      </a:r>
                    </a:p>
                  </a:txBody>
                  <a:tcPr anchor="ctr">
                    <a:solidFill>
                      <a:srgbClr val="F8F9FA"/>
                    </a:solidFill>
                  </a:tcPr>
                </a:tc>
              </a:tr>
              <a:tr h="635000">
                <a:tc>
                  <a:txBody>
                    <a:bodyPr/>
                    <a:lstStyle/>
                    <a:p>
                      <a:pPr>
                        <a:defRPr sz="1050">
                          <a:solidFill>
                            <a:srgbClr val="212F3D"/>
                          </a:solidFill>
                          <a:latin typeface="Arial"/>
                        </a:defRPr>
                      </a:pPr>
                      <a:r>
                        <a:t>Chi phí chuyển đổi</a:t>
                      </a:r>
                    </a:p>
                  </a:txBody>
                  <a:tcPr anchor="ctr">
                    <a:solidFill>
                      <a:srgbClr val="FFFFFF"/>
                    </a:solidFill>
                  </a:tcPr>
                </a:tc>
                <a:tc>
                  <a:txBody>
                    <a:bodyPr/>
                    <a:lstStyle/>
                    <a:p>
                      <a:pPr>
                        <a:defRPr sz="1050">
                          <a:solidFill>
                            <a:srgbClr val="212F3D"/>
                          </a:solidFill>
                          <a:latin typeface="Arial"/>
                        </a:defRPr>
                      </a:pPr>
                      <a:r>
                        <a:t>Cực nhẹ (User-space context switch)</a:t>
                      </a:r>
                    </a:p>
                  </a:txBody>
                  <a:tcPr anchor="ctr">
                    <a:solidFill>
                      <a:srgbClr val="FFFFFF"/>
                    </a:solidFill>
                  </a:tcPr>
                </a:tc>
                <a:tc>
                  <a:txBody>
                    <a:bodyPr/>
                    <a:lstStyle/>
                    <a:p>
                      <a:pPr>
                        <a:defRPr sz="1050">
                          <a:solidFill>
                            <a:srgbClr val="212F3D"/>
                          </a:solidFill>
                          <a:latin typeface="Arial"/>
                        </a:defRPr>
                      </a:pPr>
                      <a:r>
                        <a:t>Nặng (Kernel-space thread context switch)</a:t>
                      </a:r>
                    </a:p>
                  </a:txBody>
                  <a:tcPr anchor="ctr">
                    <a:solidFill>
                      <a:srgbClr val="FFFFFF"/>
                    </a:solidFill>
                  </a:tcPr>
                </a:tc>
              </a:tr>
              <a:tr h="635000">
                <a:tc>
                  <a:txBody>
                    <a:bodyPr/>
                    <a:lstStyle/>
                    <a:p>
                      <a:pPr>
                        <a:defRPr sz="1050">
                          <a:solidFill>
                            <a:srgbClr val="212F3D"/>
                          </a:solidFill>
                          <a:latin typeface="Arial"/>
                        </a:defRPr>
                      </a:pPr>
                      <a:r>
                        <a:t>Khả năng mở rộng</a:t>
                      </a:r>
                    </a:p>
                  </a:txBody>
                  <a:tcPr anchor="ctr">
                    <a:solidFill>
                      <a:srgbClr val="F8F9FA"/>
                    </a:solidFill>
                  </a:tcPr>
                </a:tc>
                <a:tc>
                  <a:txBody>
                    <a:bodyPr/>
                    <a:lstStyle/>
                    <a:p>
                      <a:pPr>
                        <a:defRPr sz="1050">
                          <a:solidFill>
                            <a:srgbClr val="212F3D"/>
                          </a:solidFill>
                          <a:latin typeface="Arial"/>
                        </a:defRPr>
                      </a:pPr>
                      <a:r>
                        <a:t>Có thể xử lý 100,000+ kết nối đồng thời</a:t>
                      </a:r>
                    </a:p>
                  </a:txBody>
                  <a:tcPr anchor="ctr">
                    <a:solidFill>
                      <a:srgbClr val="F8F9FA"/>
                    </a:solidFill>
                  </a:tcPr>
                </a:tc>
                <a:tc>
                  <a:txBody>
                    <a:bodyPr/>
                    <a:lstStyle/>
                    <a:p>
                      <a:pPr>
                        <a:defRPr sz="1050">
                          <a:solidFill>
                            <a:srgbClr val="212F3D"/>
                          </a:solidFill>
                          <a:latin typeface="Arial"/>
                        </a:defRPr>
                      </a:pPr>
                      <a:r>
                        <a:t>Thường bị giới hạn ở vài nghìn luồng là quá tải</a:t>
                      </a:r>
                    </a:p>
                  </a:txBody>
                  <a:tcPr anchor="ctr">
                    <a:solidFill>
                      <a:srgbClr val="F8F9FA"/>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MINH HỌA PYTHON</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21</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Minh họa Dòng điều khiển Đồng bộ vs Bất đồng bộ</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Minh họa mã nguồn Python: Sự khác biệt về luồng điều khiển</a:t>
            </a:r>
          </a:p>
        </p:txBody>
      </p:sp>
      <p:sp>
        <p:nvSpPr>
          <p:cNvPr id="7" name="TextBox 6"/>
          <p:cNvSpPr txBox="1"/>
          <p:nvPr/>
        </p:nvSpPr>
        <p:spPr>
          <a:xfrm>
            <a:off x="359918" y="1905000"/>
            <a:ext cx="9334500" cy="1524000"/>
          </a:xfrm>
          <a:prstGeom prst="rect">
            <a:avLst/>
          </a:prstGeom>
          <a:noFill/>
        </p:spPr>
        <p:txBody>
          <a:bodyPr wrap="square" lIns="0" tIns="0">
            <a:spAutoFit/>
          </a:bodyPr>
          <a:lstStyle/>
          <a:p>
            <a:pPr>
              <a:spcAft>
                <a:spcPts val="700"/>
              </a:spcAft>
            </a:pPr>
            <a:r>
              <a:rPr sz="1150" b="1">
                <a:solidFill>
                  <a:srgbClr val="E74C3C"/>
                </a:solidFill>
                <a:latin typeface="Arial"/>
              </a:rPr>
              <a:t>• Mã đồng bộ tuần tự (Synchronous): </a:t>
            </a:r>
            <a:r>
              <a:rPr sz="1150">
                <a:solidFill>
                  <a:srgbClr val="212F3D"/>
                </a:solidFill>
                <a:latin typeface="Arial"/>
              </a:rPr>
              <a:t>Sử dụng hàm `time.sleep()`. Khi gặp lệnh này, toàn bộ tiến trình bị đóng băng (blocking), không làm được việc gì khác.</a:t>
            </a:r>
          </a:p>
          <a:p>
            <a:pPr>
              <a:spcAft>
                <a:spcPts val="700"/>
              </a:spcAft>
            </a:pPr>
            <a:r>
              <a:rPr sz="1150" b="1">
                <a:solidFill>
                  <a:srgbClr val="E74C3C"/>
                </a:solidFill>
                <a:latin typeface="Arial"/>
              </a:rPr>
              <a:t>• Mã bất đồng bộ (Asynchronous): </a:t>
            </a:r>
            <a:r>
              <a:rPr sz="1150">
                <a:solidFill>
                  <a:srgbClr val="212F3D"/>
                </a:solidFill>
                <a:latin typeface="Arial"/>
              </a:rPr>
              <a:t>Sử dụng từ khóa `async def` và `await asyncio.sleep()`. Lệnh `await` chủ động nhường quyền cho Event Loop để chạy tác vụ khác.</a:t>
            </a:r>
          </a:p>
          <a:p>
            <a:pPr>
              <a:spcAft>
                <a:spcPts val="700"/>
              </a:spcAft>
            </a:pPr>
            <a:r>
              <a:rPr sz="1150" b="1">
                <a:solidFill>
                  <a:srgbClr val="E74C3C"/>
                </a:solidFill>
                <a:latin typeface="Arial"/>
              </a:rPr>
              <a:t>• Quan sát thời gian thực tế: </a:t>
            </a:r>
            <a:r>
              <a:rPr sz="1150">
                <a:solidFill>
                  <a:srgbClr val="212F3D"/>
                </a:solidFill>
                <a:latin typeface="Arial"/>
              </a:rPr>
              <a:t>Đo thời gian hoàn thành 3 tác vụ (mỗi tác vụ chờ 1 giây): Mã đồng bộ mất 3 giây; mã bất đồng bộ chỉ mất 1 giây duy nhất!</a:t>
            </a:r>
          </a:p>
        </p:txBody>
      </p:sp>
      <p:sp>
        <p:nvSpPr>
          <p:cNvPr id="8" name="Rounded Rectangle 7"/>
          <p:cNvSpPr/>
          <p:nvPr/>
        </p:nvSpPr>
        <p:spPr>
          <a:xfrm>
            <a:off x="359918" y="3556000"/>
            <a:ext cx="4572000" cy="2921000"/>
          </a:xfrm>
          <a:prstGeom prst="roundRect">
            <a:avLst/>
          </a:prstGeom>
          <a:solidFill>
            <a:srgbClr val="F8F9FA"/>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lIns="203200" tIns="152400" rIns="203200"/>
          <a:lstStyle/>
          <a:p>
            <a:pPr algn="ctr">
              <a:defRPr sz="1250" b="1">
                <a:solidFill>
                  <a:srgbClr val="E74C3C"/>
                </a:solidFill>
                <a:latin typeface="Arial"/>
              </a:defRPr>
            </a:pPr>
            <a:r>
              <a:t>CODE 1: ĐỒNG BỘ TUẦN TỰ (MẤT 3 GIÂY)</a:t>
            </a:r>
          </a:p>
          <a:p>
            <a:pPr>
              <a:spcBef>
                <a:spcPts val="500"/>
              </a:spcBef>
            </a:pPr>
            <a:r>
              <a:rPr b="1" sz="1050">
                <a:solidFill>
                  <a:srgbClr val="2C3E50"/>
                </a:solidFill>
              </a:rPr>
              <a:t>• Cú pháp: </a:t>
            </a:r>
            <a:r>
              <a:rPr sz="1050">
                <a:solidFill>
                  <a:srgbClr val="212F3D"/>
                </a:solidFill>
              </a:rPr>
              <a:t>import time</a:t>
            </a:r>
          </a:p>
          <a:p>
            <a:pPr>
              <a:spcBef>
                <a:spcPts val="500"/>
              </a:spcBef>
            </a:pPr>
            <a:r>
              <a:rPr b="1" sz="1050">
                <a:solidFill>
                  <a:srgbClr val="2C3E50"/>
                </a:solidFill>
              </a:rPr>
              <a:t>• Thực thi: </a:t>
            </a:r>
            <a:r>
              <a:rPr sz="1050">
                <a:solidFill>
                  <a:srgbClr val="212F3D"/>
                </a:solidFill>
              </a:rPr>
              <a:t>def fetch(i): time.sleep(1) # Bị chặn luồng hoàn toàn</a:t>
            </a:r>
          </a:p>
          <a:p>
            <a:pPr>
              <a:spcBef>
                <a:spcPts val="500"/>
              </a:spcBef>
            </a:pPr>
            <a:r>
              <a:rPr b="1" sz="1050">
                <a:solidFill>
                  <a:srgbClr val="2C3E50"/>
                </a:solidFill>
              </a:rPr>
              <a:t>• Kết quả: </a:t>
            </a:r>
            <a:r>
              <a:rPr sz="1050">
                <a:solidFill>
                  <a:srgbClr val="212F3D"/>
                </a:solidFill>
              </a:rPr>
              <a:t>fetch(1); fetch(2); fetch(3) ➔ Tổng thời gian = 3.0s</a:t>
            </a:r>
          </a:p>
        </p:txBody>
      </p:sp>
      <p:sp>
        <p:nvSpPr>
          <p:cNvPr id="9" name="Rounded Rectangle 8"/>
          <p:cNvSpPr/>
          <p:nvPr/>
        </p:nvSpPr>
        <p:spPr>
          <a:xfrm>
            <a:off x="5080000" y="3556000"/>
            <a:ext cx="4610100" cy="29210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lIns="203200" tIns="152400" rIns="203200"/>
          <a:lstStyle/>
          <a:p>
            <a:pPr algn="ctr">
              <a:defRPr sz="1250" b="1">
                <a:solidFill>
                  <a:srgbClr val="27AE60"/>
                </a:solidFill>
                <a:latin typeface="Arial"/>
              </a:defRPr>
            </a:pPr>
            <a:r>
              <a:t>CODE 2: BẤT ĐỒNG BỘ LUỒNG ĐƠN (MẤT 1 GIÂY)</a:t>
            </a:r>
          </a:p>
          <a:p>
            <a:pPr>
              <a:spcBef>
                <a:spcPts val="500"/>
              </a:spcBef>
            </a:pPr>
            <a:r>
              <a:rPr b="1" sz="1050">
                <a:solidFill>
                  <a:srgbClr val="2C3E50"/>
                </a:solidFill>
              </a:rPr>
              <a:t>• Cú pháp: </a:t>
            </a:r>
            <a:r>
              <a:rPr sz="1050">
                <a:solidFill>
                  <a:srgbClr val="212F3D"/>
                </a:solidFill>
              </a:rPr>
              <a:t>import asyncio</a:t>
            </a:r>
          </a:p>
          <a:p>
            <a:pPr>
              <a:spcBef>
                <a:spcPts val="500"/>
              </a:spcBef>
            </a:pPr>
            <a:r>
              <a:rPr b="1" sz="1050">
                <a:solidFill>
                  <a:srgbClr val="2C3E50"/>
                </a:solidFill>
              </a:rPr>
              <a:t>• Thực thi: </a:t>
            </a:r>
            <a:r>
              <a:rPr sz="1050">
                <a:solidFill>
                  <a:srgbClr val="212F3D"/>
                </a:solidFill>
              </a:rPr>
              <a:t>async def fetch(i): await asyncio.sleep(1) # Nhường quyền</a:t>
            </a:r>
          </a:p>
          <a:p>
            <a:pPr>
              <a:spcBef>
                <a:spcPts val="500"/>
              </a:spcBef>
            </a:pPr>
            <a:r>
              <a:rPr b="1" sz="1050">
                <a:solidFill>
                  <a:srgbClr val="2C3E50"/>
                </a:solidFill>
              </a:rPr>
              <a:t>• Kết quả: </a:t>
            </a:r>
            <a:r>
              <a:rPr sz="1050">
                <a:solidFill>
                  <a:srgbClr val="212F3D"/>
                </a:solidFill>
              </a:rPr>
              <a:t>await asyncio.gather(fetch(1), fetch(2), fetch(3)) ➔ Tổng = 1.0s!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TỔNG KẾT NỀN TẢNG</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22</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Bảng Tổng kết Toàn diện 4 Mô hình Thực thi</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Bảng tổng hợp toàn diện kiến thức nền tảng của Thành viên 1</a:t>
            </a:r>
          </a:p>
        </p:txBody>
      </p:sp>
      <p:graphicFrame>
        <p:nvGraphicFramePr>
          <p:cNvPr id="7" name="Table 6"/>
          <p:cNvGraphicFramePr>
            <a:graphicFrameLocks noGrp="1"/>
          </p:cNvGraphicFramePr>
          <p:nvPr/>
        </p:nvGraphicFramePr>
        <p:xfrm>
          <a:off x="359918" y="2095500"/>
          <a:ext cx="9334500" cy="4445000"/>
        </p:xfrm>
        <a:graphic>
          <a:graphicData uri="http://schemas.openxmlformats.org/drawingml/2006/table">
            <a:tbl>
              <a:tblPr firstRow="1" bandRow="1">
                <a:tableStyleId>{5C22544A-7EE6-4342-B048-85BDC9FD1C3A}</a:tableStyleId>
              </a:tblPr>
              <a:tblGrid>
                <a:gridCol w="1841500"/>
                <a:gridCol w="1206500"/>
                <a:gridCol w="1587500"/>
                <a:gridCol w="2349500"/>
                <a:gridCol w="2349500"/>
              </a:tblGrid>
              <a:tr h="889000">
                <a:tc>
                  <a:txBody>
                    <a:bodyPr/>
                    <a:lstStyle/>
                    <a:p>
                      <a:pPr algn="ctr">
                        <a:defRPr sz="1100" b="1">
                          <a:solidFill>
                            <a:srgbClr val="FFFFFF"/>
                          </a:solidFill>
                          <a:latin typeface="Arial"/>
                        </a:defRPr>
                      </a:pPr>
                      <a:r>
                        <a:t>Mô hình tính toán</a:t>
                      </a:r>
                    </a:p>
                  </a:txBody>
                  <a:tcPr anchor="ctr">
                    <a:solidFill>
                      <a:srgbClr val="E74C3C"/>
                    </a:solidFill>
                  </a:tcPr>
                </a:tc>
                <a:tc>
                  <a:txBody>
                    <a:bodyPr/>
                    <a:lstStyle/>
                    <a:p>
                      <a:pPr algn="ctr">
                        <a:defRPr sz="1100" b="1">
                          <a:solidFill>
                            <a:srgbClr val="FFFFFF"/>
                          </a:solidFill>
                          <a:latin typeface="Arial"/>
                        </a:defRPr>
                      </a:pPr>
                      <a:r>
                        <a:t>Số nhân CPU</a:t>
                      </a:r>
                    </a:p>
                  </a:txBody>
                  <a:tcPr anchor="ctr">
                    <a:solidFill>
                      <a:srgbClr val="E74C3C"/>
                    </a:solidFill>
                  </a:tcPr>
                </a:tc>
                <a:tc>
                  <a:txBody>
                    <a:bodyPr/>
                    <a:lstStyle/>
                    <a:p>
                      <a:pPr algn="ctr">
                        <a:defRPr sz="1100" b="1">
                          <a:solidFill>
                            <a:srgbClr val="FFFFFF"/>
                          </a:solidFill>
                          <a:latin typeface="Arial"/>
                        </a:defRPr>
                      </a:pPr>
                      <a:r>
                        <a:t>Số luồng điều khiển</a:t>
                      </a:r>
                    </a:p>
                  </a:txBody>
                  <a:tcPr anchor="ctr">
                    <a:solidFill>
                      <a:srgbClr val="E74C3C"/>
                    </a:solidFill>
                  </a:tcPr>
                </a:tc>
                <a:tc>
                  <a:txBody>
                    <a:bodyPr/>
                    <a:lstStyle/>
                    <a:p>
                      <a:pPr algn="ctr">
                        <a:defRPr sz="1100" b="1">
                          <a:solidFill>
                            <a:srgbClr val="FFFFFF"/>
                          </a:solidFill>
                          <a:latin typeface="Arial"/>
                        </a:defRPr>
                      </a:pPr>
                      <a:r>
                        <a:t>Cơ chế chính</a:t>
                      </a:r>
                    </a:p>
                  </a:txBody>
                  <a:tcPr anchor="ctr">
                    <a:solidFill>
                      <a:srgbClr val="E74C3C"/>
                    </a:solidFill>
                  </a:tcPr>
                </a:tc>
                <a:tc>
                  <a:txBody>
                    <a:bodyPr/>
                    <a:lstStyle/>
                    <a:p>
                      <a:pPr algn="ctr">
                        <a:defRPr sz="1100" b="1">
                          <a:solidFill>
                            <a:srgbClr val="FFFFFF"/>
                          </a:solidFill>
                          <a:latin typeface="Arial"/>
                        </a:defRPr>
                      </a:pPr>
                      <a:r>
                        <a:t>Ứng dụng phù hợp nhất</a:t>
                      </a:r>
                    </a:p>
                  </a:txBody>
                  <a:tcPr anchor="ctr">
                    <a:solidFill>
                      <a:srgbClr val="E74C3C"/>
                    </a:solidFill>
                  </a:tcPr>
                </a:tc>
              </a:tr>
              <a:tr h="889000">
                <a:tc>
                  <a:txBody>
                    <a:bodyPr/>
                    <a:lstStyle/>
                    <a:p>
                      <a:pPr>
                        <a:defRPr sz="1050">
                          <a:solidFill>
                            <a:srgbClr val="212F3D"/>
                          </a:solidFill>
                          <a:latin typeface="Arial"/>
                        </a:defRPr>
                      </a:pPr>
                      <a:r>
                        <a:t>1. Tuần tự (Sequential)</a:t>
                      </a:r>
                    </a:p>
                  </a:txBody>
                  <a:tcPr anchor="ctr">
                    <a:solidFill>
                      <a:srgbClr val="FFFFFF"/>
                    </a:solidFill>
                  </a:tcPr>
                </a:tc>
                <a:tc>
                  <a:txBody>
                    <a:bodyPr/>
                    <a:lstStyle/>
                    <a:p>
                      <a:pPr>
                        <a:defRPr sz="1050">
                          <a:solidFill>
                            <a:srgbClr val="212F3D"/>
                          </a:solidFill>
                          <a:latin typeface="Arial"/>
                        </a:defRPr>
                      </a:pPr>
                      <a:r>
                        <a:t>1 nhân</a:t>
                      </a:r>
                    </a:p>
                  </a:txBody>
                  <a:tcPr anchor="ctr">
                    <a:solidFill>
                      <a:srgbClr val="FFFFFF"/>
                    </a:solidFill>
                  </a:tcPr>
                </a:tc>
                <a:tc>
                  <a:txBody>
                    <a:bodyPr/>
                    <a:lstStyle/>
                    <a:p>
                      <a:pPr>
                        <a:defRPr sz="1050">
                          <a:solidFill>
                            <a:srgbClr val="212F3D"/>
                          </a:solidFill>
                          <a:latin typeface="Arial"/>
                        </a:defRPr>
                      </a:pPr>
                      <a:r>
                        <a:t>1 luồng</a:t>
                      </a:r>
                    </a:p>
                  </a:txBody>
                  <a:tcPr anchor="ctr">
                    <a:solidFill>
                      <a:srgbClr val="FFFFFF"/>
                    </a:solidFill>
                  </a:tcPr>
                </a:tc>
                <a:tc>
                  <a:txBody>
                    <a:bodyPr/>
                    <a:lstStyle/>
                    <a:p>
                      <a:pPr>
                        <a:defRPr sz="1050">
                          <a:solidFill>
                            <a:srgbClr val="212F3D"/>
                          </a:solidFill>
                          <a:latin typeface="Arial"/>
                        </a:defRPr>
                      </a:pPr>
                      <a:r>
                        <a:t>Chạy nối tiếp từ đầu đến cuối theo thứ tự</a:t>
                      </a:r>
                    </a:p>
                  </a:txBody>
                  <a:tcPr anchor="ctr">
                    <a:solidFill>
                      <a:srgbClr val="FFFFFF"/>
                    </a:solidFill>
                  </a:tcPr>
                </a:tc>
                <a:tc>
                  <a:txBody>
                    <a:bodyPr/>
                    <a:lstStyle/>
                    <a:p>
                      <a:pPr>
                        <a:defRPr sz="1050">
                          <a:solidFill>
                            <a:srgbClr val="212F3D"/>
                          </a:solidFill>
                          <a:latin typeface="Arial"/>
                        </a:defRPr>
                      </a:pPr>
                      <a:r>
                        <a:t>Bài toán đơn giản, script nhỏ, tính toán tuần tự</a:t>
                      </a:r>
                    </a:p>
                  </a:txBody>
                  <a:tcPr anchor="ctr">
                    <a:solidFill>
                      <a:srgbClr val="FFFFFF"/>
                    </a:solidFill>
                  </a:tcPr>
                </a:tc>
              </a:tr>
              <a:tr h="889000">
                <a:tc>
                  <a:txBody>
                    <a:bodyPr/>
                    <a:lstStyle/>
                    <a:p>
                      <a:pPr>
                        <a:defRPr sz="1050">
                          <a:solidFill>
                            <a:srgbClr val="212F3D"/>
                          </a:solidFill>
                          <a:latin typeface="Arial"/>
                        </a:defRPr>
                      </a:pPr>
                      <a:r>
                        <a:t>2. Đồng thời (Concurrency)</a:t>
                      </a:r>
                    </a:p>
                  </a:txBody>
                  <a:tcPr anchor="ctr">
                    <a:solidFill>
                      <a:srgbClr val="F8F9FA"/>
                    </a:solidFill>
                  </a:tcPr>
                </a:tc>
                <a:tc>
                  <a:txBody>
                    <a:bodyPr/>
                    <a:lstStyle/>
                    <a:p>
                      <a:pPr>
                        <a:defRPr sz="1050">
                          <a:solidFill>
                            <a:srgbClr val="212F3D"/>
                          </a:solidFill>
                          <a:latin typeface="Arial"/>
                        </a:defRPr>
                      </a:pPr>
                      <a:r>
                        <a:t>1 nhân</a:t>
                      </a:r>
                    </a:p>
                  </a:txBody>
                  <a:tcPr anchor="ctr">
                    <a:solidFill>
                      <a:srgbClr val="F8F9FA"/>
                    </a:solidFill>
                  </a:tcPr>
                </a:tc>
                <a:tc>
                  <a:txBody>
                    <a:bodyPr/>
                    <a:lstStyle/>
                    <a:p>
                      <a:pPr>
                        <a:defRPr sz="1050">
                          <a:solidFill>
                            <a:srgbClr val="212F3D"/>
                          </a:solidFill>
                          <a:latin typeface="Arial"/>
                        </a:defRPr>
                      </a:pPr>
                      <a:r>
                        <a:t>1 hoặc nhiều</a:t>
                      </a:r>
                    </a:p>
                  </a:txBody>
                  <a:tcPr anchor="ctr">
                    <a:solidFill>
                      <a:srgbClr val="F8F9FA"/>
                    </a:solidFill>
                  </a:tcPr>
                </a:tc>
                <a:tc>
                  <a:txBody>
                    <a:bodyPr/>
                    <a:lstStyle/>
                    <a:p>
                      <a:pPr>
                        <a:defRPr sz="1050">
                          <a:solidFill>
                            <a:srgbClr val="212F3D"/>
                          </a:solidFill>
                          <a:latin typeface="Arial"/>
                        </a:defRPr>
                      </a:pPr>
                      <a:r>
                        <a:t>Chia lát thời gian (time-slicing), xen kẽ</a:t>
                      </a:r>
                    </a:p>
                  </a:txBody>
                  <a:tcPr anchor="ctr">
                    <a:solidFill>
                      <a:srgbClr val="F8F9FA"/>
                    </a:solidFill>
                  </a:tcPr>
                </a:tc>
                <a:tc>
                  <a:txBody>
                    <a:bodyPr/>
                    <a:lstStyle/>
                    <a:p>
                      <a:pPr>
                        <a:defRPr sz="1050">
                          <a:solidFill>
                            <a:srgbClr val="212F3D"/>
                          </a:solidFill>
                          <a:latin typeface="Arial"/>
                        </a:defRPr>
                      </a:pPr>
                      <a:r>
                        <a:t>Hệ thống phục vụ nhiều người dùng trên 1 máy</a:t>
                      </a:r>
                    </a:p>
                  </a:txBody>
                  <a:tcPr anchor="ctr">
                    <a:solidFill>
                      <a:srgbClr val="F8F9FA"/>
                    </a:solidFill>
                  </a:tcPr>
                </a:tc>
              </a:tr>
              <a:tr h="889000">
                <a:tc>
                  <a:txBody>
                    <a:bodyPr/>
                    <a:lstStyle/>
                    <a:p>
                      <a:pPr>
                        <a:defRPr sz="1050">
                          <a:solidFill>
                            <a:srgbClr val="212F3D"/>
                          </a:solidFill>
                          <a:latin typeface="Arial"/>
                        </a:defRPr>
                      </a:pPr>
                      <a:r>
                        <a:t>3. Song song (Parallelism)</a:t>
                      </a:r>
                    </a:p>
                  </a:txBody>
                  <a:tcPr anchor="ctr">
                    <a:solidFill>
                      <a:srgbClr val="FFFFFF"/>
                    </a:solidFill>
                  </a:tcPr>
                </a:tc>
                <a:tc>
                  <a:txBody>
                    <a:bodyPr/>
                    <a:lstStyle/>
                    <a:p>
                      <a:pPr>
                        <a:defRPr sz="1050">
                          <a:solidFill>
                            <a:srgbClr val="212F3D"/>
                          </a:solidFill>
                          <a:latin typeface="Arial"/>
                        </a:defRPr>
                      </a:pPr>
                      <a:r>
                        <a:t>≥ 2 nhân</a:t>
                      </a:r>
                    </a:p>
                  </a:txBody>
                  <a:tcPr anchor="ctr">
                    <a:solidFill>
                      <a:srgbClr val="FFFFFF"/>
                    </a:solidFill>
                  </a:tcPr>
                </a:tc>
                <a:tc>
                  <a:txBody>
                    <a:bodyPr/>
                    <a:lstStyle/>
                    <a:p>
                      <a:pPr>
                        <a:defRPr sz="1050">
                          <a:solidFill>
                            <a:srgbClr val="212F3D"/>
                          </a:solidFill>
                          <a:latin typeface="Arial"/>
                        </a:defRPr>
                      </a:pPr>
                      <a:r>
                        <a:t>Nhiều luồng/tiến trình</a:t>
                      </a:r>
                    </a:p>
                  </a:txBody>
                  <a:tcPr anchor="ctr">
                    <a:solidFill>
                      <a:srgbClr val="FFFFFF"/>
                    </a:solidFill>
                  </a:tcPr>
                </a:tc>
                <a:tc>
                  <a:txBody>
                    <a:bodyPr/>
                    <a:lstStyle/>
                    <a:p>
                      <a:pPr>
                        <a:defRPr sz="1050">
                          <a:solidFill>
                            <a:srgbClr val="212F3D"/>
                          </a:solidFill>
                          <a:latin typeface="Arial"/>
                        </a:defRPr>
                      </a:pPr>
                      <a:r>
                        <a:t>Thực thi đồng thời vật lý trên các lõi độc lập</a:t>
                      </a:r>
                    </a:p>
                  </a:txBody>
                  <a:tcPr anchor="ctr">
                    <a:solidFill>
                      <a:srgbClr val="FFFFFF"/>
                    </a:solidFill>
                  </a:tcPr>
                </a:tc>
                <a:tc>
                  <a:txBody>
                    <a:bodyPr/>
                    <a:lstStyle/>
                    <a:p>
                      <a:pPr>
                        <a:defRPr sz="1050">
                          <a:solidFill>
                            <a:srgbClr val="212F3D"/>
                          </a:solidFill>
                          <a:latin typeface="Arial"/>
                        </a:defRPr>
                      </a:pPr>
                      <a:r>
                        <a:t>Tính toán khoa học, đồ họa 3D, xử lý dữ liệu lớn</a:t>
                      </a:r>
                    </a:p>
                  </a:txBody>
                  <a:tcPr anchor="ctr">
                    <a:solidFill>
                      <a:srgbClr val="FFFFFF"/>
                    </a:solidFill>
                  </a:tcPr>
                </a:tc>
              </a:tr>
              <a:tr h="889000">
                <a:tc>
                  <a:txBody>
                    <a:bodyPr/>
                    <a:lstStyle/>
                    <a:p>
                      <a:pPr>
                        <a:defRPr sz="1050">
                          <a:solidFill>
                            <a:srgbClr val="212F3D"/>
                          </a:solidFill>
                          <a:latin typeface="Arial"/>
                        </a:defRPr>
                      </a:pPr>
                      <a:r>
                        <a:t>4. Bất đồng bộ (Async)</a:t>
                      </a:r>
                    </a:p>
                  </a:txBody>
                  <a:tcPr anchor="ctr">
                    <a:solidFill>
                      <a:srgbClr val="F8F9FA"/>
                    </a:solidFill>
                  </a:tcPr>
                </a:tc>
                <a:tc>
                  <a:txBody>
                    <a:bodyPr/>
                    <a:lstStyle/>
                    <a:p>
                      <a:pPr>
                        <a:defRPr sz="1050">
                          <a:solidFill>
                            <a:srgbClr val="212F3D"/>
                          </a:solidFill>
                          <a:latin typeface="Arial"/>
                        </a:defRPr>
                      </a:pPr>
                      <a:r>
                        <a:t>1 nhân</a:t>
                      </a:r>
                    </a:p>
                  </a:txBody>
                  <a:tcPr anchor="ctr">
                    <a:solidFill>
                      <a:srgbClr val="F8F9FA"/>
                    </a:solidFill>
                  </a:tcPr>
                </a:tc>
                <a:tc>
                  <a:txBody>
                    <a:bodyPr/>
                    <a:lstStyle/>
                    <a:p>
                      <a:pPr>
                        <a:defRPr sz="1050">
                          <a:solidFill>
                            <a:srgbClr val="212F3D"/>
                          </a:solidFill>
                          <a:latin typeface="Arial"/>
                        </a:defRPr>
                      </a:pPr>
                      <a:r>
                        <a:t>1 luồng duy nhất</a:t>
                      </a:r>
                    </a:p>
                  </a:txBody>
                  <a:tcPr anchor="ctr">
                    <a:solidFill>
                      <a:srgbClr val="F8F9FA"/>
                    </a:solidFill>
                  </a:tcPr>
                </a:tc>
                <a:tc>
                  <a:txBody>
                    <a:bodyPr/>
                    <a:lstStyle/>
                    <a:p>
                      <a:pPr>
                        <a:defRPr sz="1050">
                          <a:solidFill>
                            <a:srgbClr val="212F3D"/>
                          </a:solidFill>
                          <a:latin typeface="Arial"/>
                        </a:defRPr>
                      </a:pPr>
                      <a:r>
                        <a:t>Nhường quyền khi chờ I/O, tạm dừng &amp; tiếp tục</a:t>
                      </a:r>
                    </a:p>
                  </a:txBody>
                  <a:tcPr anchor="ctr">
                    <a:solidFill>
                      <a:srgbClr val="F8F9FA"/>
                    </a:solidFill>
                  </a:tcPr>
                </a:tc>
                <a:tc>
                  <a:txBody>
                    <a:bodyPr/>
                    <a:lstStyle/>
                    <a:p>
                      <a:pPr>
                        <a:defRPr sz="1050">
                          <a:solidFill>
                            <a:srgbClr val="212F3D"/>
                          </a:solidFill>
                          <a:latin typeface="Arial"/>
                        </a:defRPr>
                      </a:pPr>
                      <a:r>
                        <a:t>Máy chủ web, mạng, truy vấn API, microservices</a:t>
                      </a:r>
                    </a:p>
                  </a:txBody>
                  <a:tcPr anchor="ctr">
                    <a:solidFill>
                      <a:srgbClr val="F8F9FA"/>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CHUYỂN GIAO KỸ THUẬT</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23</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Cầu nối Chuyển giao sang Phần II (concurrent.futures)</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Cầu nối chuyển giao kỹ thuật sang Phần II của bài giảng</a:t>
            </a:r>
          </a:p>
        </p:txBody>
      </p:sp>
      <p:sp>
        <p:nvSpPr>
          <p:cNvPr id="7" name="TextBox 6"/>
          <p:cNvSpPr txBox="1"/>
          <p:nvPr/>
        </p:nvSpPr>
        <p:spPr>
          <a:xfrm>
            <a:off x="359918" y="1905000"/>
            <a:ext cx="9334500" cy="2095500"/>
          </a:xfrm>
          <a:prstGeom prst="rect">
            <a:avLst/>
          </a:prstGeom>
          <a:noFill/>
        </p:spPr>
        <p:txBody>
          <a:bodyPr wrap="square" lIns="0" tIns="0">
            <a:spAutoFit/>
          </a:bodyPr>
          <a:lstStyle/>
          <a:p>
            <a:pPr>
              <a:spcAft>
                <a:spcPts val="700"/>
              </a:spcAft>
            </a:pPr>
            <a:r>
              <a:rPr sz="1200" b="1">
                <a:solidFill>
                  <a:srgbClr val="E74C3C"/>
                </a:solidFill>
                <a:latin typeface="Arial"/>
              </a:rPr>
              <a:t>• Nền tảng đã thiết lập (TV1): </a:t>
            </a:r>
            <a:r>
              <a:rPr sz="1200">
                <a:solidFill>
                  <a:srgbClr val="212F3D"/>
                </a:solidFill>
                <a:latin typeface="Arial"/>
              </a:rPr>
              <a:t>Đã hiểu rõ bản chất Tuần tự, Đồng thời, Song song và Bất đồng bộ. Đã phân định rõ ranh giới giữa phần cứng (đa nhân) và phần mềm (điều phối).</a:t>
            </a:r>
          </a:p>
          <a:p>
            <a:pPr>
              <a:spcAft>
                <a:spcPts val="700"/>
              </a:spcAft>
            </a:pPr>
            <a:r>
              <a:rPr sz="1200" b="1">
                <a:solidFill>
                  <a:srgbClr val="E74C3C"/>
                </a:solidFill>
                <a:latin typeface="Arial"/>
              </a:rPr>
              <a:t>• Câu hỏi đặt ra cho thực tế: </a:t>
            </a:r>
            <a:r>
              <a:rPr sz="1200">
                <a:solidFill>
                  <a:srgbClr val="212F3D"/>
                </a:solidFill>
                <a:latin typeface="Arial"/>
              </a:rPr>
              <a:t>Làm thế nào để lập trình viên Python tận dụng các mô hình này một cách tiện lợi nhất mà không phải tự quản lý luồng thủ công phức tạp?</a:t>
            </a:r>
          </a:p>
          <a:p>
            <a:pPr>
              <a:spcAft>
                <a:spcPts val="700"/>
              </a:spcAft>
            </a:pPr>
            <a:r>
              <a:rPr sz="1200" b="1">
                <a:solidFill>
                  <a:srgbClr val="E74C3C"/>
                </a:solidFill>
                <a:latin typeface="Arial"/>
              </a:rPr>
              <a:t>• Giải pháp trong Python chuẩn: </a:t>
            </a:r>
            <a:r>
              <a:rPr sz="1200">
                <a:solidFill>
                  <a:srgbClr val="212F3D"/>
                </a:solidFill>
                <a:latin typeface="Arial"/>
              </a:rPr>
              <a:t>Module `concurrent.futures` ra đời cung cấp giao diện Executor cấp cao và đối tượng Future để quản lý kết quả bất đồng bộ.</a:t>
            </a:r>
          </a:p>
          <a:p>
            <a:pPr>
              <a:spcAft>
                <a:spcPts val="700"/>
              </a:spcAft>
            </a:pPr>
            <a:r>
              <a:rPr sz="1200" b="1">
                <a:solidFill>
                  <a:srgbClr val="E74C3C"/>
                </a:solidFill>
                <a:latin typeface="Arial"/>
              </a:rPr>
              <a:t>• Sẵn sàng cho bài học tiếp theo: </a:t>
            </a:r>
            <a:r>
              <a:rPr sz="1200">
                <a:solidFill>
                  <a:srgbClr val="212F3D"/>
                </a:solidFill>
                <a:latin typeface="Arial"/>
              </a:rPr>
              <a:t>Xin trân trọng giới thiệu Thành viên 2 (TV2) sẽ trình bày Phần II: Sử dụng Module `concurrent.futures` với `ThreadPoolExecutor`!</a:t>
            </a:r>
          </a:p>
        </p:txBody>
      </p:sp>
      <p:sp>
        <p:nvSpPr>
          <p:cNvPr id="8" name="Rounded Rectangle 7"/>
          <p:cNvSpPr/>
          <p:nvPr/>
        </p:nvSpPr>
        <p:spPr>
          <a:xfrm>
            <a:off x="359918" y="4254500"/>
            <a:ext cx="9334500" cy="2286000"/>
          </a:xfrm>
          <a:prstGeom prst="roundRect">
            <a:avLst/>
          </a:prstGeom>
          <a:solidFill>
            <a:srgbClr val="F8F9FA"/>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lIns="203200" tIns="152400" rIns="203200"/>
          <a:lstStyle/>
          <a:p>
            <a:pPr algn="ctr">
              <a:defRPr sz="1250" b="1">
                <a:solidFill>
                  <a:srgbClr val="E74C3C"/>
                </a:solidFill>
                <a:latin typeface="Arial"/>
              </a:defRPr>
            </a:pPr>
            <a:r>
              <a:t>MẠCH LIÊN KẾT BÀI GIẢNG CHƯƠNG 4:</a:t>
            </a:r>
          </a:p>
          <a:p>
            <a:pPr>
              <a:spcBef>
                <a:spcPts val="500"/>
              </a:spcBef>
            </a:pPr>
            <a:r>
              <a:rPr b="1" sz="1050">
                <a:solidFill>
                  <a:srgbClr val="2C3E50"/>
                </a:solidFill>
              </a:rPr>
              <a:t>• Phần I (Slide 1 – 8, TV1): </a:t>
            </a:r>
            <a:r>
              <a:rPr sz="1050">
                <a:solidFill>
                  <a:srgbClr val="212F3D"/>
                </a:solidFill>
              </a:rPr>
              <a:t>Nền tảng lý thuyết: Phân biệt 4 mô hình thực thi và cơ chế luồng đơn bất đồng bộ.</a:t>
            </a:r>
          </a:p>
          <a:p>
            <a:pPr>
              <a:spcBef>
                <a:spcPts val="500"/>
              </a:spcBef>
            </a:pPr>
            <a:r>
              <a:rPr b="1" sz="1050">
                <a:solidFill>
                  <a:srgbClr val="2C3E50"/>
                </a:solidFill>
              </a:rPr>
              <a:t>• Phần II (Slide 9 – 12, TV2): </a:t>
            </a:r>
            <a:r>
              <a:rPr sz="1050">
                <a:solidFill>
                  <a:srgbClr val="212F3D"/>
                </a:solidFill>
              </a:rPr>
              <a:t>Kỹ thuật thực chiến 1: Quản lý ThreadPoolExecutor và Future objects.</a:t>
            </a:r>
          </a:p>
          <a:p>
            <a:pPr>
              <a:spcBef>
                <a:spcPts val="500"/>
              </a:spcBef>
            </a:pPr>
            <a:r>
              <a:rPr b="1" sz="1050">
                <a:solidFill>
                  <a:srgbClr val="2C3E50"/>
                </a:solidFill>
              </a:rPr>
              <a:t>• Phần III (Slide 13 – 15, TV3): </a:t>
            </a:r>
            <a:r>
              <a:rPr sz="1050">
                <a:solidFill>
                  <a:srgbClr val="212F3D"/>
                </a:solidFill>
              </a:rPr>
              <a:t>Kỹ thuật thực chiến 2: Vượt rào cản GIL với ProcessPoolExecutor.</a:t>
            </a:r>
          </a:p>
          <a:p>
            <a:pPr>
              <a:spcBef>
                <a:spcPts val="500"/>
              </a:spcBef>
            </a:pPr>
            <a:r>
              <a:rPr b="1" sz="1050">
                <a:solidFill>
                  <a:srgbClr val="2C3E50"/>
                </a:solidFill>
              </a:rPr>
              <a:t>• Phần IV - VI (Slide 16 – 24, TV4 - TV6): </a:t>
            </a:r>
            <a:r>
              <a:rPr sz="1050">
                <a:solidFill>
                  <a:srgbClr val="212F3D"/>
                </a:solidFill>
              </a:rPr>
              <a:t>Chuyên sâu Asyncio: Event Loop, Coroutines, Pipeline và Tổng kết.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TỔNG KẾT &amp; THẢO LUẬN</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24</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Tổng kết Phần I &amp; Câu hỏi Tương tác Lớp học</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KẾT THÚC PHẦN I</a:t>
            </a:r>
          </a:p>
        </p:txBody>
      </p:sp>
      <p:sp>
        <p:nvSpPr>
          <p:cNvPr id="6" name="TextBox 5"/>
          <p:cNvSpPr txBox="1"/>
          <p:nvPr/>
        </p:nvSpPr>
        <p:spPr>
          <a:xfrm>
            <a:off x="359918" y="1524000"/>
            <a:ext cx="9334500" cy="406400"/>
          </a:xfrm>
          <a:prstGeom prst="rect">
            <a:avLst/>
          </a:prstGeom>
          <a:noFill/>
        </p:spPr>
        <p:txBody>
          <a:bodyPr wrap="none" tIns="0" lIns="0">
            <a:spAutoFit/>
          </a:bodyPr>
          <a:lstStyle/>
          <a:p>
            <a:pPr>
              <a:defRPr sz="1650" b="1">
                <a:solidFill>
                  <a:srgbClr val="2C3E50"/>
                </a:solidFill>
                <a:latin typeface="Arial"/>
              </a:defRPr>
            </a:pPr>
            <a:r>
              <a:t>Tổng kết Phần I và Câu hỏi thảo luận tương tác với lớp học</a:t>
            </a:r>
          </a:p>
        </p:txBody>
      </p:sp>
      <p:sp>
        <p:nvSpPr>
          <p:cNvPr id="7" name="TextBox 6"/>
          <p:cNvSpPr txBox="1"/>
          <p:nvPr/>
        </p:nvSpPr>
        <p:spPr>
          <a:xfrm>
            <a:off x="359918" y="1905000"/>
            <a:ext cx="9334500" cy="2032000"/>
          </a:xfrm>
          <a:prstGeom prst="rect">
            <a:avLst/>
          </a:prstGeom>
          <a:noFill/>
        </p:spPr>
        <p:txBody>
          <a:bodyPr wrap="square" lIns="0" tIns="0">
            <a:spAutoFit/>
          </a:bodyPr>
          <a:lstStyle/>
          <a:p>
            <a:pPr>
              <a:spcAft>
                <a:spcPts val="700"/>
              </a:spcAft>
            </a:pPr>
            <a:r>
              <a:rPr sz="1200" b="1">
                <a:solidFill>
                  <a:srgbClr val="E74C3C"/>
                </a:solidFill>
                <a:latin typeface="Arial"/>
              </a:rPr>
              <a:t>• Câu hỏi 1 (Về tính đồng thời): </a:t>
            </a:r>
            <a:r>
              <a:rPr sz="1200">
                <a:solidFill>
                  <a:srgbClr val="212F3D"/>
                </a:solidFill>
                <a:latin typeface="Arial"/>
              </a:rPr>
              <a:t>Một máy tính chỉ có duy nhất 1 nhân CPU vật lý thì có thể chạy song song (Parallelism) được không? Có thể chạy đồng thời (Concurrency) được không? Vì sao?</a:t>
            </a:r>
          </a:p>
          <a:p>
            <a:pPr>
              <a:spcAft>
                <a:spcPts val="700"/>
              </a:spcAft>
            </a:pPr>
            <a:r>
              <a:rPr sz="1200" b="1">
                <a:solidFill>
                  <a:srgbClr val="E74C3C"/>
                </a:solidFill>
                <a:latin typeface="Arial"/>
              </a:rPr>
              <a:t>• Câu hỏi 2 (Về tính bất đồng bộ): </a:t>
            </a:r>
            <a:r>
              <a:rPr sz="1200">
                <a:solidFill>
                  <a:srgbClr val="212F3D"/>
                </a:solidFill>
                <a:latin typeface="Arial"/>
              </a:rPr>
              <a:t>Tại sao nói mô hình bất đồng bộ trong ví dụ 'Bãi giữ xe' lại giúp nâng cao thông lượng phục vụ mà không cần tuyển thêm nhân viên bảo vệ mới?</a:t>
            </a:r>
          </a:p>
          <a:p>
            <a:pPr>
              <a:spcAft>
                <a:spcPts val="700"/>
              </a:spcAft>
            </a:pPr>
            <a:r>
              <a:rPr sz="1200" b="1">
                <a:solidFill>
                  <a:srgbClr val="E74C3C"/>
                </a:solidFill>
                <a:latin typeface="Arial"/>
              </a:rPr>
              <a:t>• Câu hỏi 3 (Về cơ chế luồng đơn): </a:t>
            </a:r>
            <a:r>
              <a:rPr sz="1200">
                <a:solidFill>
                  <a:srgbClr val="212F3D"/>
                </a:solidFill>
                <a:latin typeface="Arial"/>
              </a:rPr>
              <a:t>Trong mô hình luồng đơn bất đồng bộ (Slide 8 gốc), điều gì xảy ra nếu một tác vụ thực hiện tính toán số học rất nặng mà không chịu nhường quyền (không tạm dừng)?</a:t>
            </a:r>
          </a:p>
        </p:txBody>
      </p:sp>
      <p:sp>
        <p:nvSpPr>
          <p:cNvPr id="8" name="Rounded Rectangle 7"/>
          <p:cNvSpPr/>
          <p:nvPr/>
        </p:nvSpPr>
        <p:spPr>
          <a:xfrm>
            <a:off x="359918" y="4254500"/>
            <a:ext cx="9334500" cy="2286000"/>
          </a:xfrm>
          <a:prstGeom prst="roundRect">
            <a:avLst/>
          </a:prstGeom>
          <a:solidFill>
            <a:srgbClr val="F8F9FA"/>
          </a:solidFill>
          <a:ln w="19050">
            <a:solidFill>
              <a:srgbClr val="2C3E50"/>
            </a:solidFill>
          </a:ln>
        </p:spPr>
        <p:style>
          <a:lnRef idx="1">
            <a:schemeClr val="accent1"/>
          </a:lnRef>
          <a:fillRef idx="3">
            <a:schemeClr val="accent1"/>
          </a:fillRef>
          <a:effectRef idx="2">
            <a:schemeClr val="accent1"/>
          </a:effectRef>
          <a:fontRef idx="minor">
            <a:schemeClr val="lt1"/>
          </a:fontRef>
        </p:style>
        <p:txBody>
          <a:bodyPr rtlCol="0" anchor="ctr" lIns="203200" tIns="152400" rIns="203200"/>
          <a:lstStyle/>
          <a:p>
            <a:pPr algn="ctr">
              <a:defRPr sz="1250" b="1">
                <a:solidFill>
                  <a:srgbClr val="2C3E50"/>
                </a:solidFill>
                <a:latin typeface="Arial"/>
              </a:defRPr>
            </a:pPr>
            <a:r>
              <a:t>THÔNG ĐIỆP CHỐT LẠI CỦA THÀNH VIÊN 1:</a:t>
            </a:r>
          </a:p>
          <a:p>
            <a:pPr>
              <a:spcBef>
                <a:spcPts val="500"/>
              </a:spcBef>
            </a:pPr>
            <a:r>
              <a:rPr b="1" sz="1050">
                <a:solidFill>
                  <a:srgbClr val="2C3E50"/>
                </a:solidFill>
              </a:rPr>
              <a:t>• 1. Concurrency: </a:t>
            </a:r>
            <a:r>
              <a:rPr sz="1050">
                <a:solidFill>
                  <a:srgbClr val="212F3D"/>
                </a:solidFill>
              </a:rPr>
              <a:t>Nói về cách tổ chức và tiến triển xen kẽ nhiều công việc trên tài nguyên hữu hạn.</a:t>
            </a:r>
          </a:p>
          <a:p>
            <a:pPr>
              <a:spcBef>
                <a:spcPts val="500"/>
              </a:spcBef>
            </a:pPr>
            <a:r>
              <a:rPr b="1" sz="1050">
                <a:solidFill>
                  <a:srgbClr val="2C3E50"/>
                </a:solidFill>
              </a:rPr>
              <a:t>• 2. Parallelism: </a:t>
            </a:r>
            <a:r>
              <a:rPr sz="1050">
                <a:solidFill>
                  <a:srgbClr val="212F3D"/>
                </a:solidFill>
              </a:rPr>
              <a:t>Nói về khả năng thực thi đồng thời vật lý tại cùng thời điểm nhờ phần cứng đa nhân.</a:t>
            </a:r>
          </a:p>
          <a:p>
            <a:pPr>
              <a:spcBef>
                <a:spcPts val="500"/>
              </a:spcBef>
            </a:pPr>
            <a:r>
              <a:rPr b="1" sz="1050">
                <a:solidFill>
                  <a:srgbClr val="2C3E50"/>
                </a:solidFill>
              </a:rPr>
              <a:t>• 3. Asynchronous: </a:t>
            </a:r>
            <a:r>
              <a:rPr sz="1050">
                <a:solidFill>
                  <a:srgbClr val="212F3D"/>
                </a:solidFill>
              </a:rPr>
              <a:t>Nói về nghệ thuật không chờ đợi, tận dụng thời gian rảnh khi I/O tạm dừng để phục vụ công việc khác!</a:t>
            </a:r>
          </a:p>
          <a:p>
            <a:pPr>
              <a:spcBef>
                <a:spcPts val="500"/>
              </a:spcBef>
            </a:pPr>
            <a:r>
              <a:rPr b="1" sz="1050">
                <a:solidFill>
                  <a:srgbClr val="2C3E50"/>
                </a:solidFill>
              </a:rPr>
              <a:t>• Lời cảm ơn: </a:t>
            </a:r>
            <a:r>
              <a:rPr sz="1050">
                <a:solidFill>
                  <a:srgbClr val="212F3D"/>
                </a:solidFill>
              </a:rPr>
              <a:t>Cảm ơn cô và các bạn đã lắng nghe phần trình bày của Thành viên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