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2926080"/>
            <a:ext cx="8412480" cy="1371600"/>
          </a:xfrm>
          <a:prstGeom prst="rect">
            <a:avLst/>
          </a:prstGeom>
          <a:noFill/>
        </p:spPr>
        <p:txBody>
          <a:bodyPr wrap="square">
            <a:spAutoFit/>
          </a:bodyPr>
          <a:lstStyle/>
          <a:p>
            <a:pPr>
              <a:spcAft>
                <a:spcPts val="400"/>
              </a:spcAft>
              <a:defRPr sz="3200" b="1">
                <a:solidFill>
                  <a:srgbClr val="FFFFFF"/>
                </a:solidFill>
                <a:latin typeface="Arial"/>
              </a:defRPr>
            </a:pPr>
            <a:r>
              <a:t>CHƯƠNG  4:</a:t>
            </a:r>
          </a:p>
          <a:p>
            <a:pPr>
              <a:defRPr sz="3000" b="1">
                <a:solidFill>
                  <a:srgbClr val="FFFFFF"/>
                </a:solidFill>
                <a:latin typeface="Arial"/>
              </a:defRPr>
            </a:pPr>
            <a:r>
              <a:t>TÍNH TOÁN BẤT ĐỒNG BỘ</a:t>
            </a:r>
          </a:p>
        </p:txBody>
      </p:sp>
      <p:sp>
        <p:nvSpPr>
          <p:cNvPr id="4" name="TextBox 3"/>
          <p:cNvSpPr txBox="1"/>
          <p:nvPr/>
        </p:nvSpPr>
        <p:spPr>
          <a:xfrm>
            <a:off x="365760" y="5120640"/>
            <a:ext cx="8412480" cy="1280160"/>
          </a:xfrm>
          <a:prstGeom prst="rect">
            <a:avLst/>
          </a:prstGeom>
          <a:noFill/>
        </p:spPr>
        <p:txBody>
          <a:bodyPr wrap="square">
            <a:spAutoFit/>
          </a:bodyPr>
          <a:lstStyle/>
          <a:p>
            <a:pPr>
              <a:spcAft>
                <a:spcPts val="400"/>
              </a:spcAft>
              <a:defRPr sz="1600" b="1">
                <a:solidFill>
                  <a:srgbClr val="1C1C1C"/>
                </a:solidFill>
                <a:latin typeface="Arial"/>
              </a:defRPr>
            </a:pPr>
            <a:r>
              <a:t>Học phần: Tính toán song song và phân tán</a:t>
            </a:r>
          </a:p>
          <a:p>
            <a:pPr>
              <a:defRPr sz="1400">
                <a:solidFill>
                  <a:srgbClr val="464646"/>
                </a:solidFill>
                <a:latin typeface="Arial"/>
              </a:defRPr>
            </a:pPr>
            <a:r>
              <a:t>Phần I: Các mô hình tính toán nền tảng (Tuần tự, Đồng thời, Song song, Bất đồng bộ)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2.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54480"/>
            <a:ext cx="8412480" cy="1371600"/>
          </a:xfrm>
          <a:prstGeom prst="rect">
            <a:avLst/>
          </a:prstGeom>
          <a:noFill/>
        </p:spPr>
        <p:txBody>
          <a:bodyPr wrap="square">
            <a:spAutoFit/>
          </a:bodyPr>
          <a:lstStyle/>
          <a:p>
            <a:pPr>
              <a:spcAft>
                <a:spcPts val="800"/>
              </a:spcAft>
              <a:defRPr sz="2100" b="1">
                <a:solidFill>
                  <a:srgbClr val="1C1C1C"/>
                </a:solidFill>
                <a:latin typeface="Arial"/>
              </a:defRPr>
            </a:pPr>
            <a:r>
              <a:t>➢ Xử lý tuần tự</a:t>
            </a:r>
          </a:p>
          <a:p>
            <a:pPr>
              <a:spcAft>
                <a:spcPts val="600"/>
              </a:spcAft>
              <a:defRPr sz="1700">
                <a:solidFill>
                  <a:srgbClr val="1C1C1C"/>
                </a:solidFill>
                <a:latin typeface="Arial"/>
              </a:defRPr>
            </a:pPr>
            <a:r>
              <a:t>□ Xử lý 1 tác vụ (task) trong một khoảng thời gian;</a:t>
            </a:r>
          </a:p>
          <a:p>
            <a:pPr>
              <a:defRPr sz="1700">
                <a:solidFill>
                  <a:srgbClr val="1C1C1C"/>
                </a:solidFill>
                <a:latin typeface="Arial"/>
              </a:defRPr>
            </a:pPr>
            <a:r>
              <a:t>□ Các task sẽ được thực thi theo thứ tự.</a:t>
            </a:r>
          </a:p>
        </p:txBody>
      </p:sp>
      <p:pic>
        <p:nvPicPr>
          <p:cNvPr id="4" name="Picture 3" descr="slide_2_img_2_31.png"/>
          <p:cNvPicPr>
            <a:picLocks noChangeAspect="1"/>
          </p:cNvPicPr>
          <p:nvPr/>
        </p:nvPicPr>
        <p:blipFill>
          <a:blip r:embed="rId3"/>
          <a:stretch>
            <a:fillRect/>
          </a:stretch>
        </p:blipFill>
        <p:spPr>
          <a:xfrm>
            <a:off x="2926080" y="2834640"/>
            <a:ext cx="3291840" cy="1143000"/>
          </a:xfrm>
          <a:prstGeom prst="rect">
            <a:avLst/>
          </a:prstGeom>
        </p:spPr>
      </p:pic>
      <p:pic>
        <p:nvPicPr>
          <p:cNvPr id="5" name="Picture 4" descr="slide_2_img_1_30.png"/>
          <p:cNvPicPr>
            <a:picLocks noChangeAspect="1"/>
          </p:cNvPicPr>
          <p:nvPr/>
        </p:nvPicPr>
        <p:blipFill>
          <a:blip r:embed="rId4"/>
          <a:stretch>
            <a:fillRect/>
          </a:stretch>
        </p:blipFill>
        <p:spPr>
          <a:xfrm>
            <a:off x="914400" y="4114800"/>
            <a:ext cx="7315200" cy="1280160"/>
          </a:xfrm>
          <a:prstGeom prst="rect">
            <a:avLst/>
          </a:prstGeom>
        </p:spPr>
      </p:pic>
      <p:sp>
        <p:nvSpPr>
          <p:cNvPr id="6" name="Rectangle 5"/>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Phân tích học thuật: </a:t>
            </a:r>
            <a:r>
              <a:rPr sz="1150" b="0">
                <a:solidFill>
                  <a:srgbClr val="1C1C1C"/>
                </a:solidFill>
                <a:latin typeface="Arial"/>
              </a:rPr>
              <a:t>Tổng thời gian thực thi T_total = t1 + t2 + t3. CPU bị lãng phí hoàn toàn (idle waiting) khi task chờ đợi 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3.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08760"/>
            <a:ext cx="8412480" cy="2560320"/>
          </a:xfrm>
          <a:prstGeom prst="rect">
            <a:avLst/>
          </a:prstGeom>
          <a:noFill/>
        </p:spPr>
        <p:txBody>
          <a:bodyPr wrap="square">
            <a:spAutoFit/>
          </a:bodyPr>
          <a:lstStyle/>
          <a:p>
            <a:pPr>
              <a:spcAft>
                <a:spcPts val="800"/>
              </a:spcAft>
              <a:defRPr sz="2100" b="1">
                <a:solidFill>
                  <a:srgbClr val="1C1C1C"/>
                </a:solidFill>
                <a:latin typeface="Arial"/>
              </a:defRPr>
            </a:pPr>
            <a:r>
              <a:t>➢ Xử lý đồng thời</a:t>
            </a:r>
          </a:p>
          <a:p>
            <a:pPr>
              <a:spcAft>
                <a:spcPts val="600"/>
              </a:spcAft>
              <a:defRPr sz="1550">
                <a:solidFill>
                  <a:srgbClr val="1C1C1C"/>
                </a:solidFill>
                <a:latin typeface="Arial"/>
              </a:defRPr>
            </a:pPr>
            <a:r>
              <a:t>□ HĐH quản lý chương trình, mỗi chương trình ~ process (tiến trình) → cấp process id (PID) để HĐH quản lý.</a:t>
            </a:r>
          </a:p>
          <a:p>
            <a:pPr>
              <a:spcAft>
                <a:spcPts val="600"/>
              </a:spcAft>
              <a:defRPr sz="1550">
                <a:solidFill>
                  <a:srgbClr val="1C1C1C"/>
                </a:solidFill>
                <a:latin typeface="Arial"/>
              </a:defRPr>
            </a:pPr>
            <a:r>
              <a:t>□ CPU core chia các task của process thành các task nhỏ hơn + sắp xếp xen kẽ nhau → tận dụng thời gian rảnh của task này đi thực hiện task khác.</a:t>
            </a:r>
          </a:p>
          <a:p>
            <a:pPr>
              <a:defRPr sz="1550">
                <a:solidFill>
                  <a:srgbClr val="1C1C1C"/>
                </a:solidFill>
                <a:latin typeface="Arial"/>
              </a:defRPr>
            </a:pPr>
            <a:r>
              <a:t>□ → Máy tính xử lý nhiều việc cùng lúc tại cùng thời điểm, tuy nhiên, bên dưới CPU core chỉ có thể thực thi một task nhỏ trong task lớn tại thời điểm đó.</a:t>
            </a:r>
          </a:p>
        </p:txBody>
      </p:sp>
      <p:pic>
        <p:nvPicPr>
          <p:cNvPr id="4" name="Picture 3" descr="slide_3_img_1_34.png"/>
          <p:cNvPicPr>
            <a:picLocks noChangeAspect="1"/>
          </p:cNvPicPr>
          <p:nvPr/>
        </p:nvPicPr>
        <p:blipFill>
          <a:blip r:embed="rId3"/>
          <a:stretch>
            <a:fillRect/>
          </a:stretch>
        </p:blipFill>
        <p:spPr>
          <a:xfrm>
            <a:off x="457200" y="4160520"/>
            <a:ext cx="8229600" cy="128016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Cơ chế vi mô: </a:t>
            </a:r>
            <a:r>
              <a:rPr sz="1150" b="0">
                <a:solidFill>
                  <a:srgbClr val="1C1C1C"/>
                </a:solidFill>
                <a:latin typeface="Arial"/>
              </a:rPr>
              <a:t>Phân chia thời gian (Time-Slicing) và chuyển đổi ngữ cảnh (Context Switching) tạo ảo giác chạy song song trên 1 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4.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54480"/>
            <a:ext cx="8412480" cy="1645920"/>
          </a:xfrm>
          <a:prstGeom prst="rect">
            <a:avLst/>
          </a:prstGeom>
          <a:noFill/>
        </p:spPr>
        <p:txBody>
          <a:bodyPr wrap="square">
            <a:spAutoFit/>
          </a:bodyPr>
          <a:lstStyle/>
          <a:p>
            <a:pPr>
              <a:spcAft>
                <a:spcPts val="800"/>
              </a:spcAft>
              <a:defRPr sz="2100" b="1">
                <a:solidFill>
                  <a:srgbClr val="1C1C1C"/>
                </a:solidFill>
                <a:latin typeface="Arial"/>
              </a:defRPr>
            </a:pPr>
            <a:r>
              <a:t>➢ Xử lý đồng thời</a:t>
            </a:r>
          </a:p>
          <a:p>
            <a:pPr>
              <a:spcAft>
                <a:spcPts val="800"/>
              </a:spcAft>
              <a:defRPr sz="1700">
                <a:solidFill>
                  <a:srgbClr val="1C1C1C"/>
                </a:solidFill>
                <a:latin typeface="Arial"/>
              </a:defRPr>
            </a:pPr>
            <a:r>
              <a:t>□ Phân chia, điều phối nhiều tác vụ (task) khác nhau trong cùng một khoảng thời gian.</a:t>
            </a:r>
          </a:p>
          <a:p>
            <a:pPr>
              <a:defRPr sz="1700">
                <a:solidFill>
                  <a:srgbClr val="1C1C1C"/>
                </a:solidFill>
                <a:latin typeface="Arial"/>
              </a:defRPr>
            </a:pPr>
            <a:r>
              <a:t>□ Tại 1 thời điểm, chỉ xử lý 1 task.</a:t>
            </a:r>
          </a:p>
        </p:txBody>
      </p:sp>
      <p:pic>
        <p:nvPicPr>
          <p:cNvPr id="4" name="Picture 3" descr="slide_3_img_1_34.png"/>
          <p:cNvPicPr>
            <a:picLocks noChangeAspect="1"/>
          </p:cNvPicPr>
          <p:nvPr/>
        </p:nvPicPr>
        <p:blipFill>
          <a:blip r:embed="rId3"/>
          <a:stretch>
            <a:fillRect/>
          </a:stretch>
        </p:blipFill>
        <p:spPr>
          <a:xfrm>
            <a:off x="457200" y="3840480"/>
            <a:ext cx="8229600" cy="146304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Bản chất cốt lõi: </a:t>
            </a:r>
            <a:r>
              <a:rPr sz="1150" b="0">
                <a:solidFill>
                  <a:srgbClr val="1C1C1C"/>
                </a:solidFill>
                <a:latin typeface="Arial"/>
              </a:rPr>
              <a:t>Đồng thời (Concurrency) nói về CẤU TRÚC chương trình (nhiều việc cùng tiến triển), không đồng nghĩa với song song vật lý.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5.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54480"/>
            <a:ext cx="8412480" cy="1828800"/>
          </a:xfrm>
          <a:prstGeom prst="rect">
            <a:avLst/>
          </a:prstGeom>
          <a:noFill/>
        </p:spPr>
        <p:txBody>
          <a:bodyPr wrap="square">
            <a:spAutoFit/>
          </a:bodyPr>
          <a:lstStyle/>
          <a:p>
            <a:pPr>
              <a:spcAft>
                <a:spcPts val="800"/>
              </a:spcAft>
              <a:defRPr sz="2100" b="1">
                <a:solidFill>
                  <a:srgbClr val="1C1C1C"/>
                </a:solidFill>
                <a:latin typeface="Arial"/>
              </a:defRPr>
            </a:pPr>
            <a:r>
              <a:t>➢ Xử lý song song</a:t>
            </a:r>
          </a:p>
          <a:p>
            <a:pPr>
              <a:spcAft>
                <a:spcPts val="600"/>
              </a:spcAft>
              <a:defRPr sz="1700">
                <a:solidFill>
                  <a:srgbClr val="1C1C1C"/>
                </a:solidFill>
                <a:latin typeface="Arial"/>
              </a:defRPr>
            </a:pPr>
            <a:r>
              <a:t>□ Nhiều task khác nhau được xử lý trong cùng 1 thời điểm;</a:t>
            </a:r>
          </a:p>
          <a:p>
            <a:pPr>
              <a:spcAft>
                <a:spcPts val="600"/>
              </a:spcAft>
              <a:defRPr sz="1700">
                <a:solidFill>
                  <a:srgbClr val="1C1C1C"/>
                </a:solidFill>
                <a:latin typeface="Arial"/>
              </a:defRPr>
            </a:pPr>
            <a:r>
              <a:t>□ Các task hoàn toàn độc lập nhau.</a:t>
            </a:r>
          </a:p>
          <a:p>
            <a:pPr>
              <a:defRPr sz="1700">
                <a:solidFill>
                  <a:srgbClr val="1C1C1C"/>
                </a:solidFill>
                <a:latin typeface="Arial"/>
              </a:defRPr>
            </a:pPr>
            <a:r>
              <a:t>□ Chỉ có thể thực hiện trên máy có số nhân (core) lớn hơn 1.</a:t>
            </a:r>
          </a:p>
        </p:txBody>
      </p:sp>
      <p:pic>
        <p:nvPicPr>
          <p:cNvPr id="4" name="Picture 3" descr="slide_5_img_1_40.png"/>
          <p:cNvPicPr>
            <a:picLocks noChangeAspect="1"/>
          </p:cNvPicPr>
          <p:nvPr/>
        </p:nvPicPr>
        <p:blipFill>
          <a:blip r:embed="rId3"/>
          <a:stretch>
            <a:fillRect/>
          </a:stretch>
        </p:blipFill>
        <p:spPr>
          <a:xfrm>
            <a:off x="1645920" y="3657600"/>
            <a:ext cx="5852160" cy="164592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Điều kiện phần cứng: </a:t>
            </a:r>
            <a:r>
              <a:rPr sz="1150" b="0">
                <a:solidFill>
                  <a:srgbClr val="1C1C1C"/>
                </a:solidFill>
                <a:latin typeface="Arial"/>
              </a:rPr>
              <a:t>Bắt buộc kiến trúc Đa nhân (Multi-core / Multi-CPU). Nhiều lệnh được thực thi vật lý đồng thời tại cùng tích tắc.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6.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54480"/>
            <a:ext cx="8412480" cy="1828800"/>
          </a:xfrm>
          <a:prstGeom prst="rect">
            <a:avLst/>
          </a:prstGeom>
          <a:noFill/>
        </p:spPr>
        <p:txBody>
          <a:bodyPr wrap="square">
            <a:spAutoFit/>
          </a:bodyPr>
          <a:lstStyle/>
          <a:p>
            <a:pPr>
              <a:spcAft>
                <a:spcPts val="800"/>
              </a:spcAft>
              <a:defRPr sz="2100" b="1">
                <a:solidFill>
                  <a:srgbClr val="1C1C1C"/>
                </a:solidFill>
                <a:latin typeface="Arial"/>
              </a:defRPr>
            </a:pPr>
            <a:r>
              <a:t>➢ Xử lý song song</a:t>
            </a:r>
          </a:p>
          <a:p>
            <a:pPr>
              <a:spcAft>
                <a:spcPts val="600"/>
              </a:spcAft>
              <a:defRPr sz="1700">
                <a:solidFill>
                  <a:srgbClr val="1C1C1C"/>
                </a:solidFill>
                <a:latin typeface="Arial"/>
              </a:defRPr>
            </a:pPr>
            <a:r>
              <a:t>□ Trên thực tế, trên mỗi nhân của CPU vẫn xảy ra quá trình xử lý đồng thời, với điều kiện là tại một thời điểm không xảy ra việc xử lý cùng một task trên hai nhân CPU khác nhau.</a:t>
            </a:r>
          </a:p>
        </p:txBody>
      </p:sp>
      <p:pic>
        <p:nvPicPr>
          <p:cNvPr id="4" name="Picture 3" descr="slide_6_img_1_44.png"/>
          <p:cNvPicPr>
            <a:picLocks noChangeAspect="1"/>
          </p:cNvPicPr>
          <p:nvPr/>
        </p:nvPicPr>
        <p:blipFill>
          <a:blip r:embed="rId3"/>
          <a:stretch>
            <a:fillRect/>
          </a:stretch>
        </p:blipFill>
        <p:spPr>
          <a:xfrm>
            <a:off x="1645920" y="3474720"/>
            <a:ext cx="5852160" cy="182880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Kiến trúc phân cấp: </a:t>
            </a:r>
            <a:r>
              <a:rPr sz="1150" b="0">
                <a:solidFill>
                  <a:srgbClr val="1C1C1C"/>
                </a:solidFill>
                <a:latin typeface="Arial"/>
              </a:rPr>
              <a:t>Hệ điều hành hiện đại kết hợp: Song song thực sự giữa các CPU Core và Đồng thời chia sẻ thời gian bên trong từng 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7.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54480"/>
            <a:ext cx="4114800" cy="3840480"/>
          </a:xfrm>
          <a:prstGeom prst="rect">
            <a:avLst/>
          </a:prstGeom>
          <a:noFill/>
        </p:spPr>
        <p:txBody>
          <a:bodyPr wrap="square">
            <a:spAutoFit/>
          </a:bodyPr>
          <a:lstStyle/>
          <a:p>
            <a:pPr>
              <a:spcAft>
                <a:spcPts val="800"/>
              </a:spcAft>
              <a:defRPr sz="2100" b="1">
                <a:solidFill>
                  <a:srgbClr val="1C1C1C"/>
                </a:solidFill>
                <a:latin typeface="Arial"/>
              </a:defRPr>
            </a:pPr>
            <a:r>
              <a:t>➢ Bất đồng bộ</a:t>
            </a:r>
          </a:p>
          <a:p>
            <a:pPr>
              <a:spcAft>
                <a:spcPts val="800"/>
              </a:spcAft>
              <a:defRPr sz="1500">
                <a:solidFill>
                  <a:srgbClr val="1C1C1C"/>
                </a:solidFill>
                <a:latin typeface="Arial"/>
              </a:defRPr>
            </a:pPr>
            <a:r>
              <a:t>□ Cho phép các task được xử lý không theo thứ tự (có thể chuyển sang task khác trước khi task trước đó hoàn thành).</a:t>
            </a:r>
          </a:p>
          <a:p>
            <a:pPr>
              <a:spcAft>
                <a:spcPts val="800"/>
              </a:spcAft>
              <a:defRPr sz="1500">
                <a:solidFill>
                  <a:srgbClr val="1C1C1C"/>
                </a:solidFill>
                <a:latin typeface="Arial"/>
              </a:defRPr>
            </a:pPr>
            <a:r>
              <a:t>□ Có thể giải quyết nhiều yêu cầu đồng thời.</a:t>
            </a:r>
          </a:p>
          <a:p>
            <a:pPr>
              <a:spcAft>
                <a:spcPts val="800"/>
              </a:spcAft>
              <a:defRPr sz="1500">
                <a:solidFill>
                  <a:srgbClr val="1C1C1C"/>
                </a:solidFill>
                <a:latin typeface="Arial"/>
              </a:defRPr>
            </a:pPr>
            <a:r>
              <a:t>□ Hoàn thành trong khoảng thời gian ngắn hơn.</a:t>
            </a:r>
          </a:p>
          <a:p>
            <a:pPr>
              <a:defRPr sz="1600" b="1">
                <a:solidFill>
                  <a:srgbClr val="B4281E"/>
                </a:solidFill>
                <a:latin typeface="Arial"/>
              </a:defRPr>
            </a:pPr>
            <a:r>
              <a:t>□ VD: Đi thi, bãi giữ xe, ...</a:t>
            </a:r>
          </a:p>
        </p:txBody>
      </p:sp>
      <p:pic>
        <p:nvPicPr>
          <p:cNvPr id="4" name="Picture 3" descr="slide_7_img_1_48.jpeg"/>
          <p:cNvPicPr>
            <a:picLocks noChangeAspect="1"/>
          </p:cNvPicPr>
          <p:nvPr/>
        </p:nvPicPr>
        <p:blipFill>
          <a:blip r:embed="rId3"/>
          <a:stretch>
            <a:fillRect/>
          </a:stretch>
        </p:blipFill>
        <p:spPr>
          <a:xfrm>
            <a:off x="4572000" y="1737360"/>
            <a:ext cx="4206240" cy="356616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So sánh 3 mô hình lập trình: </a:t>
            </a:r>
            <a:r>
              <a:rPr sz="1150" b="0">
                <a:solidFill>
                  <a:srgbClr val="1C1C1C"/>
                </a:solidFill>
                <a:latin typeface="Arial"/>
              </a:rPr>
              <a:t>Synchronous (chặn theo thứ tự) vs Threaded (mỗi task 1 luồng tốn RAM) vs Asynchronous (1 luồng không chặn, xen kẽ linh hoạt).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ean_template_slide_8.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1508760"/>
            <a:ext cx="8412480" cy="2743200"/>
          </a:xfrm>
          <a:prstGeom prst="rect">
            <a:avLst/>
          </a:prstGeom>
          <a:noFill/>
        </p:spPr>
        <p:txBody>
          <a:bodyPr wrap="square">
            <a:spAutoFit/>
          </a:bodyPr>
          <a:lstStyle/>
          <a:p>
            <a:pPr>
              <a:spcAft>
                <a:spcPts val="800"/>
              </a:spcAft>
              <a:defRPr sz="2100" b="1">
                <a:solidFill>
                  <a:srgbClr val="1C1C1C"/>
                </a:solidFill>
                <a:latin typeface="Arial"/>
              </a:defRPr>
            </a:pPr>
            <a:r>
              <a:t>➢ Mô hình bất đồng bộ thực thi đồng thời</a:t>
            </a:r>
          </a:p>
          <a:p>
            <a:pPr>
              <a:spcAft>
                <a:spcPts val="600"/>
              </a:spcAft>
              <a:defRPr sz="1550">
                <a:solidFill>
                  <a:srgbClr val="1C1C1C"/>
                </a:solidFill>
                <a:latin typeface="Arial"/>
              </a:defRPr>
            </a:pPr>
            <a:r>
              <a:t>□ Trong một khoảng thời gian, các task thực hiện xen kẽ nhau;</a:t>
            </a:r>
          </a:p>
          <a:p>
            <a:pPr>
              <a:spcAft>
                <a:spcPts val="600"/>
              </a:spcAft>
              <a:defRPr sz="1550">
                <a:solidFill>
                  <a:srgbClr val="1C1C1C"/>
                </a:solidFill>
                <a:latin typeface="Arial"/>
              </a:defRPr>
            </a:pPr>
            <a:r>
              <a:t>□ Nằm trong một luồng điều khiển duy nhất → khi 1 task đang thực thi thì các task khác không thực thi (việc thực thi của 1 task có thể bị tạm dừng và sau đó tiếp tục lại);</a:t>
            </a:r>
          </a:p>
          <a:p>
            <a:pPr>
              <a:defRPr sz="1550">
                <a:solidFill>
                  <a:srgbClr val="1C1C1C"/>
                </a:solidFill>
                <a:latin typeface="Arial"/>
              </a:defRPr>
            </a:pPr>
            <a:r>
              <a:t>□ Sử dụng một luồng điều khiển chính duy nhất, cả trong hệ thống đơn bộ xử lý (uniprocessor systems) và hệ thống đa bộ xử lý (multiprocessor systems).</a:t>
            </a:r>
          </a:p>
        </p:txBody>
      </p:sp>
      <p:pic>
        <p:nvPicPr>
          <p:cNvPr id="4" name="Picture 3" descr="slide_8_img_1_51.png"/>
          <p:cNvPicPr>
            <a:picLocks noChangeAspect="1"/>
          </p:cNvPicPr>
          <p:nvPr/>
        </p:nvPicPr>
        <p:blipFill>
          <a:blip r:embed="rId3"/>
          <a:stretch>
            <a:fillRect/>
          </a:stretch>
        </p:blipFill>
        <p:spPr>
          <a:xfrm>
            <a:off x="914400" y="4389120"/>
            <a:ext cx="7315200" cy="1051560"/>
          </a:xfrm>
          <a:prstGeom prst="rect">
            <a:avLst/>
          </a:prstGeom>
        </p:spPr>
      </p:pic>
      <p:sp>
        <p:nvSpPr>
          <p:cNvPr id="5" name="Rectangle 4"/>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Nguyên lý Single-Thread Cooperative: </a:t>
            </a:r>
            <a:r>
              <a:rPr sz="1150" b="0">
                <a:solidFill>
                  <a:srgbClr val="1C1C1C"/>
                </a:solidFill>
                <a:latin typeface="Arial"/>
              </a:rPr>
              <a:t>Nền tảng của Event Loop trong Python asyncio: Task tạm dừng (yield) khi chờ I/O, nhường quyền cho task khác chạy trên cùng 1 luồng.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9</a:t>
            </a:r>
          </a:p>
        </p:txBody>
      </p:sp>
      <p:sp>
        <p:nvSpPr>
          <p:cNvPr id="4" name="TextBox 3"/>
          <p:cNvSpPr txBox="1"/>
          <p:nvPr/>
        </p:nvSpPr>
        <p:spPr>
          <a:xfrm>
            <a:off x="960120" y="6217920"/>
            <a:ext cx="5669280" cy="457200"/>
          </a:xfrm>
          <a:prstGeom prst="rect">
            <a:avLst/>
          </a:prstGeom>
          <a:noFill/>
        </p:spPr>
        <p:txBody>
          <a:bodyPr wrap="none">
            <a:spAutoFit/>
          </a:bodyPr>
          <a:lstStyle/>
          <a:p>
            <a:pPr>
              <a:defRPr sz="1600" b="1">
                <a:solidFill>
                  <a:srgbClr val="1C1C1C"/>
                </a:solidFill>
              </a:defRPr>
            </a:pPr>
            <a:r>
              <a:t>Phân tích Ví dụ gốc - Bãi giữ xe &amp; Đi thi</a:t>
            </a:r>
          </a:p>
        </p:txBody>
      </p:sp>
      <p:sp>
        <p:nvSpPr>
          <p:cNvPr id="5" name="TextBox 4"/>
          <p:cNvSpPr txBox="1"/>
          <p:nvPr/>
        </p:nvSpPr>
        <p:spPr>
          <a:xfrm>
            <a:off x="365760" y="1371600"/>
            <a:ext cx="8412480" cy="731520"/>
          </a:xfrm>
          <a:prstGeom prst="rect">
            <a:avLst/>
          </a:prstGeom>
          <a:noFill/>
        </p:spPr>
        <p:txBody>
          <a:bodyPr wrap="none">
            <a:spAutoFit/>
          </a:bodyPr>
          <a:lstStyle/>
          <a:p>
            <a:pPr>
              <a:defRPr sz="2100" b="1">
                <a:solidFill>
                  <a:srgbClr val="1C1C1C"/>
                </a:solidFill>
                <a:latin typeface="Arial"/>
              </a:defRPr>
            </a:pPr>
            <a:r>
              <a:t>➢ Phân tích bản chất qua 2 ví dụ đời sống gốc</a:t>
            </a:r>
          </a:p>
        </p:txBody>
      </p:sp>
      <p:sp>
        <p:nvSpPr>
          <p:cNvPr id="6" name="Rectangle 5"/>
          <p:cNvSpPr/>
          <p:nvPr/>
        </p:nvSpPr>
        <p:spPr>
          <a:xfrm>
            <a:off x="365760" y="2011680"/>
            <a:ext cx="4069080" cy="338328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b="1" sz="1400">
                <a:solidFill>
                  <a:srgbClr val="E04B3B"/>
                </a:solidFill>
              </a:defRPr>
            </a:pPr>
            <a:r>
              <a:t>🅿️ VÍ DỤ 1: BÃI GIỮ XE THÔNG MINH</a:t>
            </a:r>
          </a:p>
          <a:p>
            <a:pPr>
              <a:spcAft>
                <a:spcPts val="600"/>
              </a:spcAft>
              <a:defRPr sz="1200">
                <a:solidFill>
                  <a:srgbClr val="1C1C1C"/>
                </a:solidFill>
              </a:defRPr>
            </a:pPr>
            <a:r>
              <a:t>• Tuần tự (Blocking): Bảo vệ phát thẻ xe cho Xe 1 → Đứng chờ Xe 1 chạy vào bãi tìm chỗ đỗ xong xuôi → Mới phát thẻ cho Xe 2.</a:t>
            </a:r>
          </a:p>
          <a:p>
            <a:pPr>
              <a:spcAft>
                <a:spcPts val="800"/>
              </a:spcAft>
              <a:defRPr sz="1150" i="1">
                <a:solidFill>
                  <a:srgbClr val="B4281E"/>
                </a:solidFill>
              </a:defRPr>
            </a:pPr>
            <a:r>
              <a:t>→ Hậu quả: Cổng giữ xe bị ùn tắc nghiêm trọng! Thời gian chờ là tổng thời gian tìm chỗ đỗ của từng xe.</a:t>
            </a:r>
          </a:p>
          <a:p>
            <a:pPr>
              <a:spcAft>
                <a:spcPts val="600"/>
              </a:spcAft>
              <a:defRPr sz="1200">
                <a:solidFill>
                  <a:srgbClr val="1C1C1C"/>
                </a:solidFill>
              </a:defRPr>
            </a:pPr>
            <a:r>
              <a:t>• Bất đồng bộ (Async Non-blocking): Bảo vệ quẹt thẻ trao vé trong 2 giây → Xe 1 tự vào bãi tìm chỗ (I/O chờ) → Bảo vệ đón ngay Xe 2!</a:t>
            </a:r>
          </a:p>
          <a:p>
            <a:pPr>
              <a:defRPr sz="1150" b="1">
                <a:solidFill>
                  <a:srgbClr val="10783C"/>
                </a:solidFill>
              </a:defRPr>
            </a:pPr>
            <a:r>
              <a:t>→ Bản chất: Luồng bảo vệ không bị chặn (Non-blocking). Nhiều người tìm chỗ đỗ đồng thời, cổng ra vào thông suốt liên tục.</a:t>
            </a:r>
          </a:p>
        </p:txBody>
      </p:sp>
      <p:sp>
        <p:nvSpPr>
          <p:cNvPr id="7" name="Rectangle 6"/>
          <p:cNvSpPr/>
          <p:nvPr/>
        </p:nvSpPr>
        <p:spPr>
          <a:xfrm>
            <a:off x="4709160" y="2011680"/>
            <a:ext cx="4069080" cy="338328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800"/>
              </a:spcAft>
              <a:defRPr b="1" sz="1400">
                <a:solidFill>
                  <a:srgbClr val="0284C7"/>
                </a:solidFill>
              </a:defRPr>
            </a:pPr>
            <a:r>
              <a:t>📝 VÍ DỤ 2: ĐI THI (LÀM BÀI TRẮC NGHIỆM)</a:t>
            </a:r>
          </a:p>
          <a:p>
            <a:pPr>
              <a:spcAft>
                <a:spcPts val="600"/>
              </a:spcAft>
              <a:defRPr sz="1200">
                <a:solidFill>
                  <a:srgbClr val="1C1C1C"/>
                </a:solidFill>
              </a:defRPr>
            </a:pPr>
            <a:r>
              <a:t>• Tuần tự (Blocking): Thí sinh làm từ Câu 1 → Câu 2 → Gặp Câu 3 quá khó → Ngồi nghĩ 30 phút → Hết giờ mà chưa kịp đọc các câu sau.</a:t>
            </a:r>
          </a:p>
          <a:p>
            <a:pPr>
              <a:spcAft>
                <a:spcPts val="800"/>
              </a:spcAft>
              <a:defRPr sz="1150" i="1">
                <a:solidFill>
                  <a:srgbClr val="B4281E"/>
                </a:solidFill>
              </a:defRPr>
            </a:pPr>
            <a:r>
              <a:t>→ Hậu quả: Bị nghẽn toàn bộ bài thi! Điểm số thấp vì thời gian bị chôn chân tại câu khó.</a:t>
            </a:r>
          </a:p>
          <a:p>
            <a:pPr>
              <a:spcAft>
                <a:spcPts val="600"/>
              </a:spcAft>
              <a:defRPr sz="1200">
                <a:solidFill>
                  <a:srgbClr val="1C1C1C"/>
                </a:solidFill>
              </a:defRPr>
            </a:pPr>
            <a:r>
              <a:t>• Bất đồng bộ (Async): Gặp Câu 3 khó (chờ xử lý) → Đánh dấu tạm gác lại (Yield/Pause) → Chuyển sang làm ngay Câu 4, 5, 6 dễ!</a:t>
            </a:r>
          </a:p>
          <a:p>
            <a:pPr>
              <a:defRPr sz="1150" b="1">
                <a:solidFill>
                  <a:srgbClr val="10783C"/>
                </a:solidFill>
              </a:defRPr>
            </a:pPr>
            <a:r>
              <a:t>→ Bản chất: Không để thời gian chờ làm tắc nghẽn công việc. Khi làm hết câu dễ, quay lại tiếp tục giải câu 3 (Resume).</a:t>
            </a:r>
          </a:p>
        </p:txBody>
      </p:sp>
      <p:sp>
        <p:nvSpPr>
          <p:cNvPr id="8" name="Rectangle 7"/>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Bài học cốt lõi: </a:t>
            </a:r>
            <a:r>
              <a:rPr sz="1150" b="0">
                <a:solidFill>
                  <a:srgbClr val="1C1C1C"/>
                </a:solidFill>
                <a:latin typeface="Arial"/>
              </a:rPr>
              <a:t>Bất đồng bộ không làm cho từng phép tính nhanh hơn, mà giúp HỆ THỐNG KHÔNG BỊ TREO khi có tác vụ mất thời gian chờ đợi.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10</a:t>
            </a:r>
          </a:p>
        </p:txBody>
      </p:sp>
      <p:sp>
        <p:nvSpPr>
          <p:cNvPr id="4" name="TextBox 3"/>
          <p:cNvSpPr txBox="1"/>
          <p:nvPr/>
        </p:nvSpPr>
        <p:spPr>
          <a:xfrm>
            <a:off x="960120" y="6217920"/>
            <a:ext cx="5669280" cy="457200"/>
          </a:xfrm>
          <a:prstGeom prst="rect">
            <a:avLst/>
          </a:prstGeom>
          <a:noFill/>
        </p:spPr>
        <p:txBody>
          <a:bodyPr wrap="none">
            <a:spAutoFit/>
          </a:bodyPr>
          <a:lstStyle/>
          <a:p>
            <a:pPr>
              <a:defRPr sz="1600" b="1">
                <a:solidFill>
                  <a:srgbClr val="1C1C1C"/>
                </a:solidFill>
              </a:defRPr>
            </a:pPr>
            <a:r>
              <a:t>Tổng kết Nền tảng &amp; Ma trận Đối chiếu</a:t>
            </a:r>
          </a:p>
        </p:txBody>
      </p:sp>
      <p:sp>
        <p:nvSpPr>
          <p:cNvPr id="5" name="TextBox 4"/>
          <p:cNvSpPr txBox="1"/>
          <p:nvPr/>
        </p:nvSpPr>
        <p:spPr>
          <a:xfrm>
            <a:off x="365760" y="1371600"/>
            <a:ext cx="8412480" cy="731520"/>
          </a:xfrm>
          <a:prstGeom prst="rect">
            <a:avLst/>
          </a:prstGeom>
          <a:noFill/>
        </p:spPr>
        <p:txBody>
          <a:bodyPr wrap="none">
            <a:spAutoFit/>
          </a:bodyPr>
          <a:lstStyle/>
          <a:p>
            <a:pPr>
              <a:defRPr sz="2100" b="1">
                <a:solidFill>
                  <a:srgbClr val="1C1C1C"/>
                </a:solidFill>
                <a:latin typeface="Arial"/>
              </a:defRPr>
            </a:pPr>
            <a:r>
              <a:t>➢ Ma trận đối chiếu 4 mô hình tính toán nền tảng</a:t>
            </a:r>
          </a:p>
        </p:txBody>
      </p:sp>
      <p:graphicFrame>
        <p:nvGraphicFramePr>
          <p:cNvPr id="6" name="Table 5"/>
          <p:cNvGraphicFramePr>
            <a:graphicFrameLocks noGrp="1"/>
          </p:cNvGraphicFramePr>
          <p:nvPr/>
        </p:nvGraphicFramePr>
        <p:xfrm>
          <a:off x="365760" y="2011680"/>
          <a:ext cx="8412480" cy="3291840"/>
        </p:xfrm>
        <a:graphic>
          <a:graphicData uri="http://schemas.openxmlformats.org/drawingml/2006/table">
            <a:tbl>
              <a:tblPr firstRow="1" bandRow="1">
                <a:tableStyleId>{5C22544A-7EE6-4342-B048-85BDC9FD1C3A}</a:tableStyleId>
              </a:tblPr>
              <a:tblGrid>
                <a:gridCol w="1828800"/>
                <a:gridCol w="1554480"/>
                <a:gridCol w="1645920"/>
                <a:gridCol w="1691640"/>
                <a:gridCol w="1691640"/>
              </a:tblGrid>
              <a:tr h="658368">
                <a:tc>
                  <a:txBody>
                    <a:bodyPr/>
                    <a:lstStyle/>
                    <a:p>
                      <a:pPr algn="ctr">
                        <a:defRPr sz="1200" b="1">
                          <a:solidFill>
                            <a:srgbClr val="FFFFFF"/>
                          </a:solidFill>
                          <a:latin typeface="Arial"/>
                        </a:defRPr>
                      </a:pPr>
                      <a:r>
                        <a:t>Tiêu chí đối chiếu</a:t>
                      </a:r>
                    </a:p>
                  </a:txBody>
                  <a:tcPr>
                    <a:solidFill>
                      <a:srgbClr val="E04B3B"/>
                    </a:solidFill>
                  </a:tcPr>
                </a:tc>
                <a:tc>
                  <a:txBody>
                    <a:bodyPr/>
                    <a:lstStyle/>
                    <a:p>
                      <a:pPr algn="ctr">
                        <a:defRPr sz="1200" b="1">
                          <a:solidFill>
                            <a:srgbClr val="FFFFFF"/>
                          </a:solidFill>
                          <a:latin typeface="Arial"/>
                        </a:defRPr>
                      </a:pPr>
                      <a:r>
                        <a:t>Tuần tự</a:t>
                      </a:r>
                      <a:br/>
                      <a:r>
                        <a:t>(Sequential)</a:t>
                      </a:r>
                    </a:p>
                  </a:txBody>
                  <a:tcPr>
                    <a:solidFill>
                      <a:srgbClr val="E04B3B"/>
                    </a:solidFill>
                  </a:tcPr>
                </a:tc>
                <a:tc>
                  <a:txBody>
                    <a:bodyPr/>
                    <a:lstStyle/>
                    <a:p>
                      <a:pPr algn="ctr">
                        <a:defRPr sz="1200" b="1">
                          <a:solidFill>
                            <a:srgbClr val="FFFFFF"/>
                          </a:solidFill>
                          <a:latin typeface="Arial"/>
                        </a:defRPr>
                      </a:pPr>
                      <a:r>
                        <a:t>Đồng thời</a:t>
                      </a:r>
                      <a:br/>
                      <a:r>
                        <a:t>(Concurrency)</a:t>
                      </a:r>
                    </a:p>
                  </a:txBody>
                  <a:tcPr>
                    <a:solidFill>
                      <a:srgbClr val="E04B3B"/>
                    </a:solidFill>
                  </a:tcPr>
                </a:tc>
                <a:tc>
                  <a:txBody>
                    <a:bodyPr/>
                    <a:lstStyle/>
                    <a:p>
                      <a:pPr algn="ctr">
                        <a:defRPr sz="1200" b="1">
                          <a:solidFill>
                            <a:srgbClr val="FFFFFF"/>
                          </a:solidFill>
                          <a:latin typeface="Arial"/>
                        </a:defRPr>
                      </a:pPr>
                      <a:r>
                        <a:t>Song song</a:t>
                      </a:r>
                      <a:br/>
                      <a:r>
                        <a:t>(Parallelism)</a:t>
                      </a:r>
                    </a:p>
                  </a:txBody>
                  <a:tcPr>
                    <a:solidFill>
                      <a:srgbClr val="E04B3B"/>
                    </a:solidFill>
                  </a:tcPr>
                </a:tc>
                <a:tc>
                  <a:txBody>
                    <a:bodyPr/>
                    <a:lstStyle/>
                    <a:p>
                      <a:pPr algn="ctr">
                        <a:defRPr sz="1200" b="1">
                          <a:solidFill>
                            <a:srgbClr val="FFFFFF"/>
                          </a:solidFill>
                          <a:latin typeface="Arial"/>
                        </a:defRPr>
                      </a:pPr>
                      <a:r>
                        <a:t>Bất đồng bộ</a:t>
                      </a:r>
                      <a:br/>
                      <a:r>
                        <a:t>(Asynchronous)</a:t>
                      </a:r>
                    </a:p>
                  </a:txBody>
                  <a:tcPr>
                    <a:solidFill>
                      <a:srgbClr val="E04B3B"/>
                    </a:solidFill>
                  </a:tcPr>
                </a:tc>
              </a:tr>
              <a:tr h="658368">
                <a:tc>
                  <a:txBody>
                    <a:bodyPr/>
                    <a:lstStyle/>
                    <a:p>
                      <a:pPr algn="l">
                        <a:defRPr sz="1100" b="1">
                          <a:solidFill>
                            <a:srgbClr val="1C1C1C"/>
                          </a:solidFill>
                          <a:latin typeface="Arial"/>
                        </a:defRPr>
                      </a:pPr>
                      <a:r>
                        <a:t>Đơn vị điều phối</a:t>
                      </a:r>
                    </a:p>
                  </a:txBody>
                  <a:tcPr>
                    <a:solidFill>
                      <a:srgbClr val="FFFFFF"/>
                    </a:solidFill>
                  </a:tcPr>
                </a:tc>
                <a:tc>
                  <a:txBody>
                    <a:bodyPr/>
                    <a:lstStyle/>
                    <a:p>
                      <a:pPr algn="ctr">
                        <a:defRPr sz="1100" b="0">
                          <a:solidFill>
                            <a:srgbClr val="1C1C1C"/>
                          </a:solidFill>
                          <a:latin typeface="Arial"/>
                        </a:defRPr>
                      </a:pPr>
                      <a:r>
                        <a:t>Chỉ thị lệnh (Instruction)</a:t>
                      </a:r>
                    </a:p>
                  </a:txBody>
                  <a:tcPr>
                    <a:solidFill>
                      <a:srgbClr val="FFFFFF"/>
                    </a:solidFill>
                  </a:tcPr>
                </a:tc>
                <a:tc>
                  <a:txBody>
                    <a:bodyPr/>
                    <a:lstStyle/>
                    <a:p>
                      <a:pPr algn="ctr">
                        <a:defRPr sz="1100" b="0">
                          <a:solidFill>
                            <a:srgbClr val="1C1C1C"/>
                          </a:solidFill>
                          <a:latin typeface="Arial"/>
                        </a:defRPr>
                      </a:pPr>
                      <a:r>
                        <a:t>Process / Thread</a:t>
                      </a:r>
                    </a:p>
                  </a:txBody>
                  <a:tcPr>
                    <a:solidFill>
                      <a:srgbClr val="FFFFFF"/>
                    </a:solidFill>
                  </a:tcPr>
                </a:tc>
                <a:tc>
                  <a:txBody>
                    <a:bodyPr/>
                    <a:lstStyle/>
                    <a:p>
                      <a:pPr algn="ctr">
                        <a:defRPr sz="1100" b="0">
                          <a:solidFill>
                            <a:srgbClr val="1C1C1C"/>
                          </a:solidFill>
                          <a:latin typeface="Arial"/>
                        </a:defRPr>
                      </a:pPr>
                      <a:r>
                        <a:t>CPU Core vật lý</a:t>
                      </a:r>
                    </a:p>
                  </a:txBody>
                  <a:tcPr>
                    <a:solidFill>
                      <a:srgbClr val="FFFFFF"/>
                    </a:solidFill>
                  </a:tcPr>
                </a:tc>
                <a:tc>
                  <a:txBody>
                    <a:bodyPr/>
                    <a:lstStyle/>
                    <a:p>
                      <a:pPr algn="ctr">
                        <a:defRPr sz="1100" b="0">
                          <a:solidFill>
                            <a:srgbClr val="1C1C1C"/>
                          </a:solidFill>
                          <a:latin typeface="Arial"/>
                        </a:defRPr>
                      </a:pPr>
                      <a:r>
                        <a:t>Coroutine / Task</a:t>
                      </a:r>
                    </a:p>
                  </a:txBody>
                  <a:tcPr>
                    <a:solidFill>
                      <a:srgbClr val="FFFFFF"/>
                    </a:solidFill>
                  </a:tcPr>
                </a:tc>
              </a:tr>
              <a:tr h="658368">
                <a:tc>
                  <a:txBody>
                    <a:bodyPr/>
                    <a:lstStyle/>
                    <a:p>
                      <a:pPr algn="l">
                        <a:defRPr sz="1100" b="1">
                          <a:solidFill>
                            <a:srgbClr val="1C1C1C"/>
                          </a:solidFill>
                          <a:latin typeface="Arial"/>
                        </a:defRPr>
                      </a:pPr>
                      <a:r>
                        <a:t>Yêu cầu phần cứng</a:t>
                      </a:r>
                    </a:p>
                  </a:txBody>
                  <a:tcPr>
                    <a:solidFill>
                      <a:srgbClr val="F5F7FA"/>
                    </a:solidFill>
                  </a:tcPr>
                </a:tc>
                <a:tc>
                  <a:txBody>
                    <a:bodyPr/>
                    <a:lstStyle/>
                    <a:p>
                      <a:pPr algn="ctr">
                        <a:defRPr sz="1100" b="0">
                          <a:solidFill>
                            <a:srgbClr val="1C1C1C"/>
                          </a:solidFill>
                          <a:latin typeface="Arial"/>
                        </a:defRPr>
                      </a:pPr>
                      <a:r>
                        <a:t>≥ 1 Core bất kỳ</a:t>
                      </a:r>
                    </a:p>
                  </a:txBody>
                  <a:tcPr>
                    <a:solidFill>
                      <a:srgbClr val="F5F7FA"/>
                    </a:solidFill>
                  </a:tcPr>
                </a:tc>
                <a:tc>
                  <a:txBody>
                    <a:bodyPr/>
                    <a:lstStyle/>
                    <a:p>
                      <a:pPr algn="ctr">
                        <a:defRPr sz="1100" b="0">
                          <a:solidFill>
                            <a:srgbClr val="1C1C1C"/>
                          </a:solidFill>
                          <a:latin typeface="Arial"/>
                        </a:defRPr>
                      </a:pPr>
                      <a:r>
                        <a:t>≥ 1 Core (Time-slicing)</a:t>
                      </a:r>
                    </a:p>
                  </a:txBody>
                  <a:tcPr>
                    <a:solidFill>
                      <a:srgbClr val="F5F7FA"/>
                    </a:solidFill>
                  </a:tcPr>
                </a:tc>
                <a:tc>
                  <a:txBody>
                    <a:bodyPr/>
                    <a:lstStyle/>
                    <a:p>
                      <a:pPr algn="ctr">
                        <a:defRPr sz="1100" b="0">
                          <a:solidFill>
                            <a:srgbClr val="1C1C1C"/>
                          </a:solidFill>
                          <a:latin typeface="Arial"/>
                        </a:defRPr>
                      </a:pPr>
                      <a:r>
                        <a:t>Đa nhân (Multi-core &gt; 1)</a:t>
                      </a:r>
                    </a:p>
                  </a:txBody>
                  <a:tcPr>
                    <a:solidFill>
                      <a:srgbClr val="F5F7FA"/>
                    </a:solidFill>
                  </a:tcPr>
                </a:tc>
                <a:tc>
                  <a:txBody>
                    <a:bodyPr/>
                    <a:lstStyle/>
                    <a:p>
                      <a:pPr algn="ctr">
                        <a:defRPr sz="1100" b="0">
                          <a:solidFill>
                            <a:srgbClr val="1C1C1C"/>
                          </a:solidFill>
                          <a:latin typeface="Arial"/>
                        </a:defRPr>
                      </a:pPr>
                      <a:r>
                        <a:t>≥ 1 Core (Single-thread)</a:t>
                      </a:r>
                    </a:p>
                  </a:txBody>
                  <a:tcPr>
                    <a:solidFill>
                      <a:srgbClr val="F5F7FA"/>
                    </a:solidFill>
                  </a:tcPr>
                </a:tc>
              </a:tr>
              <a:tr h="658368">
                <a:tc>
                  <a:txBody>
                    <a:bodyPr/>
                    <a:lstStyle/>
                    <a:p>
                      <a:pPr algn="l">
                        <a:defRPr sz="1100" b="1">
                          <a:solidFill>
                            <a:srgbClr val="1C1C1C"/>
                          </a:solidFill>
                          <a:latin typeface="Arial"/>
                        </a:defRPr>
                      </a:pPr>
                      <a:r>
                        <a:t>Khi gặp I/O chờ</a:t>
                      </a:r>
                    </a:p>
                  </a:txBody>
                  <a:tcPr>
                    <a:solidFill>
                      <a:srgbClr val="FFFFFF"/>
                    </a:solidFill>
                  </a:tcPr>
                </a:tc>
                <a:tc>
                  <a:txBody>
                    <a:bodyPr/>
                    <a:lstStyle/>
                    <a:p>
                      <a:pPr algn="ctr">
                        <a:defRPr sz="1100" b="0">
                          <a:solidFill>
                            <a:srgbClr val="1C1C1C"/>
                          </a:solidFill>
                          <a:latin typeface="Arial"/>
                        </a:defRPr>
                      </a:pPr>
                      <a:r>
                        <a:t>Nghẽn hoàn toàn (Block)</a:t>
                      </a:r>
                    </a:p>
                  </a:txBody>
                  <a:tcPr>
                    <a:solidFill>
                      <a:srgbClr val="FFFFFF"/>
                    </a:solidFill>
                  </a:tcPr>
                </a:tc>
                <a:tc>
                  <a:txBody>
                    <a:bodyPr/>
                    <a:lstStyle/>
                    <a:p>
                      <a:pPr algn="ctr">
                        <a:defRPr sz="1100" b="0">
                          <a:solidFill>
                            <a:srgbClr val="1C1C1C"/>
                          </a:solidFill>
                          <a:latin typeface="Arial"/>
                        </a:defRPr>
                      </a:pPr>
                      <a:r>
                        <a:t>HĐH chuyển ngữ cảnh</a:t>
                      </a:r>
                    </a:p>
                  </a:txBody>
                  <a:tcPr>
                    <a:solidFill>
                      <a:srgbClr val="FFFFFF"/>
                    </a:solidFill>
                  </a:tcPr>
                </a:tc>
                <a:tc>
                  <a:txBody>
                    <a:bodyPr/>
                    <a:lstStyle/>
                    <a:p>
                      <a:pPr algn="ctr">
                        <a:defRPr sz="1100" b="0">
                          <a:solidFill>
                            <a:srgbClr val="1C1C1C"/>
                          </a:solidFill>
                          <a:latin typeface="Arial"/>
                        </a:defRPr>
                      </a:pPr>
                      <a:r>
                        <a:t>Core khác vẫn chạy</a:t>
                      </a:r>
                    </a:p>
                  </a:txBody>
                  <a:tcPr>
                    <a:solidFill>
                      <a:srgbClr val="FFFFFF"/>
                    </a:solidFill>
                  </a:tcPr>
                </a:tc>
                <a:tc>
                  <a:txBody>
                    <a:bodyPr/>
                    <a:lstStyle/>
                    <a:p>
                      <a:pPr algn="ctr">
                        <a:defRPr sz="1100" b="0">
                          <a:solidFill>
                            <a:srgbClr val="1C1C1C"/>
                          </a:solidFill>
                          <a:latin typeface="Arial"/>
                        </a:defRPr>
                      </a:pPr>
                      <a:r>
                        <a:t>Tạm nhường quyền (Yield)</a:t>
                      </a:r>
                    </a:p>
                  </a:txBody>
                  <a:tcPr>
                    <a:solidFill>
                      <a:srgbClr val="FFFFFF"/>
                    </a:solidFill>
                  </a:tcPr>
                </a:tc>
              </a:tr>
              <a:tr h="658368">
                <a:tc>
                  <a:txBody>
                    <a:bodyPr/>
                    <a:lstStyle/>
                    <a:p>
                      <a:pPr algn="l">
                        <a:defRPr sz="1100" b="1">
                          <a:solidFill>
                            <a:srgbClr val="1C1C1C"/>
                          </a:solidFill>
                          <a:latin typeface="Arial"/>
                        </a:defRPr>
                      </a:pPr>
                      <a:r>
                        <a:t>Phù hợp bài toán</a:t>
                      </a:r>
                    </a:p>
                  </a:txBody>
                  <a:tcPr>
                    <a:solidFill>
                      <a:srgbClr val="F5F7FA"/>
                    </a:solidFill>
                  </a:tcPr>
                </a:tc>
                <a:tc>
                  <a:txBody>
                    <a:bodyPr/>
                    <a:lstStyle/>
                    <a:p>
                      <a:pPr algn="ctr">
                        <a:defRPr sz="1100" b="0">
                          <a:solidFill>
                            <a:srgbClr val="1C1C1C"/>
                          </a:solidFill>
                          <a:latin typeface="Arial"/>
                        </a:defRPr>
                      </a:pPr>
                      <a:r>
                        <a:t>Tuần tự, đơn giản</a:t>
                      </a:r>
                    </a:p>
                  </a:txBody>
                  <a:tcPr>
                    <a:solidFill>
                      <a:srgbClr val="F5F7FA"/>
                    </a:solidFill>
                  </a:tcPr>
                </a:tc>
                <a:tc>
                  <a:txBody>
                    <a:bodyPr/>
                    <a:lstStyle/>
                    <a:p>
                      <a:pPr algn="ctr">
                        <a:defRPr sz="1100" b="0">
                          <a:solidFill>
                            <a:srgbClr val="1C1C1C"/>
                          </a:solidFill>
                          <a:latin typeface="Arial"/>
                        </a:defRPr>
                      </a:pPr>
                      <a:r>
                        <a:t>I/O blocking đa luồng</a:t>
                      </a:r>
                    </a:p>
                  </a:txBody>
                  <a:tcPr>
                    <a:solidFill>
                      <a:srgbClr val="F5F7FA"/>
                    </a:solidFill>
                  </a:tcPr>
                </a:tc>
                <a:tc>
                  <a:txBody>
                    <a:bodyPr/>
                    <a:lstStyle/>
                    <a:p>
                      <a:pPr algn="ctr">
                        <a:defRPr sz="1100" b="0">
                          <a:solidFill>
                            <a:srgbClr val="1C1C1C"/>
                          </a:solidFill>
                          <a:latin typeface="Arial"/>
                        </a:defRPr>
                      </a:pPr>
                      <a:r>
                        <a:t>CPU-bound nặng</a:t>
                      </a:r>
                    </a:p>
                  </a:txBody>
                  <a:tcPr>
                    <a:solidFill>
                      <a:srgbClr val="F5F7FA"/>
                    </a:solidFill>
                  </a:tcPr>
                </a:tc>
                <a:tc>
                  <a:txBody>
                    <a:bodyPr/>
                    <a:lstStyle/>
                    <a:p>
                      <a:pPr algn="ctr">
                        <a:defRPr sz="1100" b="0">
                          <a:solidFill>
                            <a:srgbClr val="1C1C1C"/>
                          </a:solidFill>
                          <a:latin typeface="Arial"/>
                        </a:defRPr>
                      </a:pPr>
                      <a:r>
                        <a:t>I/O-bound nhiều kết nối</a:t>
                      </a:r>
                    </a:p>
                  </a:txBody>
                  <a:tcPr>
                    <a:solidFill>
                      <a:srgbClr val="F5F7FA"/>
                    </a:solidFill>
                  </a:tcPr>
                </a:tc>
              </a:tr>
            </a:tbl>
          </a:graphicData>
        </a:graphic>
      </p:graphicFrame>
      <p:sp>
        <p:nvSpPr>
          <p:cNvPr id="7" name="Rectangle 6"/>
          <p:cNvSpPr/>
          <p:nvPr/>
        </p:nvSpPr>
        <p:spPr>
          <a:xfrm>
            <a:off x="365760" y="5532120"/>
            <a:ext cx="8412480" cy="50292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150" b="1">
                <a:solidFill>
                  <a:srgbClr val="0284C7"/>
                </a:solidFill>
                <a:latin typeface="Arial"/>
              </a:defRPr>
            </a:pPr>
            <a:r>
              <a:t>※ Cầu nối học thuật: </a:t>
            </a:r>
            <a:r>
              <a:rPr sz="1150" b="0">
                <a:solidFill>
                  <a:srgbClr val="1C1C1C"/>
                </a:solidFill>
                <a:latin typeface="Arial"/>
              </a:rPr>
              <a:t>Nền tảng này mở đường trực tiếp sang Phần II: concurrent.futures (ThreadPool/ProcessPool) và Phần IV: asyncio trong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