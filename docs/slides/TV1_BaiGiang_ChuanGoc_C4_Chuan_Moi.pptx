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365760" y="2926080"/>
            <a:ext cx="8412480" cy="1371600"/>
          </a:xfrm>
          <a:prstGeom prst="rect">
            <a:avLst/>
          </a:prstGeom>
          <a:noFill/>
        </p:spPr>
        <p:txBody>
          <a:bodyPr wrap="square">
            <a:spAutoFit/>
          </a:bodyPr>
          <a:lstStyle/>
          <a:p>
            <a:pPr>
              <a:spcAft>
                <a:spcPts val="400"/>
              </a:spcAft>
              <a:defRPr sz="3200" b="1">
                <a:solidFill>
                  <a:srgbClr val="FFFFFF"/>
                </a:solidFill>
                <a:latin typeface="Arial"/>
              </a:defRPr>
            </a:pPr>
            <a:r>
              <a:t>CHƯƠNG  4:</a:t>
            </a:r>
          </a:p>
          <a:p>
            <a:pPr>
              <a:defRPr sz="2800" b="1">
                <a:solidFill>
                  <a:srgbClr val="FFFFFF"/>
                </a:solidFill>
                <a:latin typeface="Arial"/>
              </a:defRPr>
            </a:pPr>
            <a:r>
              <a:t>TÍNH TOÁN BẤT ĐỒNG BỘ TRONG PYTHON</a:t>
            </a:r>
          </a:p>
        </p:txBody>
      </p:sp>
      <p:sp>
        <p:nvSpPr>
          <p:cNvPr id="4" name="TextBox 3"/>
          <p:cNvSpPr txBox="1"/>
          <p:nvPr/>
        </p:nvSpPr>
        <p:spPr>
          <a:xfrm>
            <a:off x="365760" y="5120640"/>
            <a:ext cx="8412480" cy="1280160"/>
          </a:xfrm>
          <a:prstGeom prst="rect">
            <a:avLst/>
          </a:prstGeom>
          <a:noFill/>
        </p:spPr>
        <p:txBody>
          <a:bodyPr wrap="square">
            <a:spAutoFit/>
          </a:bodyPr>
          <a:lstStyle/>
          <a:p>
            <a:pPr>
              <a:defRPr sz="1350">
                <a:solidFill>
                  <a:srgbClr val="1C1C1C"/>
                </a:solidFill>
                <a:latin typeface="Arial"/>
              </a:defRPr>
            </a:pPr>
            <a:r>
              <a:t>Phần I: Tổng quan các Mô hình Tính toán Nền tảng</a:t>
            </a:r>
            <a:br/>
            <a:r>
              <a:t>(Tuần tự • Đồng thời • Song song • Bất đồng bộ)</a:t>
            </a:r>
            <a:br/>
            <a:r>
              <a:t>Giảng viên hướng dẫn: ThS. Lê Anh Nhã Uyên (lanuyen@ctuet.edu.vn)</a:t>
            </a:r>
            <a:br/>
            <a:r>
              <a:t>Khoa Công nghệ Thông tin — Trường Đại học Kỹ thuật - Công nghệ Cần Thơ</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2</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Nguyên lý Phân định: Xử lý Đồng thời và Xử lý Song song</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Phân định Bản chất: Xử lý Đồng thời khác biệt với Xử lý Song song</a:t>
            </a:r>
          </a:p>
        </p:txBody>
      </p:sp>
      <p:sp>
        <p:nvSpPr>
          <p:cNvPr id="6" name="TextBox 5"/>
          <p:cNvSpPr txBox="1"/>
          <p:nvPr/>
        </p:nvSpPr>
        <p:spPr>
          <a:xfrm>
            <a:off x="365760" y="1783080"/>
            <a:ext cx="8412480" cy="1737360"/>
          </a:xfrm>
          <a:prstGeom prst="rect">
            <a:avLst/>
          </a:prstGeom>
          <a:noFill/>
        </p:spPr>
        <p:txBody>
          <a:bodyPr wrap="square">
            <a:spAutoFit/>
          </a:bodyPr>
          <a:lstStyle/>
          <a:p>
            <a:pPr>
              <a:spcAft>
                <a:spcPts val="600"/>
              </a:spcAft>
              <a:defRPr sz="1350" b="1">
                <a:solidFill>
                  <a:srgbClr val="E74C3C"/>
                </a:solidFill>
                <a:latin typeface="Arial"/>
              </a:defRPr>
            </a:pPr>
            <a:r>
              <a:t>• Luận điểm kinh điển (Rob Pike, 2012): "Đồng thời là giải quyết nhiều việc cùng lúc; Song song là thực hiện nhiều việc tại cùng một thời điểm."</a:t>
            </a:r>
          </a:p>
          <a:p>
            <a:pPr>
              <a:spcAft>
                <a:spcPts val="400"/>
              </a:spcAft>
              <a:defRPr sz="1300">
                <a:solidFill>
                  <a:srgbClr val="1C1C1C"/>
                </a:solidFill>
                <a:latin typeface="Arial"/>
              </a:defRPr>
            </a:pPr>
            <a:r>
              <a:t>• Đồng thời là về CẤU TRÚC: Phân rã bài toán thành các phân hệ độc lập có thể điều phối và tiến triển đan xen.</a:t>
            </a:r>
          </a:p>
          <a:p>
            <a:pPr>
              <a:spcAft>
                <a:spcPts val="400"/>
              </a:spcAft>
              <a:defRPr sz="1300">
                <a:solidFill>
                  <a:srgbClr val="1C1C1C"/>
                </a:solidFill>
                <a:latin typeface="Arial"/>
              </a:defRPr>
            </a:pPr>
            <a:r>
              <a:t>• Song song là về THỰC THI: Vận hành đồng thời nhiều phép tính trên các mạch phần cứng vật lý độc lập.</a:t>
            </a:r>
          </a:p>
          <a:p>
            <a:pPr>
              <a:spcAft>
                <a:spcPts val="400"/>
              </a:spcAft>
              <a:defRPr sz="1300">
                <a:solidFill>
                  <a:srgbClr val="1C1C1C"/>
                </a:solidFill>
                <a:latin typeface="Arial"/>
              </a:defRPr>
            </a:pPr>
            <a:r>
              <a:t>• Ý nghĩa kiến trúc: Một chương trình có thể đạt tính đồng thời cao trên hệ thống chỉ có một bộ vi xử lý đơn nhân.</a:t>
            </a:r>
          </a:p>
        </p:txBody>
      </p:sp>
      <p:pic>
        <p:nvPicPr>
          <p:cNvPr id="7" name="Picture 6" descr="Parallelism_vs_concurrency.png"/>
          <p:cNvPicPr>
            <a:picLocks noChangeAspect="1"/>
          </p:cNvPicPr>
          <p:nvPr/>
        </p:nvPicPr>
        <p:blipFill>
          <a:blip r:embed="rId3"/>
          <a:stretch>
            <a:fillRect/>
          </a:stretch>
        </p:blipFill>
        <p:spPr>
          <a:xfrm>
            <a:off x="365760" y="3566160"/>
            <a:ext cx="8412480" cy="23774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3</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Lý thuyết Hệ điều hành — Khái niệm và Cấu trúc Tiến trình</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Tiến trình: Đơn vị Cô lập Tài nguyên của Hệ điều hành</a:t>
            </a:r>
          </a:p>
        </p:txBody>
      </p:sp>
      <p:sp>
        <p:nvSpPr>
          <p:cNvPr id="6" name="TextBox 5"/>
          <p:cNvSpPr txBox="1"/>
          <p:nvPr/>
        </p:nvSpPr>
        <p:spPr>
          <a:xfrm>
            <a:off x="365760" y="1828800"/>
            <a:ext cx="4846320" cy="4114800"/>
          </a:xfrm>
          <a:prstGeom prst="rect">
            <a:avLst/>
          </a:prstGeom>
          <a:noFill/>
        </p:spPr>
        <p:txBody>
          <a:bodyPr wrap="square">
            <a:spAutoFit/>
          </a:bodyPr>
          <a:lstStyle/>
          <a:p>
            <a:pPr>
              <a:spcAft>
                <a:spcPts val="600"/>
              </a:spcAft>
              <a:defRPr sz="1300" b="1">
                <a:solidFill>
                  <a:srgbClr val="1C1C1C"/>
                </a:solidFill>
                <a:latin typeface="Arial"/>
              </a:defRPr>
            </a:pPr>
            <a:r>
              <a:t>• Định nghĩa chuẩn học thuật: Tiến trình là một thể hiện của chương trình đang trong trạng thái thực thi.</a:t>
            </a:r>
          </a:p>
          <a:p>
            <a:pPr>
              <a:spcAft>
                <a:spcPts val="800"/>
              </a:spcAft>
              <a:defRPr sz="1250">
                <a:solidFill>
                  <a:srgbClr val="1C1C1C"/>
                </a:solidFill>
                <a:latin typeface="Arial"/>
              </a:defRPr>
            </a:pPr>
            <a:r>
              <a:t>• Không gian địa chỉ cô lập: Mỗi tiến trình sở hữu mã định danh riêng biệt và bảng trang ảo độc lập, ngăn ngừa can thiệp chéo.</a:t>
            </a:r>
          </a:p>
          <a:p>
            <a:pPr>
              <a:spcAft>
                <a:spcPts val="800"/>
              </a:spcAft>
              <a:defRPr sz="1250">
                <a:solidFill>
                  <a:srgbClr val="1C1C1C"/>
                </a:solidFill>
                <a:latin typeface="Arial"/>
              </a:defRPr>
            </a:pPr>
            <a:r>
              <a:t>• Cấu trúc bốn vùng nhớ: Vùng mã lệnh, vùng biến tĩnh, vùng nhớ cấp phát động và ngăn xếp cục bộ.</a:t>
            </a:r>
          </a:p>
          <a:p>
            <a:pPr>
              <a:spcAft>
                <a:spcPts val="800"/>
              </a:spcAft>
              <a:defRPr sz="1250">
                <a:solidFill>
                  <a:srgbClr val="1C1C1C"/>
                </a:solidFill>
                <a:latin typeface="Arial"/>
              </a:defRPr>
            </a:pPr>
            <a:r>
              <a:t>• Chi phí chuyển đổi ngữ cảnh: Hệ điều hành phải lưu khối điều khiển tiến trình, nạp lại thanh ghi và xóa sạch bộ đệm chuyển đổi địa chỉ.</a:t>
            </a:r>
          </a:p>
        </p:txBody>
      </p:sp>
      <p:pic>
        <p:nvPicPr>
          <p:cNvPr id="7" name="Picture 6" descr="Process_states.png"/>
          <p:cNvPicPr>
            <a:picLocks noChangeAspect="1"/>
          </p:cNvPicPr>
          <p:nvPr/>
        </p:nvPicPr>
        <p:blipFill>
          <a:blip r:embed="rId3"/>
          <a:stretch>
            <a:fillRect/>
          </a:stretch>
        </p:blipFill>
        <p:spPr>
          <a:xfrm>
            <a:off x="5394960" y="1828800"/>
            <a:ext cx="3383280" cy="4114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4</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Lý thuyết Hệ điều hành — Luồng và Mô hình Đa luồng</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Luồng: Đơn vị Thực thi Nhẹ và Chia sẻ Không gian Bộ nhớ</a:t>
            </a:r>
          </a:p>
        </p:txBody>
      </p:sp>
      <p:sp>
        <p:nvSpPr>
          <p:cNvPr id="6" name="TextBox 5"/>
          <p:cNvSpPr txBox="1"/>
          <p:nvPr/>
        </p:nvSpPr>
        <p:spPr>
          <a:xfrm>
            <a:off x="365760" y="1828800"/>
            <a:ext cx="4846320" cy="4114800"/>
          </a:xfrm>
          <a:prstGeom prst="rect">
            <a:avLst/>
          </a:prstGeom>
          <a:noFill/>
        </p:spPr>
        <p:txBody>
          <a:bodyPr wrap="square">
            <a:spAutoFit/>
          </a:bodyPr>
          <a:lstStyle/>
          <a:p>
            <a:pPr>
              <a:spcAft>
                <a:spcPts val="600"/>
              </a:spcAft>
              <a:defRPr sz="1300" b="1">
                <a:solidFill>
                  <a:srgbClr val="1C1C1C"/>
                </a:solidFill>
                <a:latin typeface="Arial"/>
              </a:defRPr>
            </a:pPr>
            <a:r>
              <a:t>• Định nghĩa chuẩn học thuật: Luồng là đơn vị nhỏ nhất được bộ điều phối của hệ điều hành phân bổ thời gian vi xử lý.</a:t>
            </a:r>
          </a:p>
          <a:p>
            <a:pPr>
              <a:spcAft>
                <a:spcPts val="800"/>
              </a:spcAft>
              <a:defRPr sz="1250">
                <a:solidFill>
                  <a:srgbClr val="1C1C1C"/>
                </a:solidFill>
                <a:latin typeface="Arial"/>
              </a:defRPr>
            </a:pPr>
            <a:r>
              <a:t>• Chia sẻ không gian nhớ: Các luồng trong cùng một tiến trình dùng chung vùng mã lệnh, vùng nhớ động và các tài nguyên mở.</a:t>
            </a:r>
          </a:p>
          <a:p>
            <a:pPr>
              <a:spcAft>
                <a:spcPts val="800"/>
              </a:spcAft>
              <a:defRPr sz="1250">
                <a:solidFill>
                  <a:srgbClr val="1C1C1C"/>
                </a:solidFill>
                <a:latin typeface="Arial"/>
              </a:defRPr>
            </a:pPr>
            <a:r>
              <a:t>• Khởi tạo và hoán đổi tối ưu: Chi phí chuyển ngữ cảnh luồng nhẹ hơn tiến trình từ 10 đến 20 lần do không phải đổi không gian trang nhớ.</a:t>
            </a:r>
          </a:p>
          <a:p>
            <a:pPr>
              <a:spcAft>
                <a:spcPts val="800"/>
              </a:spcAft>
              <a:defRPr sz="1250">
                <a:solidFill>
                  <a:srgbClr val="1C1C1C"/>
                </a:solidFill>
                <a:latin typeface="Arial"/>
              </a:defRPr>
            </a:pPr>
            <a:r>
              <a:t>• Giới hạn của trình thông dịch CPython: Cơ chế Khóa thông dịch toàn cục (GIL) chỉ cho phép một luồng duy nhất thực thi mã bytecode tại một thời điểm.</a:t>
            </a:r>
          </a:p>
        </p:txBody>
      </p:sp>
      <p:pic>
        <p:nvPicPr>
          <p:cNvPr id="7" name="Picture 6" descr="Multithreaded_process.png"/>
          <p:cNvPicPr>
            <a:picLocks noChangeAspect="1"/>
          </p:cNvPicPr>
          <p:nvPr/>
        </p:nvPicPr>
        <p:blipFill>
          <a:blip r:embed="rId3"/>
          <a:stretch>
            <a:fillRect/>
          </a:stretch>
        </p:blipFill>
        <p:spPr>
          <a:xfrm>
            <a:off x="5394960" y="1828800"/>
            <a:ext cx="3383280" cy="4114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5</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Kiến trúc Máy tính — Nút thắt Phân cấp Bộ nhớ và Vào/Ra Phong tỏa</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Khoảng cách Tốc độ Phần cứng và Sự Lãng phí của Vào/Ra Phong tỏa</a:t>
            </a:r>
          </a:p>
        </p:txBody>
      </p:sp>
      <p:sp>
        <p:nvSpPr>
          <p:cNvPr id="6" name="TextBox 5"/>
          <p:cNvSpPr txBox="1"/>
          <p:nvPr/>
        </p:nvSpPr>
        <p:spPr>
          <a:xfrm>
            <a:off x="365760" y="1828800"/>
            <a:ext cx="4846320" cy="4114800"/>
          </a:xfrm>
          <a:prstGeom prst="rect">
            <a:avLst/>
          </a:prstGeom>
          <a:noFill/>
        </p:spPr>
        <p:txBody>
          <a:bodyPr wrap="square">
            <a:spAutoFit/>
          </a:bodyPr>
          <a:lstStyle/>
          <a:p>
            <a:pPr>
              <a:spcAft>
                <a:spcPts val="600"/>
              </a:spcAft>
              <a:defRPr sz="1300" b="1">
                <a:solidFill>
                  <a:srgbClr val="1C1C1C"/>
                </a:solidFill>
                <a:latin typeface="Arial"/>
              </a:defRPr>
            </a:pPr>
            <a:r>
              <a:t>• Nút thắt cổ chai Vào/Ra: Tốc độ xử lý của mạch vi xử lý vượt trội hơn hàng triệu lần so với các thiết bị lưu trữ và đường truyền mạng.</a:t>
            </a:r>
          </a:p>
          <a:p>
            <a:pPr>
              <a:spcAft>
                <a:spcPts val="800"/>
              </a:spcAft>
              <a:defRPr sz="1250">
                <a:solidFill>
                  <a:srgbClr val="1C1C1C"/>
                </a:solidFill>
                <a:latin typeface="Arial"/>
              </a:defRPr>
            </a:pPr>
            <a:r>
              <a:t>• Tương quan độ trễ: Bộ đệm cấp 1 (L1 Cache) phản hồi trong ~1 nano giây, trong khi một gói tin mạng cần đến ~50.000.000 nano giây.</a:t>
            </a:r>
          </a:p>
          <a:p>
            <a:pPr>
              <a:spcAft>
                <a:spcPts val="800"/>
              </a:spcAft>
              <a:defRPr sz="1250">
                <a:solidFill>
                  <a:srgbClr val="1C1C1C"/>
                </a:solidFill>
                <a:latin typeface="Arial"/>
              </a:defRPr>
            </a:pPr>
            <a:r>
              <a:t>• Thiệt hại do phong tỏa: Lời gọi hàm đồng bộ truyền thống khiến vi xử lý rơi vào trạng thái ngủ đông hàng chục triệu chu kỳ vô ích.</a:t>
            </a:r>
          </a:p>
          <a:p>
            <a:pPr>
              <a:spcAft>
                <a:spcPts val="800"/>
              </a:spcAft>
              <a:defRPr sz="1250">
                <a:solidFill>
                  <a:srgbClr val="1C1C1C"/>
                </a:solidFill>
                <a:latin typeface="Arial"/>
              </a:defRPr>
            </a:pPr>
            <a:r>
              <a:t>• Mục tiêu của tính toán bất đồng bộ: Thu hồi ngay quyền điều khiển của vi xử lý khi gặp tác vụ chờ dữ liệu để phục vụ yêu cầu tính toán khác.</a:t>
            </a:r>
          </a:p>
        </p:txBody>
      </p:sp>
      <p:pic>
        <p:nvPicPr>
          <p:cNvPr id="7" name="Picture 6" descr="Superscalarpipeline_clean.png"/>
          <p:cNvPicPr>
            <a:picLocks noChangeAspect="1"/>
          </p:cNvPicPr>
          <p:nvPr/>
        </p:nvPicPr>
        <p:blipFill>
          <a:blip r:embed="rId3"/>
          <a:stretch>
            <a:fillRect/>
          </a:stretch>
        </p:blipFill>
        <p:spPr>
          <a:xfrm>
            <a:off x="5394960" y="2011680"/>
            <a:ext cx="3474720" cy="34747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6</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Kiến trúc Mạng — Bài toán Phục vụ Đồng thời C10K</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Bài toán C10K và Sự Ra đời của Kiến trúc Hướng Sự kiện</a:t>
            </a:r>
          </a:p>
        </p:txBody>
      </p:sp>
      <p:sp>
        <p:nvSpPr>
          <p:cNvPr id="6" name="TextBox 5"/>
          <p:cNvSpPr txBox="1"/>
          <p:nvPr/>
        </p:nvSpPr>
        <p:spPr>
          <a:xfrm>
            <a:off x="365760" y="1828800"/>
            <a:ext cx="4846320" cy="4114800"/>
          </a:xfrm>
          <a:prstGeom prst="rect">
            <a:avLst/>
          </a:prstGeom>
          <a:noFill/>
        </p:spPr>
        <p:txBody>
          <a:bodyPr wrap="square">
            <a:spAutoFit/>
          </a:bodyPr>
          <a:lstStyle/>
          <a:p>
            <a:pPr>
              <a:spcAft>
                <a:spcPts val="600"/>
              </a:spcAft>
              <a:defRPr sz="1300" b="1">
                <a:solidFill>
                  <a:srgbClr val="1C1C1C"/>
                </a:solidFill>
                <a:latin typeface="Arial"/>
              </a:defRPr>
            </a:pPr>
            <a:r>
              <a:t>• Thách thức C10K (Dan Kegel, 1999): Làm thế nào để một máy chủ duy nhất có thể duy trì và phục vụ đồng thời 10.000 kết nối?</a:t>
            </a:r>
          </a:p>
          <a:p>
            <a:pPr>
              <a:spcAft>
                <a:spcPts val="800"/>
              </a:spcAft>
              <a:defRPr sz="1250">
                <a:solidFill>
                  <a:srgbClr val="1C1C1C"/>
                </a:solidFill>
                <a:latin typeface="Arial"/>
              </a:defRPr>
            </a:pPr>
            <a:r>
              <a:t>• Giới hạn của mô hình mỗi máy trạm một luồng: Cấp phát 10.000 luồng làm cạn kiệt bộ nhớ và gây quá tải nghiêm trọng cho bộ lập lịch của hệ điều hành.</a:t>
            </a:r>
          </a:p>
          <a:p>
            <a:pPr>
              <a:spcAft>
                <a:spcPts val="800"/>
              </a:spcAft>
              <a:defRPr sz="1250">
                <a:solidFill>
                  <a:srgbClr val="1C1C1C"/>
                </a:solidFill>
                <a:latin typeface="Arial"/>
              </a:defRPr>
            </a:pPr>
            <a:r>
              <a:t>• Đột phá kỹ thuật dồn kênh Vào/Ra: Hệ điều hành cung cấp cơ chế thông báo sự kiện tập trung (epoll trên Linux, kqueue trên BSD/macOS, IOCP trên Windows).</a:t>
            </a:r>
          </a:p>
          <a:p>
            <a:pPr>
              <a:spcAft>
                <a:spcPts val="800"/>
              </a:spcAft>
              <a:defRPr sz="1250">
                <a:solidFill>
                  <a:srgbClr val="1C1C1C"/>
                </a:solidFill>
                <a:latin typeface="Arial"/>
              </a:defRPr>
            </a:pPr>
            <a:r>
              <a:t>• Bước chuyển mình kiến trúc: Một luồng đơn duy nhất có thể quản lý hàng vạn kết nối đồng thời với lượng bộ nhớ tiêu thụ tối thiểu.</a:t>
            </a:r>
          </a:p>
        </p:txBody>
      </p:sp>
      <p:pic>
        <p:nvPicPr>
          <p:cNvPr id="7" name="Picture 6" descr="Thread_pool.png"/>
          <p:cNvPicPr>
            <a:picLocks noChangeAspect="1"/>
          </p:cNvPicPr>
          <p:nvPr/>
        </p:nvPicPr>
        <p:blipFill>
          <a:blip r:embed="rId3"/>
          <a:stretch>
            <a:fillRect/>
          </a:stretch>
        </p:blipFill>
        <p:spPr>
          <a:xfrm>
            <a:off x="5394960" y="2011680"/>
            <a:ext cx="3474720" cy="34747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7</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Lý thuyết Tính toán — Khung Phân loại Bốn Mô hình Nền tảng</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Không gian Kiến trúc: Phân loại Bốn Mô hình Tính toán Nền tảng</a:t>
            </a:r>
          </a:p>
        </p:txBody>
      </p:sp>
      <p:sp>
        <p:nvSpPr>
          <p:cNvPr id="6" name="TextBox 5"/>
          <p:cNvSpPr txBox="1"/>
          <p:nvPr/>
        </p:nvSpPr>
        <p:spPr>
          <a:xfrm>
            <a:off x="365760" y="1783080"/>
            <a:ext cx="8412480" cy="411480"/>
          </a:xfrm>
          <a:prstGeom prst="rect">
            <a:avLst/>
          </a:prstGeom>
          <a:noFill/>
        </p:spPr>
        <p:txBody>
          <a:bodyPr wrap="none">
            <a:spAutoFit/>
          </a:bodyPr>
          <a:lstStyle/>
          <a:p>
            <a:pPr>
              <a:defRPr sz="1200" b="1">
                <a:solidFill>
                  <a:srgbClr val="E74C3C"/>
                </a:solidFill>
                <a:latin typeface="Arial"/>
              </a:defRPr>
            </a:pPr>
            <a:r>
              <a:t>• Phân loại hai chiều: Cấu trúc Phần cứng (Đơn nhân / Đa nhân) và Cơ chế Điều phối (Phong tỏa / Phi phong tỏa):</a:t>
            </a:r>
          </a:p>
        </p:txBody>
      </p:sp>
      <p:graphicFrame>
        <p:nvGraphicFramePr>
          <p:cNvPr id="7" name="Table 6"/>
          <p:cNvGraphicFramePr>
            <a:graphicFrameLocks noGrp="1"/>
          </p:cNvGraphicFramePr>
          <p:nvPr/>
        </p:nvGraphicFramePr>
        <p:xfrm>
          <a:off x="365760" y="2240280"/>
          <a:ext cx="8412480" cy="3703320"/>
        </p:xfrm>
        <a:graphic>
          <a:graphicData uri="http://schemas.openxmlformats.org/drawingml/2006/table">
            <a:tbl>
              <a:tblPr firstRow="1" bandRow="1">
                <a:tableStyleId>{5C22544A-7EE6-4342-B048-85BDC9FD1C3A}</a:tableStyleId>
              </a:tblPr>
              <a:tblGrid>
                <a:gridCol w="2011680"/>
                <a:gridCol w="3200400"/>
                <a:gridCol w="3200400"/>
              </a:tblGrid>
              <a:tr h="502920">
                <a:tc>
                  <a:txBody>
                    <a:bodyPr/>
                    <a:lstStyle/>
                    <a:p>
                      <a:pPr>
                        <a:defRPr sz="1150" b="1">
                          <a:solidFill>
                            <a:srgbClr val="FFFFFF"/>
                          </a:solidFill>
                          <a:latin typeface="Arial"/>
                        </a:defRPr>
                      </a:pPr>
                      <a:r>
                        <a:t>Cấu trúc Phần cứng</a:t>
                      </a:r>
                    </a:p>
                  </a:txBody>
                  <a:tcPr>
                    <a:solidFill>
                      <a:srgbClr val="E74C3C"/>
                    </a:solidFill>
                  </a:tcPr>
                </a:tc>
                <a:tc>
                  <a:txBody>
                    <a:bodyPr/>
                    <a:lstStyle/>
                    <a:p>
                      <a:pPr>
                        <a:defRPr sz="1150" b="1">
                          <a:solidFill>
                            <a:srgbClr val="FFFFFF"/>
                          </a:solidFill>
                          <a:latin typeface="Arial"/>
                        </a:defRPr>
                      </a:pPr>
                      <a:r>
                        <a:t>Cơ chế Phong tỏa (Blocking)</a:t>
                      </a:r>
                    </a:p>
                  </a:txBody>
                  <a:tcPr>
                    <a:solidFill>
                      <a:srgbClr val="E74C3C"/>
                    </a:solidFill>
                  </a:tcPr>
                </a:tc>
                <a:tc>
                  <a:txBody>
                    <a:bodyPr/>
                    <a:lstStyle/>
                    <a:p>
                      <a:pPr>
                        <a:defRPr sz="1150" b="1">
                          <a:solidFill>
                            <a:srgbClr val="FFFFFF"/>
                          </a:solidFill>
                          <a:latin typeface="Arial"/>
                        </a:defRPr>
                      </a:pPr>
                      <a:r>
                        <a:t>Cơ chế Phi phong tỏa (Non-blocking)</a:t>
                      </a:r>
                    </a:p>
                  </a:txBody>
                  <a:tcPr>
                    <a:solidFill>
                      <a:srgbClr val="E74C3C"/>
                    </a:solidFill>
                  </a:tcPr>
                </a:tc>
              </a:tr>
              <a:tr h="1600200">
                <a:tc>
                  <a:txBody>
                    <a:bodyPr/>
                    <a:lstStyle/>
                    <a:p>
                      <a:pPr>
                        <a:defRPr sz="1050" b="1">
                          <a:solidFill>
                            <a:srgbClr val="1C1C1C"/>
                          </a:solidFill>
                          <a:latin typeface="Arial"/>
                        </a:defRPr>
                      </a:pPr>
                      <a:r>
                        <a:t>Bộ vi xử lý Đơn nhân</a:t>
                      </a:r>
                      <a:br/>
                      <a:r>
                        <a:t>(Đơn lõi CPU)</a:t>
                      </a:r>
                    </a:p>
                  </a:txBody>
                  <a:tcPr/>
                </a:tc>
                <a:tc>
                  <a:txBody>
                    <a:bodyPr/>
                    <a:lstStyle/>
                    <a:p>
                      <a:pPr>
                        <a:defRPr sz="1050">
                          <a:solidFill>
                            <a:srgbClr val="1C1C1C"/>
                          </a:solidFill>
                          <a:latin typeface="Arial"/>
                        </a:defRPr>
                      </a:pPr>
                      <a:r>
                        <a:t>XỬ LÝ TUẦN TỰ (Sequential)</a:t>
                      </a:r>
                      <a:br/>
                      <a:r>
                        <a:t>• Thực thi đơn tuyến tuần tự từng chỉ thị lệnh.</a:t>
                      </a:r>
                      <a:br/>
                      <a:r>
                        <a:t>• Vi xử lý bị đóng băng hoàn toàn khi chờ dữ liệu vào/ra.</a:t>
                      </a:r>
                    </a:p>
                  </a:txBody>
                  <a:tcPr/>
                </a:tc>
                <a:tc>
                  <a:txBody>
                    <a:bodyPr/>
                    <a:lstStyle/>
                    <a:p>
                      <a:pPr>
                        <a:defRPr sz="1050">
                          <a:solidFill>
                            <a:srgbClr val="1C1C1C"/>
                          </a:solidFill>
                          <a:latin typeface="Arial"/>
                        </a:defRPr>
                      </a:pPr>
                      <a:r>
                        <a:t>BẤT ĐỒNG BỘ ĐƠN LUỒNG (Asyncio)</a:t>
                      </a:r>
                      <a:br/>
                      <a:r>
                        <a:t>• 1 Luồng kết hợp Vòng lặp sự kiện (Event Loop).</a:t>
                      </a:r>
                      <a:br/>
                      <a:r>
                        <a:t>• Giải phóng vi xử lý ngay khi chờ I/O để phục vụ việc khác.</a:t>
                      </a:r>
                    </a:p>
                  </a:txBody>
                  <a:tcPr/>
                </a:tc>
              </a:tr>
              <a:tr h="1600200">
                <a:tc>
                  <a:txBody>
                    <a:bodyPr/>
                    <a:lstStyle/>
                    <a:p>
                      <a:pPr>
                        <a:defRPr sz="1050" b="1">
                          <a:solidFill>
                            <a:srgbClr val="1C1C1C"/>
                          </a:solidFill>
                          <a:latin typeface="Arial"/>
                        </a:defRPr>
                      </a:pPr>
                      <a:r>
                        <a:t>Bộ vi xử lý Đa nhân</a:t>
                      </a:r>
                      <a:br/>
                      <a:r>
                        <a:t>(Đa lõi phần cứng)</a:t>
                      </a:r>
                    </a:p>
                  </a:txBody>
                  <a:tcPr/>
                </a:tc>
                <a:tc>
                  <a:txBody>
                    <a:bodyPr/>
                    <a:lstStyle/>
                    <a:p>
                      <a:pPr>
                        <a:defRPr sz="1050">
                          <a:solidFill>
                            <a:srgbClr val="1C1C1C"/>
                          </a:solidFill>
                          <a:latin typeface="Arial"/>
                        </a:defRPr>
                      </a:pPr>
                      <a:r>
                        <a:t>XỬ LÝ SONG SONG &amp; ĐA LUỒNG</a:t>
                      </a:r>
                      <a:br/>
                      <a:r>
                        <a:t>• Nhiều nhân phần cứng thực thi đồng thời thực sự.</a:t>
                      </a:r>
                      <a:br/>
                      <a:r>
                        <a:t>• Từng luồng vẫn có thể bị phong tỏa nếu chờ Vào/Ra.</a:t>
                      </a:r>
                    </a:p>
                  </a:txBody>
                  <a:tcPr/>
                </a:tc>
                <a:tc>
                  <a:txBody>
                    <a:bodyPr/>
                    <a:lstStyle/>
                    <a:p>
                      <a:pPr>
                        <a:defRPr sz="1050">
                          <a:solidFill>
                            <a:srgbClr val="1C1C1C"/>
                          </a:solidFill>
                          <a:latin typeface="Arial"/>
                        </a:defRPr>
                      </a:pPr>
                      <a:r>
                        <a:t>HỆ THỐNG PHÂN TÁN / LAI GHÉP</a:t>
                      </a:r>
                      <a:br/>
                      <a:r>
                        <a:t>• Mỗi nhân vận hành một Vòng lặp sự kiện riêng biệt.</a:t>
                      </a:r>
                      <a:br/>
                      <a:r>
                        <a:t>• Tối đa hóa thông lượng phục vụ hàng vạn kết nối đồng thời.</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8</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Mô phỏng Động học — Đối chiếu Cơ chế và Tốc độ Thực thi</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Mô phỏng Động học: Đối chiếu Thời gian Thực thi của Bốn Mô hình</a:t>
            </a:r>
          </a:p>
        </p:txBody>
      </p:sp>
      <p:pic>
        <p:nvPicPr>
          <p:cNvPr id="6" name="video_giai_thich_4_mo_hinh.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365760" y="1783080"/>
            <a:ext cx="5212080" cy="2926080"/>
          </a:xfrm>
          <a:prstGeom prst="rect">
            <a:avLst/>
          </a:prstGeom>
        </p:spPr>
      </p:pic>
      <p:sp>
        <p:nvSpPr>
          <p:cNvPr id="7" name="TextBox 6"/>
          <p:cNvSpPr txBox="1"/>
          <p:nvPr/>
        </p:nvSpPr>
        <p:spPr>
          <a:xfrm>
            <a:off x="5715000" y="1783080"/>
            <a:ext cx="3063240" cy="3017520"/>
          </a:xfrm>
          <a:prstGeom prst="rect">
            <a:avLst/>
          </a:prstGeom>
          <a:noFill/>
        </p:spPr>
        <p:txBody>
          <a:bodyPr wrap="square">
            <a:spAutoFit/>
          </a:bodyPr>
          <a:lstStyle/>
          <a:p>
            <a:pPr>
              <a:spcAft>
                <a:spcPts val="600"/>
              </a:spcAft>
              <a:defRPr sz="1350" b="1">
                <a:solidFill>
                  <a:srgbClr val="E74C3C"/>
                </a:solidFill>
                <a:latin typeface="Arial"/>
              </a:defRPr>
            </a:pPr>
            <a:r>
              <a:t>Đặc tính Động học Từng Mô hình:</a:t>
            </a:r>
          </a:p>
          <a:p>
            <a:pPr>
              <a:spcAft>
                <a:spcPts val="500"/>
              </a:spcAft>
              <a:defRPr sz="1150">
                <a:solidFill>
                  <a:srgbClr val="1C1C1C"/>
                </a:solidFill>
                <a:latin typeface="Arial"/>
              </a:defRPr>
            </a:pPr>
            <a:r>
              <a:t>• Tuần tự: Thực thi nối tiếp từng tác vụ; vi xử lý bị phong tỏa hoàn toàn khi chờ Vào/Ra; tổng thời gian đạt đỉnh (6.0 giây).</a:t>
            </a:r>
          </a:p>
          <a:p>
            <a:pPr>
              <a:spcAft>
                <a:spcPts val="500"/>
              </a:spcAft>
              <a:defRPr sz="1150">
                <a:solidFill>
                  <a:srgbClr val="1C1C1C"/>
                </a:solidFill>
                <a:latin typeface="Arial"/>
              </a:defRPr>
            </a:pPr>
            <a:r>
              <a:t>• Đồng thời: Một nhân vi xử lý phân chia lát cắt thời gian; chuyển đổi ngữ cảnh linh hoạt giữa các tác vụ đang chờ.</a:t>
            </a:r>
          </a:p>
          <a:p>
            <a:pPr>
              <a:spcAft>
                <a:spcPts val="500"/>
              </a:spcAft>
              <a:defRPr sz="1150">
                <a:solidFill>
                  <a:srgbClr val="1C1C1C"/>
                </a:solidFill>
                <a:latin typeface="Arial"/>
              </a:defRPr>
            </a:pPr>
            <a:r>
              <a:t>• Song song: Ba nhân vật lý độc lập xử lý cùng lúc ba tác vụ; đạt tốc độ nhanh nhất về mặt tính toán thuần túy (2.0 giây).</a:t>
            </a:r>
          </a:p>
          <a:p>
            <a:pPr>
              <a:spcAft>
                <a:spcPts val="500"/>
              </a:spcAft>
              <a:defRPr sz="1150">
                <a:solidFill>
                  <a:srgbClr val="1C1C1C"/>
                </a:solidFill>
                <a:latin typeface="Arial"/>
              </a:defRPr>
            </a:pPr>
            <a:r>
              <a:t>• Bất đồng bộ: Một luồng đơn kết hợp vòng lặp sự kiện; giải phóng hoàn toàn vi xử lý trong thời gian chờ dữ liệu (2.4 giây).</a:t>
            </a:r>
          </a:p>
        </p:txBody>
      </p:sp>
      <p:sp>
        <p:nvSpPr>
          <p:cNvPr id="8" name="TextBox 7"/>
          <p:cNvSpPr txBox="1"/>
          <p:nvPr/>
        </p:nvSpPr>
        <p:spPr>
          <a:xfrm>
            <a:off x="365760" y="4800600"/>
            <a:ext cx="8412480" cy="1188720"/>
          </a:xfrm>
          <a:prstGeom prst="rect">
            <a:avLst/>
          </a:prstGeom>
          <a:noFill/>
        </p:spPr>
        <p:txBody>
          <a:bodyPr wrap="square">
            <a:spAutoFit/>
          </a:bodyPr>
          <a:lstStyle/>
          <a:p>
            <a:pPr>
              <a:defRPr sz="1200" b="1">
                <a:solidFill>
                  <a:srgbClr val="1C1C1C"/>
                </a:solidFill>
                <a:latin typeface="Arial"/>
              </a:defRPr>
            </a:pPr>
            <a:r>
              <a:t>• Kết luận học thuật: Mô phỏng trực quan làm rõ ranh giới giữa năng lực tính toán phần cứng và giải thuật điều phối phần mềm — Cung cấp nền tảng tư duy vững chắc trước khi tiếp cận kỹ thuật lập trình.</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9</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Phân tích Hiệu năng — Động học Thực thi và Chi phí Ngữ cảnh</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00" b="1">
                <a:solidFill>
                  <a:srgbClr val="1C1C1C"/>
                </a:solidFill>
                <a:latin typeface="Arial"/>
              </a:defRPr>
            </a:pPr>
            <a:r>
              <a:t>Phân tích Động học: Chi phí Chuyển đổi Ngữ cảnh &amp; Tác vụ Vào/Ra</a:t>
            </a:r>
          </a:p>
        </p:txBody>
      </p:sp>
      <p:sp>
        <p:nvSpPr>
          <p:cNvPr id="6" name="TextBox 5"/>
          <p:cNvSpPr txBox="1"/>
          <p:nvPr/>
        </p:nvSpPr>
        <p:spPr>
          <a:xfrm>
            <a:off x="365760" y="1874519"/>
            <a:ext cx="4114800" cy="4114800"/>
          </a:xfrm>
          <a:prstGeom prst="rect">
            <a:avLst/>
          </a:prstGeom>
          <a:noFill/>
        </p:spPr>
        <p:txBody>
          <a:bodyPr wrap="square">
            <a:spAutoFit/>
          </a:bodyPr>
          <a:lstStyle/>
          <a:p>
            <a:pPr>
              <a:defRPr sz="1350" b="1">
                <a:solidFill>
                  <a:srgbClr val="E74C3C"/>
                </a:solidFill>
                <a:latin typeface="Arial"/>
              </a:defRPr>
            </a:pPr>
            <a:r>
              <a:t>1. Cơ chế Tác vụ Nghẽn Vào/Ra (I/O-Bound)</a:t>
            </a:r>
          </a:p>
          <a:p>
            <a:pPr>
              <a:spcAft>
                <a:spcPts val="600"/>
              </a:spcAft>
              <a:defRPr sz="1200">
                <a:solidFill>
                  <a:srgbClr val="1C1C1C"/>
                </a:solidFill>
                <a:latin typeface="Arial"/>
              </a:defRPr>
            </a:pPr>
            <a:r>
              <a:t>• Thời gian chờ áp đảo: Thời gian chờ đường truyền mạng hoặc ổ đĩa chiếm trên 95% tổng vòng đời tác vụ.</a:t>
            </a:r>
          </a:p>
          <a:p>
            <a:pPr>
              <a:spcAft>
                <a:spcPts val="600"/>
              </a:spcAft>
              <a:defRPr sz="1200">
                <a:solidFill>
                  <a:srgbClr val="1C1C1C"/>
                </a:solidFill>
                <a:latin typeface="Arial"/>
              </a:defRPr>
            </a:pPr>
            <a:r>
              <a:t>• Khử thời gian nhàn rỗi: Mô hình bất đồng bộ tách rời lời gọi yêu cầu khỏi việc chờ kết quả, triệt tiêu thời gian vi xử lý bị đóng băng.</a:t>
            </a:r>
          </a:p>
          <a:p>
            <a:pPr>
              <a:spcAft>
                <a:spcPts val="600"/>
              </a:spcAft>
              <a:defRPr sz="1200">
                <a:solidFill>
                  <a:srgbClr val="1C1C1C"/>
                </a:solidFill>
                <a:latin typeface="Arial"/>
              </a:defRPr>
            </a:pPr>
            <a:r>
              <a:t>• Cơ chế nhường quyền: Tác vụ chủ động nhường vi xử lý khi phát sinh thao tác chờ và chỉ được nạp lại khi có tín hiệu sẵn sàng.</a:t>
            </a:r>
          </a:p>
        </p:txBody>
      </p:sp>
      <p:sp>
        <p:nvSpPr>
          <p:cNvPr id="7" name="TextBox 6"/>
          <p:cNvSpPr txBox="1"/>
          <p:nvPr/>
        </p:nvSpPr>
        <p:spPr>
          <a:xfrm>
            <a:off x="4663440" y="1874519"/>
            <a:ext cx="4114800" cy="4114800"/>
          </a:xfrm>
          <a:prstGeom prst="rect">
            <a:avLst/>
          </a:prstGeom>
          <a:noFill/>
        </p:spPr>
        <p:txBody>
          <a:bodyPr wrap="square">
            <a:spAutoFit/>
          </a:bodyPr>
          <a:lstStyle/>
          <a:p>
            <a:pPr>
              <a:defRPr sz="1350" b="1">
                <a:solidFill>
                  <a:srgbClr val="E74C3C"/>
                </a:solidFill>
                <a:latin typeface="Arial"/>
              </a:defRPr>
            </a:pPr>
            <a:r>
              <a:t>2. Chi phí Chuyển đổi Ngữ cảnh Thực thi</a:t>
            </a:r>
          </a:p>
          <a:p>
            <a:pPr>
              <a:spcAft>
                <a:spcPts val="600"/>
              </a:spcAft>
              <a:defRPr sz="1200">
                <a:solidFill>
                  <a:srgbClr val="1C1C1C"/>
                </a:solidFill>
                <a:latin typeface="Arial"/>
              </a:defRPr>
            </a:pPr>
            <a:r>
              <a:t>• Ngữ cảnh nhân hệ điều hành: Chuyển đổi giữa các luồng hệ điều hành tiêu tốn hàng nghìn chu kỳ xung nhịp để lưu bảng trạng thái và nạp lại thanh ghi.</a:t>
            </a:r>
          </a:p>
          <a:p>
            <a:pPr>
              <a:spcAft>
                <a:spcPts val="600"/>
              </a:spcAft>
              <a:defRPr sz="1200">
                <a:solidFill>
                  <a:srgbClr val="1C1C1C"/>
                </a:solidFill>
                <a:latin typeface="Arial"/>
              </a:defRPr>
            </a:pPr>
            <a:r>
              <a:t>• Ngữ cảnh không gian người dùng: Chuyển đổi giữa các hàm đồng quy chỉ thay đổi con trỏ khung ngăn xếp, chi phí chỉ vài chục nano giây.</a:t>
            </a:r>
          </a:p>
          <a:p>
            <a:pPr>
              <a:spcAft>
                <a:spcPts val="600"/>
              </a:spcAft>
              <a:defRPr sz="1200">
                <a:solidFill>
                  <a:srgbClr val="1C1C1C"/>
                </a:solidFill>
                <a:latin typeface="Arial"/>
              </a:defRPr>
            </a:pPr>
            <a:r>
              <a:t>• Tối ưu hóa bộ nhớ: Triệt tiêu sự lãng phí cấp phát ngăn xếp tĩnh của luồng hệ điều hành, cho phép duy trì hàng vạn tác vụ đồng thời.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10</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Mẫu Thiết kế Kiến trúc — Mô hình Bộ phản ứng (Reactor Pattern)</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Mẫu Thiết kế Reactor: Kiến trúc Xương sống của Vòng lặp Sự kiện</a:t>
            </a:r>
          </a:p>
        </p:txBody>
      </p:sp>
      <p:sp>
        <p:nvSpPr>
          <p:cNvPr id="6" name="TextBox 5"/>
          <p:cNvSpPr txBox="1"/>
          <p:nvPr/>
        </p:nvSpPr>
        <p:spPr>
          <a:xfrm>
            <a:off x="365760" y="1828800"/>
            <a:ext cx="4846320" cy="4114800"/>
          </a:xfrm>
          <a:prstGeom prst="rect">
            <a:avLst/>
          </a:prstGeom>
          <a:noFill/>
        </p:spPr>
        <p:txBody>
          <a:bodyPr wrap="square">
            <a:spAutoFit/>
          </a:bodyPr>
          <a:lstStyle/>
          <a:p>
            <a:pPr>
              <a:spcAft>
                <a:spcPts val="600"/>
              </a:spcAft>
              <a:defRPr sz="1300" b="1">
                <a:solidFill>
                  <a:srgbClr val="1C1C1C"/>
                </a:solidFill>
                <a:latin typeface="Arial"/>
              </a:defRPr>
            </a:pPr>
            <a:r>
              <a:t>• Định nghĩa chuẩn kiến trúc: Bộ phản ứng là mẫu thiết kế phục vụ việc tiếp nhận, phân tách và điều phối đồng thời các yêu cầu dịch vụ từ nhiều luồng dữ liệu vào.</a:t>
            </a:r>
          </a:p>
          <a:p>
            <a:pPr>
              <a:spcAft>
                <a:spcPts val="800"/>
              </a:spcAft>
              <a:defRPr sz="1250">
                <a:solidFill>
                  <a:srgbClr val="1C1C1C"/>
                </a:solidFill>
                <a:latin typeface="Arial"/>
              </a:defRPr>
            </a:pPr>
            <a:r>
              <a:t>• Bốn thành phần cốt lõi: Bộ định danh tài nguyên (Handles), Bộ phân kênh sự kiện đồng bộ, Bộ khởi tạo điều phối trung tâm và Các bộ xử lý sự kiện.</a:t>
            </a:r>
          </a:p>
          <a:p>
            <a:pPr>
              <a:spcAft>
                <a:spcPts val="800"/>
              </a:spcAft>
              <a:defRPr sz="1250">
                <a:solidFill>
                  <a:srgbClr val="1C1C1C"/>
                </a:solidFill>
                <a:latin typeface="Arial"/>
              </a:defRPr>
            </a:pPr>
            <a:r>
              <a:t>• Ưu điểm kiến trúc: Quản lý hàng vạn kết nối đồng thời trên một luồng duy nhất mà không tốn chi phí khóa đồng bộ.</a:t>
            </a:r>
          </a:p>
          <a:p>
            <a:pPr>
              <a:spcAft>
                <a:spcPts val="800"/>
              </a:spcAft>
              <a:defRPr sz="1250">
                <a:solidFill>
                  <a:srgbClr val="1C1C1C"/>
                </a:solidFill>
                <a:latin typeface="Arial"/>
              </a:defRPr>
            </a:pPr>
            <a:r>
              <a:t>• Cơ sở thực thi: Đây chính là nguyên lý vận hành nền tảng của vòng lặp sự kiện trong thư viện asyncio của Python.</a:t>
            </a:r>
          </a:p>
        </p:txBody>
      </p:sp>
      <p:pic>
        <p:nvPicPr>
          <p:cNvPr id="7" name="Picture 6" descr="JavaScript_Event_Loop.png"/>
          <p:cNvPicPr>
            <a:picLocks noChangeAspect="1"/>
          </p:cNvPicPr>
          <p:nvPr/>
        </p:nvPicPr>
        <p:blipFill>
          <a:blip r:embed="rId3"/>
          <a:stretch>
            <a:fillRect/>
          </a:stretch>
        </p:blipFill>
        <p:spPr>
          <a:xfrm>
            <a:off x="5394960" y="1828800"/>
            <a:ext cx="3474720" cy="38404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11</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Chuẩn Ngôn ngữ Python — Đặc tả Hàm Đồng quy Tự nhiên (PEP 492)</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Đặc tả Chuẩn PEP 492: Hàm Đồng quy Tự nhiên và Cú pháp Async/Await</a:t>
            </a:r>
          </a:p>
        </p:txBody>
      </p:sp>
      <p:sp>
        <p:nvSpPr>
          <p:cNvPr id="6" name="TextBox 5"/>
          <p:cNvSpPr txBox="1"/>
          <p:nvPr/>
        </p:nvSpPr>
        <p:spPr>
          <a:xfrm>
            <a:off x="365760" y="1828800"/>
            <a:ext cx="4846320" cy="4114800"/>
          </a:xfrm>
          <a:prstGeom prst="rect">
            <a:avLst/>
          </a:prstGeom>
          <a:noFill/>
        </p:spPr>
        <p:txBody>
          <a:bodyPr wrap="square">
            <a:spAutoFit/>
          </a:bodyPr>
          <a:lstStyle/>
          <a:p>
            <a:pPr>
              <a:spcAft>
                <a:spcPts val="600"/>
              </a:spcAft>
              <a:defRPr sz="1300" b="1">
                <a:solidFill>
                  <a:srgbClr val="1C1C1C"/>
                </a:solidFill>
                <a:latin typeface="Arial"/>
              </a:defRPr>
            </a:pPr>
            <a:r>
              <a:t>• Chuẩn hóa ngôn ngữ: Kể từ phiên bản 3.5, Python chính thức nâng cấp hàm đồng quy thành một khái niệm độc lập ở tầng cú pháp.</a:t>
            </a:r>
          </a:p>
          <a:p>
            <a:pPr>
              <a:spcAft>
                <a:spcPts val="800"/>
              </a:spcAft>
              <a:defRPr sz="1250">
                <a:solidFill>
                  <a:srgbClr val="1C1C1C"/>
                </a:solidFill>
                <a:latin typeface="Arial"/>
              </a:defRPr>
            </a:pPr>
            <a:r>
              <a:t>• Lập lịch hợp tác tự nguyện: Tác vụ chủ động tạm dừng tại vị trí khai báo await để nhường quyền kiểm soát vi xử lý cho vòng lặp.</a:t>
            </a:r>
          </a:p>
          <a:p>
            <a:pPr>
              <a:spcAft>
                <a:spcPts val="800"/>
              </a:spcAft>
              <a:defRPr sz="1250">
                <a:solidFill>
                  <a:srgbClr val="1C1C1C"/>
                </a:solidFill>
                <a:latin typeface="Arial"/>
              </a:defRPr>
            </a:pPr>
            <a:r>
              <a:t>• Cấu trúc siêu nhẹ: Hàng vạn hàm đồng quy có thể cùng chia sẻ một luồng duy nhất; mỗi hàm chỉ tiêu tốn khoảng vài kilobyte bộ nhớ.</a:t>
            </a:r>
          </a:p>
          <a:p>
            <a:pPr>
              <a:spcAft>
                <a:spcPts val="800"/>
              </a:spcAft>
              <a:defRPr sz="1250">
                <a:solidFill>
                  <a:srgbClr val="1C1C1C"/>
                </a:solidFill>
                <a:latin typeface="Arial"/>
              </a:defRPr>
            </a:pPr>
            <a:r>
              <a:t>• Bảo toàn trạng thái không gian người dùng: Khung ngăn xếp thực thi được lưu trữ trực tiếp trong bộ nhớ ứng dụng, cho phép phục hồi trạng thái tức thì.</a:t>
            </a:r>
          </a:p>
        </p:txBody>
      </p:sp>
      <p:pic>
        <p:nvPicPr>
          <p:cNvPr id="7" name="Picture 6" descr="Coroutines.png"/>
          <p:cNvPicPr>
            <a:picLocks noChangeAspect="1"/>
          </p:cNvPicPr>
          <p:nvPr/>
        </p:nvPicPr>
        <p:blipFill>
          <a:blip r:embed="rId3"/>
          <a:stretch>
            <a:fillRect/>
          </a:stretch>
        </p:blipFill>
        <p:spPr>
          <a:xfrm>
            <a:off x="5394960" y="2011680"/>
            <a:ext cx="3474720" cy="34747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12</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Lý thuyết Đồng thời — Hiện tượng Tranh chấp và Miền găng</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Hiện tượng Tranh chấp Dữ liệu và Các Hiểm họa Bộ nhớ Chia sẻ</a:t>
            </a:r>
          </a:p>
        </p:txBody>
      </p:sp>
      <p:sp>
        <p:nvSpPr>
          <p:cNvPr id="6" name="TextBox 5"/>
          <p:cNvSpPr txBox="1"/>
          <p:nvPr/>
        </p:nvSpPr>
        <p:spPr>
          <a:xfrm>
            <a:off x="365760" y="1828800"/>
            <a:ext cx="4846320" cy="4114800"/>
          </a:xfrm>
          <a:prstGeom prst="rect">
            <a:avLst/>
          </a:prstGeom>
          <a:noFill/>
        </p:spPr>
        <p:txBody>
          <a:bodyPr wrap="square">
            <a:spAutoFit/>
          </a:bodyPr>
          <a:lstStyle/>
          <a:p>
            <a:pPr>
              <a:spcAft>
                <a:spcPts val="600"/>
              </a:spcAft>
              <a:defRPr sz="1300" b="1">
                <a:solidFill>
                  <a:srgbClr val="1C1C1C"/>
                </a:solidFill>
                <a:latin typeface="Arial"/>
              </a:defRPr>
            </a:pPr>
            <a:r>
              <a:t>• Định nghĩa hiện tượng tranh chấp: Xảy ra khi kết quả của chương trình phụ thuộc vào thứ tự thực thi ngẫu nhiên giữa các luồng.</a:t>
            </a:r>
          </a:p>
          <a:p>
            <a:pPr>
              <a:spcAft>
                <a:spcPts val="800"/>
              </a:spcAft>
              <a:defRPr sz="1250">
                <a:solidFill>
                  <a:srgbClr val="1C1C1C"/>
                </a:solidFill>
                <a:latin typeface="Arial"/>
              </a:defRPr>
            </a:pPr>
            <a:r>
              <a:t>• Xung đột truy cập dữ liệu: Xuất hiện khi nhiều luồng cùng thao tác trên một ô nhớ dùng chung và có ít nhất một thao tác ghi mà không có đồng bộ.</a:t>
            </a:r>
          </a:p>
          <a:p>
            <a:pPr>
              <a:spcAft>
                <a:spcPts val="800"/>
              </a:spcAft>
              <a:defRPr sz="1250">
                <a:solidFill>
                  <a:srgbClr val="1C1C1C"/>
                </a:solidFill>
                <a:latin typeface="Arial"/>
              </a:defRPr>
            </a:pPr>
            <a:r>
              <a:t>• Lỗi bất định phụ thuộc thời gian: Các sai lệch logic chỉ xuất hiện ngẫu nhiên khi hệ thống chịu tải cao và biến mất khi kích hoạt chế độ gỡ lỗi.</a:t>
            </a:r>
          </a:p>
          <a:p>
            <a:pPr>
              <a:spcAft>
                <a:spcPts val="800"/>
              </a:spcAft>
              <a:defRPr sz="1250">
                <a:solidFill>
                  <a:srgbClr val="1C1C1C"/>
                </a:solidFill>
                <a:latin typeface="Arial"/>
              </a:defRPr>
            </a:pPr>
            <a:r>
              <a:t>• Nguyên lý an toàn bộ nhớ: Hạn chế chia sẻ trạng thái bộ nhớ biến đổi; ưu tiên truyền thông điệp thông qua hàng đợi an toàn.</a:t>
            </a:r>
          </a:p>
        </p:txBody>
      </p:sp>
      <p:pic>
        <p:nvPicPr>
          <p:cNvPr id="7" name="Picture 6" descr="Fork_join.png"/>
          <p:cNvPicPr>
            <a:picLocks noChangeAspect="1"/>
          </p:cNvPicPr>
          <p:nvPr/>
        </p:nvPicPr>
        <p:blipFill>
          <a:blip r:embed="rId3"/>
          <a:stretch>
            <a:fillRect/>
          </a:stretch>
        </p:blipFill>
        <p:spPr>
          <a:xfrm>
            <a:off x="5394960" y="2103120"/>
            <a:ext cx="3474720" cy="320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13</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Lý thuyết Tối ưu — Định luật Amdahl và Giới hạn Tăng tốc Song song</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Định luật Amdahl và Giới hạn Lý thuyết của Tăng tốc Song song</a:t>
            </a:r>
          </a:p>
        </p:txBody>
      </p:sp>
      <p:sp>
        <p:nvSpPr>
          <p:cNvPr id="6" name="TextBox 5"/>
          <p:cNvSpPr txBox="1"/>
          <p:nvPr/>
        </p:nvSpPr>
        <p:spPr>
          <a:xfrm>
            <a:off x="365760" y="1828800"/>
            <a:ext cx="4846320" cy="4114800"/>
          </a:xfrm>
          <a:prstGeom prst="rect">
            <a:avLst/>
          </a:prstGeom>
          <a:noFill/>
        </p:spPr>
        <p:txBody>
          <a:bodyPr wrap="square">
            <a:spAutoFit/>
          </a:bodyPr>
          <a:lstStyle/>
          <a:p>
            <a:pPr>
              <a:spcAft>
                <a:spcPts val="600"/>
              </a:spcAft>
              <a:defRPr sz="1300" b="1">
                <a:solidFill>
                  <a:srgbClr val="1C1C1C"/>
                </a:solidFill>
                <a:latin typeface="Arial"/>
              </a:defRPr>
            </a:pPr>
            <a:r>
              <a:t>• Nội dung định luật: Hệ số tăng tốc tối đa của một chương trình song song bị giới hạn nghiêm ngặt bởi tỷ lệ phần mã bắt buộc phải chạy tuần tự.</a:t>
            </a:r>
          </a:p>
          <a:p>
            <a:pPr>
              <a:spcAft>
                <a:spcPts val="800"/>
              </a:spcAft>
              <a:defRPr sz="1250">
                <a:solidFill>
                  <a:srgbClr val="1C1C1C"/>
                </a:solidFill>
                <a:latin typeface="Arial"/>
              </a:defRPr>
            </a:pPr>
            <a:r>
              <a:t>• Công thức tính hệ số tăng tốc: S(N) = 1 / [ (1 - P) + (P / N) ], trong đó P là tỷ lệ mã có thể song song hóa, N là số bộ vi xử lý.</a:t>
            </a:r>
          </a:p>
          <a:p>
            <a:pPr>
              <a:spcAft>
                <a:spcPts val="800"/>
              </a:spcAft>
              <a:defRPr sz="1250">
                <a:solidFill>
                  <a:srgbClr val="1C1C1C"/>
                </a:solidFill>
                <a:latin typeface="Arial"/>
              </a:defRPr>
            </a:pPr>
            <a:r>
              <a:t>• Giới hạn trần tiệm cận: Khi số lượng bộ vi xử lý N tăng tới vô cực, hệ số tăng tốc tối đa chỉ đạt mức 1 / (1 - P).</a:t>
            </a:r>
          </a:p>
          <a:p>
            <a:pPr>
              <a:spcAft>
                <a:spcPts val="800"/>
              </a:spcAft>
              <a:defRPr sz="1250">
                <a:solidFill>
                  <a:srgbClr val="1C1C1C"/>
                </a:solidFill>
                <a:latin typeface="Arial"/>
              </a:defRPr>
            </a:pPr>
            <a:r>
              <a:t>• Hệ quả kỹ thuật: Nếu chỉ 10% khối lượng công việc mang tính tuần tự, hệ số tăng tốc tối đa sẽ không bao giờ vượt quá 10 lần, dù trang bị 1.000 vi xử lý.</a:t>
            </a:r>
          </a:p>
        </p:txBody>
      </p:sp>
      <p:pic>
        <p:nvPicPr>
          <p:cNvPr id="7" name="Picture 6" descr="AmdahlsLaw.png"/>
          <p:cNvPicPr>
            <a:picLocks noChangeAspect="1"/>
          </p:cNvPicPr>
          <p:nvPr/>
        </p:nvPicPr>
        <p:blipFill>
          <a:blip r:embed="rId3"/>
          <a:stretch>
            <a:fillRect/>
          </a:stretch>
        </p:blipFill>
        <p:spPr>
          <a:xfrm>
            <a:off x="5394960" y="1828800"/>
            <a:ext cx="3474720" cy="39319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14</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Kiến trúc Phần cứng — Phân cấp Bộ nhớ và Hiện tượng Chia sẻ Sai</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Cấu trúc Phân cấp Bộ nhớ và Hiện tượng Chia sẻ Sai trên Hệ Đa nhân</a:t>
            </a:r>
          </a:p>
        </p:txBody>
      </p:sp>
      <p:sp>
        <p:nvSpPr>
          <p:cNvPr id="6" name="TextBox 5"/>
          <p:cNvSpPr txBox="1"/>
          <p:nvPr/>
        </p:nvSpPr>
        <p:spPr>
          <a:xfrm>
            <a:off x="365760" y="1783080"/>
            <a:ext cx="8412480" cy="1463040"/>
          </a:xfrm>
          <a:prstGeom prst="rect">
            <a:avLst/>
          </a:prstGeom>
          <a:noFill/>
        </p:spPr>
        <p:txBody>
          <a:bodyPr wrap="square">
            <a:spAutoFit/>
          </a:bodyPr>
          <a:lstStyle/>
          <a:p>
            <a:pPr>
              <a:spcAft>
                <a:spcPts val="400"/>
              </a:spcAft>
              <a:defRPr sz="1300" b="1">
                <a:solidFill>
                  <a:srgbClr val="1C1C1C"/>
                </a:solidFill>
                <a:latin typeface="Arial"/>
              </a:defRPr>
            </a:pPr>
            <a:r>
              <a:t>• Nút thắt truy xuất bộ nhớ: Tốc độ truy xuất dữ liệu từ bộ nhớ chính là yếu tố chi phối trực tiếp đến hiệu năng thực tế của các ứng dụng tính toán song song.</a:t>
            </a:r>
          </a:p>
          <a:p>
            <a:pPr>
              <a:spcAft>
                <a:spcPts val="400"/>
              </a:spcAft>
              <a:defRPr sz="1250">
                <a:solidFill>
                  <a:srgbClr val="1C1C1C"/>
                </a:solidFill>
                <a:latin typeface="Arial"/>
              </a:defRPr>
            </a:pPr>
            <a:r>
              <a:t>• Hiện tượng chia sẻ sai: Xảy ra khi các nhân vi xử lý khác nhau cập nhật các biến độc lập nhưng vô tình nằm chung trên một dòng bộ đệm ẩn (Cache Line 64 byte), làm vô hiệu hóa bộ đệm liên tục.</a:t>
            </a:r>
          </a:p>
          <a:p>
            <a:pPr>
              <a:spcAft>
                <a:spcPts val="400"/>
              </a:spcAft>
              <a:defRPr sz="1250">
                <a:solidFill>
                  <a:srgbClr val="1C1C1C"/>
                </a:solidFill>
                <a:latin typeface="Arial"/>
              </a:defRPr>
            </a:pPr>
            <a:r>
              <a:t>• Hậu quả: Tăng quá nhiều đơn vị thực thi vượt ngưỡng dung nạp sẽ làm suy giảm hiệu năng do tắc nghẽn đường truyền bộ nhớ.</a:t>
            </a:r>
          </a:p>
        </p:txBody>
      </p:sp>
      <p:graphicFrame>
        <p:nvGraphicFramePr>
          <p:cNvPr id="7" name="Table 6"/>
          <p:cNvGraphicFramePr>
            <a:graphicFrameLocks noGrp="1"/>
          </p:cNvGraphicFramePr>
          <p:nvPr/>
        </p:nvGraphicFramePr>
        <p:xfrm>
          <a:off x="365760" y="3383280"/>
          <a:ext cx="8412480" cy="2377440"/>
        </p:xfrm>
        <a:graphic>
          <a:graphicData uri="http://schemas.openxmlformats.org/drawingml/2006/table">
            <a:tbl>
              <a:tblPr firstRow="1" bandRow="1">
                <a:tableStyleId>{5C22544A-7EE6-4342-B048-85BDC9FD1C3A}</a:tableStyleId>
              </a:tblPr>
              <a:tblGrid>
                <a:gridCol w="2926080"/>
                <a:gridCol w="2286000"/>
                <a:gridCol w="3200400"/>
              </a:tblGrid>
              <a:tr h="475488">
                <a:tc>
                  <a:txBody>
                    <a:bodyPr/>
                    <a:lstStyle/>
                    <a:p>
                      <a:pPr>
                        <a:defRPr sz="1300" b="1">
                          <a:solidFill>
                            <a:srgbClr val="FFFFFF"/>
                          </a:solidFill>
                          <a:latin typeface="Arial"/>
                        </a:defRPr>
                      </a:pPr>
                      <a:r>
                        <a:t>Cấp bậc Bộ nhớ</a:t>
                      </a:r>
                    </a:p>
                  </a:txBody>
                  <a:tcPr>
                    <a:solidFill>
                      <a:srgbClr val="E74C3C"/>
                    </a:solidFill>
                  </a:tcPr>
                </a:tc>
                <a:tc>
                  <a:txBody>
                    <a:bodyPr/>
                    <a:lstStyle/>
                    <a:p>
                      <a:pPr>
                        <a:defRPr sz="1300" b="1">
                          <a:solidFill>
                            <a:srgbClr val="FFFFFF"/>
                          </a:solidFill>
                          <a:latin typeface="Arial"/>
                        </a:defRPr>
                      </a:pPr>
                      <a:r>
                        <a:t>Độ trễ Chu kỳ Vi xử lý</a:t>
                      </a:r>
                    </a:p>
                  </a:txBody>
                  <a:tcPr>
                    <a:solidFill>
                      <a:srgbClr val="E74C3C"/>
                    </a:solidFill>
                  </a:tcPr>
                </a:tc>
                <a:tc>
                  <a:txBody>
                    <a:bodyPr/>
                    <a:lstStyle/>
                    <a:p>
                      <a:pPr>
                        <a:defRPr sz="1300" b="1">
                          <a:solidFill>
                            <a:srgbClr val="FFFFFF"/>
                          </a:solidFill>
                          <a:latin typeface="Arial"/>
                        </a:defRPr>
                      </a:pPr>
                      <a:r>
                        <a:t>Băng thông Dữ liệu</a:t>
                      </a:r>
                    </a:p>
                  </a:txBody>
                  <a:tcPr>
                    <a:solidFill>
                      <a:srgbClr val="E74C3C"/>
                    </a:solidFill>
                  </a:tcPr>
                </a:tc>
              </a:tr>
              <a:tr h="475488">
                <a:tc>
                  <a:txBody>
                    <a:bodyPr/>
                    <a:lstStyle/>
                    <a:p>
                      <a:pPr>
                        <a:defRPr sz="1200">
                          <a:solidFill>
                            <a:srgbClr val="1C1C1C"/>
                          </a:solidFill>
                          <a:latin typeface="Arial"/>
                        </a:defRPr>
                      </a:pPr>
                      <a:r>
                        <a:t>Bộ đệm Cấp 1 (L1 Cache)</a:t>
                      </a:r>
                    </a:p>
                  </a:txBody>
                  <a:tcPr/>
                </a:tc>
                <a:tc>
                  <a:txBody>
                    <a:bodyPr/>
                    <a:lstStyle/>
                    <a:p>
                      <a:pPr>
                        <a:defRPr sz="1200">
                          <a:solidFill>
                            <a:srgbClr val="1C1C1C"/>
                          </a:solidFill>
                          <a:latin typeface="Arial"/>
                        </a:defRPr>
                      </a:pPr>
                      <a:r>
                        <a:t>3 - 4 chu kỳ (~1 ns)</a:t>
                      </a:r>
                    </a:p>
                  </a:txBody>
                  <a:tcPr/>
                </a:tc>
                <a:tc>
                  <a:txBody>
                    <a:bodyPr/>
                    <a:lstStyle/>
                    <a:p>
                      <a:pPr>
                        <a:defRPr sz="1200">
                          <a:solidFill>
                            <a:srgbClr val="1C1C1C"/>
                          </a:solidFill>
                          <a:latin typeface="Arial"/>
                        </a:defRPr>
                      </a:pPr>
                      <a:r>
                        <a:t>~1.000 GB/giây (Siêu tốc độ)</a:t>
                      </a:r>
                    </a:p>
                  </a:txBody>
                  <a:tcPr/>
                </a:tc>
              </a:tr>
              <a:tr h="475488">
                <a:tc>
                  <a:txBody>
                    <a:bodyPr/>
                    <a:lstStyle/>
                    <a:p>
                      <a:pPr>
                        <a:defRPr sz="1200">
                          <a:solidFill>
                            <a:srgbClr val="1C1C1C"/>
                          </a:solidFill>
                          <a:latin typeface="Arial"/>
                        </a:defRPr>
                      </a:pPr>
                      <a:r>
                        <a:t>Bộ đệm Cấp 2 (L2 Cache)</a:t>
                      </a:r>
                    </a:p>
                  </a:txBody>
                  <a:tcPr/>
                </a:tc>
                <a:tc>
                  <a:txBody>
                    <a:bodyPr/>
                    <a:lstStyle/>
                    <a:p>
                      <a:pPr>
                        <a:defRPr sz="1200">
                          <a:solidFill>
                            <a:srgbClr val="1C1C1C"/>
                          </a:solidFill>
                          <a:latin typeface="Arial"/>
                        </a:defRPr>
                      </a:pPr>
                      <a:r>
                        <a:t>10 - 12 chu kỳ (~3 ns)</a:t>
                      </a:r>
                    </a:p>
                  </a:txBody>
                  <a:tcPr/>
                </a:tc>
                <a:tc>
                  <a:txBody>
                    <a:bodyPr/>
                    <a:lstStyle/>
                    <a:p>
                      <a:pPr>
                        <a:defRPr sz="1200">
                          <a:solidFill>
                            <a:srgbClr val="1C1C1C"/>
                          </a:solidFill>
                          <a:latin typeface="Arial"/>
                        </a:defRPr>
                      </a:pPr>
                      <a:r>
                        <a:t>~500 GB/giây</a:t>
                      </a:r>
                    </a:p>
                  </a:txBody>
                  <a:tcPr/>
                </a:tc>
              </a:tr>
              <a:tr h="475488">
                <a:tc>
                  <a:txBody>
                    <a:bodyPr/>
                    <a:lstStyle/>
                    <a:p>
                      <a:pPr>
                        <a:defRPr sz="1200">
                          <a:solidFill>
                            <a:srgbClr val="1C1C1C"/>
                          </a:solidFill>
                          <a:latin typeface="Arial"/>
                        </a:defRPr>
                      </a:pPr>
                      <a:r>
                        <a:t>Bộ đệm Dùng chung Cấp 3 (L3 Cache)</a:t>
                      </a:r>
                    </a:p>
                  </a:txBody>
                  <a:tcPr/>
                </a:tc>
                <a:tc>
                  <a:txBody>
                    <a:bodyPr/>
                    <a:lstStyle/>
                    <a:p>
                      <a:pPr>
                        <a:defRPr sz="1200">
                          <a:solidFill>
                            <a:srgbClr val="1C1C1C"/>
                          </a:solidFill>
                          <a:latin typeface="Arial"/>
                        </a:defRPr>
                      </a:pPr>
                      <a:r>
                        <a:t>30 - 40 chu kỳ (~12 ns)</a:t>
                      </a:r>
                    </a:p>
                  </a:txBody>
                  <a:tcPr/>
                </a:tc>
                <a:tc>
                  <a:txBody>
                    <a:bodyPr/>
                    <a:lstStyle/>
                    <a:p>
                      <a:pPr>
                        <a:defRPr sz="1200">
                          <a:solidFill>
                            <a:srgbClr val="1C1C1C"/>
                          </a:solidFill>
                          <a:latin typeface="Arial"/>
                        </a:defRPr>
                      </a:pPr>
                      <a:r>
                        <a:t>~200 GB/giây</a:t>
                      </a:r>
                    </a:p>
                  </a:txBody>
                  <a:tcPr/>
                </a:tc>
              </a:tr>
              <a:tr h="475488">
                <a:tc>
                  <a:txBody>
                    <a:bodyPr/>
                    <a:lstStyle/>
                    <a:p>
                      <a:pPr>
                        <a:defRPr sz="1200">
                          <a:solidFill>
                            <a:srgbClr val="1C1C1C"/>
                          </a:solidFill>
                          <a:latin typeface="Arial"/>
                        </a:defRPr>
                      </a:pPr>
                      <a:r>
                        <a:t>Bộ nhớ Chính (Main DRAM)</a:t>
                      </a:r>
                    </a:p>
                  </a:txBody>
                  <a:tcPr/>
                </a:tc>
                <a:tc>
                  <a:txBody>
                    <a:bodyPr/>
                    <a:lstStyle/>
                    <a:p>
                      <a:pPr>
                        <a:defRPr sz="1200">
                          <a:solidFill>
                            <a:srgbClr val="1C1C1C"/>
                          </a:solidFill>
                          <a:latin typeface="Arial"/>
                        </a:defRPr>
                      </a:pPr>
                      <a:r>
                        <a:t>150 - 250 chu kỳ (~70 ns)</a:t>
                      </a:r>
                    </a:p>
                  </a:txBody>
                  <a:tcPr/>
                </a:tc>
                <a:tc>
                  <a:txBody>
                    <a:bodyPr/>
                    <a:lstStyle/>
                    <a:p>
                      <a:pPr>
                        <a:defRPr sz="1200">
                          <a:solidFill>
                            <a:srgbClr val="1C1C1C"/>
                          </a:solidFill>
                          <a:latin typeface="Arial"/>
                        </a:defRPr>
                      </a:pPr>
                      <a:r>
                        <a:t>~30 - 50 GB/giây (Nút thắt cổ chai)</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15</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Mô hình hóa Trạng thái — Thuộc tính An toàn và Hoạt tính</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Mô hình hóa Trạng thái: Thuộc tính An toàn và Thuộc tính Hoạt tính</a:t>
            </a:r>
          </a:p>
        </p:txBody>
      </p:sp>
      <p:sp>
        <p:nvSpPr>
          <p:cNvPr id="6" name="TextBox 5"/>
          <p:cNvSpPr txBox="1"/>
          <p:nvPr/>
        </p:nvSpPr>
        <p:spPr>
          <a:xfrm>
            <a:off x="365760" y="1828800"/>
            <a:ext cx="4846320" cy="4114800"/>
          </a:xfrm>
          <a:prstGeom prst="rect">
            <a:avLst/>
          </a:prstGeom>
          <a:noFill/>
        </p:spPr>
        <p:txBody>
          <a:bodyPr wrap="square">
            <a:spAutoFit/>
          </a:bodyPr>
          <a:lstStyle/>
          <a:p>
            <a:pPr>
              <a:spcAft>
                <a:spcPts val="600"/>
              </a:spcAft>
              <a:defRPr sz="1300" b="1">
                <a:solidFill>
                  <a:srgbClr val="1C1C1C"/>
                </a:solidFill>
                <a:latin typeface="Arial"/>
              </a:defRPr>
            </a:pPr>
            <a:r>
              <a:t>• Bản chất của mô hình đồng thời: Quản lý và kiểm soát sự tương tác phức tạp giữa các luồng thực thi độc lập diễn ra trong cùng một không gian trạng thái.</a:t>
            </a:r>
          </a:p>
          <a:p>
            <a:pPr>
              <a:spcAft>
                <a:spcPts val="800"/>
              </a:spcAft>
              <a:defRPr sz="1250">
                <a:solidFill>
                  <a:srgbClr val="1C1C1C"/>
                </a:solidFill>
                <a:latin typeface="Arial"/>
              </a:defRPr>
            </a:pPr>
            <a:r>
              <a:t>• Thuộc tính An toàn (Safety): Đảm bảo không có trạng thái sai lệch nào xảy ra trong suốt quá trình vận hành; bảo vệ hệ thống khỏi bế tắc tài nguyên (Deadlock) hay sai lệch dữ liệu.</a:t>
            </a:r>
          </a:p>
          <a:p>
            <a:pPr>
              <a:spcAft>
                <a:spcPts val="800"/>
              </a:spcAft>
              <a:defRPr sz="1250">
                <a:solidFill>
                  <a:srgbClr val="1C1C1C"/>
                </a:solidFill>
                <a:latin typeface="Arial"/>
              </a:defRPr>
            </a:pPr>
            <a:r>
              <a:t>• Thuộc tính Hoạt tính (Liveness): Đảm bảo các trạng thái mong muốn cuối cùng sẽ diễn ra; ngăn chặn hiện tượng một tiến trình bị bỏ đói tài nguyên vĩnh viễn (Starvation).</a:t>
            </a:r>
          </a:p>
          <a:p>
            <a:pPr>
              <a:spcAft>
                <a:spcPts val="800"/>
              </a:spcAft>
              <a:defRPr sz="1250">
                <a:solidFill>
                  <a:srgbClr val="1C1C1C"/>
                </a:solidFill>
                <a:latin typeface="Arial"/>
              </a:defRPr>
            </a:pPr>
            <a:r>
              <a:t>• Giá trị học thuật: Thiết lập cơ sở lý thuyết toán học vững chắc để thẩm định và chứng minh tính đúng đắn của các giải thuật đồng thời và phân tán.</a:t>
            </a:r>
          </a:p>
        </p:txBody>
      </p:sp>
      <p:pic>
        <p:nvPicPr>
          <p:cNvPr id="7" name="Picture 6" descr="Process_states.png"/>
          <p:cNvPicPr>
            <a:picLocks noChangeAspect="1"/>
          </p:cNvPicPr>
          <p:nvPr/>
        </p:nvPicPr>
        <p:blipFill>
          <a:blip r:embed="rId3"/>
          <a:stretch>
            <a:fillRect/>
          </a:stretch>
        </p:blipFill>
        <p:spPr>
          <a:xfrm>
            <a:off x="5394960" y="1828800"/>
            <a:ext cx="3383280" cy="41148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16</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So sánh Đơn vị Thực thi — Tiến trình, Luồng và Hàm đồng quy</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750" b="1">
                <a:solidFill>
                  <a:srgbClr val="1C1C1C"/>
                </a:solidFill>
                <a:latin typeface="Arial"/>
              </a:defRPr>
            </a:pPr>
            <a:r>
              <a:t>Bảng Đối chiếu Đặc tính Kỹ thuật: Tiến trình • Luồng • Hàm đồng quy</a:t>
            </a:r>
          </a:p>
        </p:txBody>
      </p:sp>
      <p:graphicFrame>
        <p:nvGraphicFramePr>
          <p:cNvPr id="6" name="Table 5"/>
          <p:cNvGraphicFramePr>
            <a:graphicFrameLocks noGrp="1"/>
          </p:cNvGraphicFramePr>
          <p:nvPr/>
        </p:nvGraphicFramePr>
        <p:xfrm>
          <a:off x="365760" y="1874519"/>
          <a:ext cx="8412480" cy="4114800"/>
        </p:xfrm>
        <a:graphic>
          <a:graphicData uri="http://schemas.openxmlformats.org/drawingml/2006/table">
            <a:tbl>
              <a:tblPr firstRow="1" bandRow="1">
                <a:tableStyleId>{5C22544A-7EE6-4342-B048-85BDC9FD1C3A}</a:tableStyleId>
              </a:tblPr>
              <a:tblGrid>
                <a:gridCol w="1645920"/>
                <a:gridCol w="2194560"/>
                <a:gridCol w="2194560"/>
                <a:gridCol w="2377440"/>
              </a:tblGrid>
              <a:tr h="374072">
                <a:tc>
                  <a:txBody>
                    <a:bodyPr/>
                    <a:lstStyle/>
                    <a:p>
                      <a:pPr>
                        <a:defRPr sz="1100" b="1">
                          <a:solidFill>
                            <a:srgbClr val="FFFFFF"/>
                          </a:solidFill>
                          <a:latin typeface="Arial"/>
                        </a:defRPr>
                      </a:pPr>
                      <a:r>
                        <a:t>Tiêu chí Đối chiếu</a:t>
                      </a:r>
                    </a:p>
                  </a:txBody>
                  <a:tcPr>
                    <a:solidFill>
                      <a:srgbClr val="E74C3C"/>
                    </a:solidFill>
                  </a:tcPr>
                </a:tc>
                <a:tc>
                  <a:txBody>
                    <a:bodyPr/>
                    <a:lstStyle/>
                    <a:p>
                      <a:pPr>
                        <a:defRPr sz="1100" b="1">
                          <a:solidFill>
                            <a:srgbClr val="FFFFFF"/>
                          </a:solidFill>
                          <a:latin typeface="Arial"/>
                        </a:defRPr>
                      </a:pPr>
                      <a:r>
                        <a:t>Tiến trình (Process)</a:t>
                      </a:r>
                    </a:p>
                  </a:txBody>
                  <a:tcPr>
                    <a:solidFill>
                      <a:srgbClr val="E74C3C"/>
                    </a:solidFill>
                  </a:tcPr>
                </a:tc>
                <a:tc>
                  <a:txBody>
                    <a:bodyPr/>
                    <a:lstStyle/>
                    <a:p>
                      <a:pPr>
                        <a:defRPr sz="1100" b="1">
                          <a:solidFill>
                            <a:srgbClr val="FFFFFF"/>
                          </a:solidFill>
                          <a:latin typeface="Arial"/>
                        </a:defRPr>
                      </a:pPr>
                      <a:r>
                        <a:t>Luồng (Thread)</a:t>
                      </a:r>
                    </a:p>
                  </a:txBody>
                  <a:tcPr>
                    <a:solidFill>
                      <a:srgbClr val="E74C3C"/>
                    </a:solidFill>
                  </a:tcPr>
                </a:tc>
                <a:tc>
                  <a:txBody>
                    <a:bodyPr/>
                    <a:lstStyle/>
                    <a:p>
                      <a:pPr>
                        <a:defRPr sz="1100" b="1">
                          <a:solidFill>
                            <a:srgbClr val="FFFFFF"/>
                          </a:solidFill>
                          <a:latin typeface="Arial"/>
                        </a:defRPr>
                      </a:pPr>
                      <a:r>
                        <a:t>Hàm đồng quy (Coroutine)</a:t>
                      </a:r>
                    </a:p>
                  </a:txBody>
                  <a:tcPr>
                    <a:solidFill>
                      <a:srgbClr val="E74C3C"/>
                    </a:solidFill>
                  </a:tcPr>
                </a:tc>
              </a:tr>
              <a:tr h="374072">
                <a:tc>
                  <a:txBody>
                    <a:bodyPr/>
                    <a:lstStyle/>
                    <a:p>
                      <a:pPr>
                        <a:defRPr sz="950" b="1">
                          <a:solidFill>
                            <a:srgbClr val="1C1C1C"/>
                          </a:solidFill>
                          <a:latin typeface="Arial"/>
                        </a:defRPr>
                      </a:pPr>
                      <a:r>
                        <a:t>Tầng quản lý</a:t>
                      </a:r>
                    </a:p>
                  </a:txBody>
                  <a:tcPr/>
                </a:tc>
                <a:tc>
                  <a:txBody>
                    <a:bodyPr/>
                    <a:lstStyle/>
                    <a:p>
                      <a:pPr>
                        <a:defRPr sz="950">
                          <a:solidFill>
                            <a:srgbClr val="1C1C1C"/>
                          </a:solidFill>
                          <a:latin typeface="Arial"/>
                        </a:defRPr>
                      </a:pPr>
                      <a:r>
                        <a:t>Nhân hệ điều hành (Kernel)</a:t>
                      </a:r>
                    </a:p>
                  </a:txBody>
                  <a:tcPr/>
                </a:tc>
                <a:tc>
                  <a:txBody>
                    <a:bodyPr/>
                    <a:lstStyle/>
                    <a:p>
                      <a:pPr>
                        <a:defRPr sz="950">
                          <a:solidFill>
                            <a:srgbClr val="1C1C1C"/>
                          </a:solidFill>
                          <a:latin typeface="Arial"/>
                        </a:defRPr>
                      </a:pPr>
                      <a:r>
                        <a:t>Nhân hệ điều hành (Kernel)</a:t>
                      </a:r>
                    </a:p>
                  </a:txBody>
                  <a:tcPr/>
                </a:tc>
                <a:tc>
                  <a:txBody>
                    <a:bodyPr/>
                    <a:lstStyle/>
                    <a:p>
                      <a:pPr>
                        <a:defRPr sz="950">
                          <a:solidFill>
                            <a:srgbClr val="1C1C1C"/>
                          </a:solidFill>
                          <a:latin typeface="Arial"/>
                        </a:defRPr>
                      </a:pPr>
                      <a:r>
                        <a:t>Không gian người dùng (User-space)</a:t>
                      </a:r>
                    </a:p>
                  </a:txBody>
                  <a:tcPr/>
                </a:tc>
              </a:tr>
              <a:tr h="374072">
                <a:tc>
                  <a:txBody>
                    <a:bodyPr/>
                    <a:lstStyle/>
                    <a:p>
                      <a:pPr>
                        <a:defRPr sz="950" b="1">
                          <a:solidFill>
                            <a:srgbClr val="1C1C1C"/>
                          </a:solidFill>
                          <a:latin typeface="Arial"/>
                        </a:defRPr>
                      </a:pPr>
                      <a:r>
                        <a:t>Cơ chế Lập lịch</a:t>
                      </a:r>
                    </a:p>
                  </a:txBody>
                  <a:tcPr/>
                </a:tc>
                <a:tc>
                  <a:txBody>
                    <a:bodyPr/>
                    <a:lstStyle/>
                    <a:p>
                      <a:pPr>
                        <a:defRPr sz="950">
                          <a:solidFill>
                            <a:srgbClr val="1C1C1C"/>
                          </a:solidFill>
                          <a:latin typeface="Arial"/>
                        </a:defRPr>
                      </a:pPr>
                      <a:r>
                        <a:t>Tranh đoạt ưu tiên (Preemptive)</a:t>
                      </a:r>
                    </a:p>
                  </a:txBody>
                  <a:tcPr/>
                </a:tc>
                <a:tc>
                  <a:txBody>
                    <a:bodyPr/>
                    <a:lstStyle/>
                    <a:p>
                      <a:pPr>
                        <a:defRPr sz="950">
                          <a:solidFill>
                            <a:srgbClr val="1C1C1C"/>
                          </a:solidFill>
                          <a:latin typeface="Arial"/>
                        </a:defRPr>
                      </a:pPr>
                      <a:r>
                        <a:t>Tranh đoạt ưu tiên (Preemptive)</a:t>
                      </a:r>
                    </a:p>
                  </a:txBody>
                  <a:tcPr/>
                </a:tc>
                <a:tc>
                  <a:txBody>
                    <a:bodyPr/>
                    <a:lstStyle/>
                    <a:p>
                      <a:pPr>
                        <a:defRPr sz="950">
                          <a:solidFill>
                            <a:srgbClr val="1C1C1C"/>
                          </a:solidFill>
                          <a:latin typeface="Arial"/>
                        </a:defRPr>
                      </a:pPr>
                      <a:r>
                        <a:t>Hợp tác tự nguyện (Cooperative)</a:t>
                      </a:r>
                    </a:p>
                  </a:txBody>
                  <a:tcPr/>
                </a:tc>
              </a:tr>
              <a:tr h="374072">
                <a:tc>
                  <a:txBody>
                    <a:bodyPr/>
                    <a:lstStyle/>
                    <a:p>
                      <a:pPr>
                        <a:defRPr sz="950" b="1">
                          <a:solidFill>
                            <a:srgbClr val="1C1C1C"/>
                          </a:solidFill>
                          <a:latin typeface="Arial"/>
                        </a:defRPr>
                      </a:pPr>
                      <a:r>
                        <a:t>Không gian bộ nhớ</a:t>
                      </a:r>
                    </a:p>
                  </a:txBody>
                  <a:tcPr/>
                </a:tc>
                <a:tc>
                  <a:txBody>
                    <a:bodyPr/>
                    <a:lstStyle/>
                    <a:p>
                      <a:pPr>
                        <a:defRPr sz="950">
                          <a:solidFill>
                            <a:srgbClr val="1C1C1C"/>
                          </a:solidFill>
                          <a:latin typeface="Arial"/>
                        </a:defRPr>
                      </a:pPr>
                      <a:r>
                        <a:t>Cô lập hoàn toàn (Private)</a:t>
                      </a:r>
                    </a:p>
                  </a:txBody>
                  <a:tcPr/>
                </a:tc>
                <a:tc>
                  <a:txBody>
                    <a:bodyPr/>
                    <a:lstStyle/>
                    <a:p>
                      <a:pPr>
                        <a:defRPr sz="950">
                          <a:solidFill>
                            <a:srgbClr val="1C1C1C"/>
                          </a:solidFill>
                          <a:latin typeface="Arial"/>
                        </a:defRPr>
                      </a:pPr>
                      <a:r>
                        <a:t>Chia sẻ chung Vùng nhớ tĩnh/Động</a:t>
                      </a:r>
                    </a:p>
                  </a:txBody>
                  <a:tcPr/>
                </a:tc>
                <a:tc>
                  <a:txBody>
                    <a:bodyPr/>
                    <a:lstStyle/>
                    <a:p>
                      <a:pPr>
                        <a:defRPr sz="950">
                          <a:solidFill>
                            <a:srgbClr val="1C1C1C"/>
                          </a:solidFill>
                          <a:latin typeface="Arial"/>
                        </a:defRPr>
                      </a:pPr>
                      <a:r>
                        <a:t>Chia sẻ chung bộ nhớ Luồng sở tại</a:t>
                      </a:r>
                    </a:p>
                  </a:txBody>
                  <a:tcPr/>
                </a:tc>
              </a:tr>
              <a:tr h="374072">
                <a:tc>
                  <a:txBody>
                    <a:bodyPr/>
                    <a:lstStyle/>
                    <a:p>
                      <a:pPr>
                        <a:defRPr sz="950" b="1">
                          <a:solidFill>
                            <a:srgbClr val="1C1C1C"/>
                          </a:solidFill>
                          <a:latin typeface="Arial"/>
                        </a:defRPr>
                      </a:pPr>
                      <a:r>
                        <a:t>Bộ nhớ RAM</a:t>
                      </a:r>
                    </a:p>
                  </a:txBody>
                  <a:tcPr/>
                </a:tc>
                <a:tc>
                  <a:txBody>
                    <a:bodyPr/>
                    <a:lstStyle/>
                    <a:p>
                      <a:pPr>
                        <a:defRPr sz="950">
                          <a:solidFill>
                            <a:srgbClr val="1C1C1C"/>
                          </a:solidFill>
                          <a:latin typeface="Arial"/>
                        </a:defRPr>
                      </a:pPr>
                      <a:r>
                        <a:t>~15–30 MB / tiến trình</a:t>
                      </a:r>
                    </a:p>
                  </a:txBody>
                  <a:tcPr/>
                </a:tc>
                <a:tc>
                  <a:txBody>
                    <a:bodyPr/>
                    <a:lstStyle/>
                    <a:p>
                      <a:pPr>
                        <a:defRPr sz="950">
                          <a:solidFill>
                            <a:srgbClr val="1C1C1C"/>
                          </a:solidFill>
                          <a:latin typeface="Arial"/>
                        </a:defRPr>
                      </a:pPr>
                      <a:r>
                        <a:t>~8 MB ngăn xếp ảo, ~100KB thực</a:t>
                      </a:r>
                    </a:p>
                  </a:txBody>
                  <a:tcPr/>
                </a:tc>
                <a:tc>
                  <a:txBody>
                    <a:bodyPr/>
                    <a:lstStyle/>
                    <a:p>
                      <a:pPr>
                        <a:defRPr sz="950">
                          <a:solidFill>
                            <a:srgbClr val="1C1C1C"/>
                          </a:solidFill>
                          <a:latin typeface="Arial"/>
                        </a:defRPr>
                      </a:pPr>
                      <a:r>
                        <a:t>~1–2 KB / hàm đồng quy siêu nhẹ</a:t>
                      </a:r>
                    </a:p>
                  </a:txBody>
                  <a:tcPr/>
                </a:tc>
              </a:tr>
              <a:tr h="374072">
                <a:tc>
                  <a:txBody>
                    <a:bodyPr/>
                    <a:lstStyle/>
                    <a:p>
                      <a:pPr>
                        <a:defRPr sz="950" b="1">
                          <a:solidFill>
                            <a:srgbClr val="1C1C1C"/>
                          </a:solidFill>
                          <a:latin typeface="Arial"/>
                        </a:defRPr>
                      </a:pPr>
                      <a:r>
                        <a:t>Thời gian tạo mới</a:t>
                      </a:r>
                    </a:p>
                  </a:txBody>
                  <a:tcPr/>
                </a:tc>
                <a:tc>
                  <a:txBody>
                    <a:bodyPr/>
                    <a:lstStyle/>
                    <a:p>
                      <a:pPr>
                        <a:defRPr sz="950">
                          <a:solidFill>
                            <a:srgbClr val="1C1C1C"/>
                          </a:solidFill>
                          <a:latin typeface="Arial"/>
                        </a:defRPr>
                      </a:pPr>
                      <a:r>
                        <a:t>~10–50 mili-giây (Rất nặng)</a:t>
                      </a:r>
                    </a:p>
                  </a:txBody>
                  <a:tcPr/>
                </a:tc>
                <a:tc>
                  <a:txBody>
                    <a:bodyPr/>
                    <a:lstStyle/>
                    <a:p>
                      <a:pPr>
                        <a:defRPr sz="950">
                          <a:solidFill>
                            <a:srgbClr val="1C1C1C"/>
                          </a:solidFill>
                          <a:latin typeface="Arial"/>
                        </a:defRPr>
                      </a:pPr>
                      <a:r>
                        <a:t>~50–200 micro-giây</a:t>
                      </a:r>
                    </a:p>
                  </a:txBody>
                  <a:tcPr/>
                </a:tc>
                <a:tc>
                  <a:txBody>
                    <a:bodyPr/>
                    <a:lstStyle/>
                    <a:p>
                      <a:pPr>
                        <a:defRPr sz="950">
                          <a:solidFill>
                            <a:srgbClr val="1C1C1C"/>
                          </a:solidFill>
                          <a:latin typeface="Arial"/>
                        </a:defRPr>
                      </a:pPr>
                      <a:r>
                        <a:t>&lt; 1 micro-giây (Siêu tốc độ)</a:t>
                      </a:r>
                    </a:p>
                  </a:txBody>
                  <a:tcPr/>
                </a:tc>
              </a:tr>
              <a:tr h="374072">
                <a:tc>
                  <a:txBody>
                    <a:bodyPr/>
                    <a:lstStyle/>
                    <a:p>
                      <a:pPr>
                        <a:defRPr sz="950" b="1">
                          <a:solidFill>
                            <a:srgbClr val="1C1C1C"/>
                          </a:solidFill>
                          <a:latin typeface="Arial"/>
                        </a:defRPr>
                      </a:pPr>
                      <a:r>
                        <a:t>Chuyển ngữ cảnh</a:t>
                      </a:r>
                    </a:p>
                  </a:txBody>
                  <a:tcPr/>
                </a:tc>
                <a:tc>
                  <a:txBody>
                    <a:bodyPr/>
                    <a:lstStyle/>
                    <a:p>
                      <a:pPr>
                        <a:defRPr sz="950">
                          <a:solidFill>
                            <a:srgbClr val="1C1C1C"/>
                          </a:solidFill>
                          <a:latin typeface="Arial"/>
                        </a:defRPr>
                      </a:pPr>
                      <a:r>
                        <a:t>~5–15 micro-giây (Xóa TLB)</a:t>
                      </a:r>
                    </a:p>
                  </a:txBody>
                  <a:tcPr/>
                </a:tc>
                <a:tc>
                  <a:txBody>
                    <a:bodyPr/>
                    <a:lstStyle/>
                    <a:p>
                      <a:pPr>
                        <a:defRPr sz="950">
                          <a:solidFill>
                            <a:srgbClr val="1C1C1C"/>
                          </a:solidFill>
                          <a:latin typeface="Arial"/>
                        </a:defRPr>
                      </a:pPr>
                      <a:r>
                        <a:t>~1–3 micro-giây (Lưu thanh ghi)</a:t>
                      </a:r>
                    </a:p>
                  </a:txBody>
                  <a:tcPr/>
                </a:tc>
                <a:tc>
                  <a:txBody>
                    <a:bodyPr/>
                    <a:lstStyle/>
                    <a:p>
                      <a:pPr>
                        <a:defRPr sz="950">
                          <a:solidFill>
                            <a:srgbClr val="1C1C1C"/>
                          </a:solidFill>
                          <a:latin typeface="Arial"/>
                        </a:defRPr>
                      </a:pPr>
                      <a:r>
                        <a:t>~20–50 nano-giây (Đổi con trỏ)</a:t>
                      </a:r>
                    </a:p>
                  </a:txBody>
                  <a:tcPr/>
                </a:tc>
              </a:tr>
              <a:tr h="374072">
                <a:tc>
                  <a:txBody>
                    <a:bodyPr/>
                    <a:lstStyle/>
                    <a:p>
                      <a:pPr>
                        <a:defRPr sz="950" b="1">
                          <a:solidFill>
                            <a:srgbClr val="1C1C1C"/>
                          </a:solidFill>
                          <a:latin typeface="Arial"/>
                        </a:defRPr>
                      </a:pPr>
                      <a:r>
                        <a:t>Khai thác Đa lõi</a:t>
                      </a:r>
                    </a:p>
                  </a:txBody>
                  <a:tcPr/>
                </a:tc>
                <a:tc>
                  <a:txBody>
                    <a:bodyPr/>
                    <a:lstStyle/>
                    <a:p>
                      <a:pPr>
                        <a:defRPr sz="950">
                          <a:solidFill>
                            <a:srgbClr val="1C1C1C"/>
                          </a:solidFill>
                          <a:latin typeface="Arial"/>
                        </a:defRPr>
                      </a:pPr>
                      <a:r>
                        <a:t>Tuyệt đối (Mỗi tiến trình 1 core)</a:t>
                      </a:r>
                    </a:p>
                  </a:txBody>
                  <a:tcPr/>
                </a:tc>
                <a:tc>
                  <a:txBody>
                    <a:bodyPr/>
                    <a:lstStyle/>
                    <a:p>
                      <a:pPr>
                        <a:defRPr sz="950">
                          <a:solidFill>
                            <a:srgbClr val="1C1C1C"/>
                          </a:solidFill>
                          <a:latin typeface="Arial"/>
                        </a:defRPr>
                      </a:pPr>
                      <a:r>
                        <a:t>Bị hạn chế bởi khóa GIL CPython</a:t>
                      </a:r>
                    </a:p>
                  </a:txBody>
                  <a:tcPr/>
                </a:tc>
                <a:tc>
                  <a:txBody>
                    <a:bodyPr/>
                    <a:lstStyle/>
                    <a:p>
                      <a:pPr>
                        <a:defRPr sz="950">
                          <a:solidFill>
                            <a:srgbClr val="1C1C1C"/>
                          </a:solidFill>
                          <a:latin typeface="Arial"/>
                        </a:defRPr>
                      </a:pPr>
                      <a:r>
                        <a:t>Chạy trên 1 core (Vòng lặp đơn)</a:t>
                      </a:r>
                    </a:p>
                  </a:txBody>
                  <a:tcPr/>
                </a:tc>
              </a:tr>
              <a:tr h="374072">
                <a:tc>
                  <a:txBody>
                    <a:bodyPr/>
                    <a:lstStyle/>
                    <a:p>
                      <a:pPr>
                        <a:defRPr sz="950" b="1">
                          <a:solidFill>
                            <a:srgbClr val="1C1C1C"/>
                          </a:solidFill>
                          <a:latin typeface="Arial"/>
                        </a:defRPr>
                      </a:pPr>
                      <a:r>
                        <a:t>Kênh giao tiếp</a:t>
                      </a:r>
                    </a:p>
                  </a:txBody>
                  <a:tcPr/>
                </a:tc>
                <a:tc>
                  <a:txBody>
                    <a:bodyPr/>
                    <a:lstStyle/>
                    <a:p>
                      <a:pPr>
                        <a:defRPr sz="950">
                          <a:solidFill>
                            <a:srgbClr val="1C1C1C"/>
                          </a:solidFill>
                          <a:latin typeface="Arial"/>
                        </a:defRPr>
                      </a:pPr>
                      <a:r>
                        <a:t>Truyền thông liên tiến trình (IPC)</a:t>
                      </a:r>
                    </a:p>
                  </a:txBody>
                  <a:tcPr/>
                </a:tc>
                <a:tc>
                  <a:txBody>
                    <a:bodyPr/>
                    <a:lstStyle/>
                    <a:p>
                      <a:pPr>
                        <a:defRPr sz="950">
                          <a:solidFill>
                            <a:srgbClr val="1C1C1C"/>
                          </a:solidFill>
                          <a:latin typeface="Arial"/>
                        </a:defRPr>
                      </a:pPr>
                      <a:r>
                        <a:t>Truy xuất bộ nhớ chung trực tiếp</a:t>
                      </a:r>
                    </a:p>
                  </a:txBody>
                  <a:tcPr/>
                </a:tc>
                <a:tc>
                  <a:txBody>
                    <a:bodyPr/>
                    <a:lstStyle/>
                    <a:p>
                      <a:pPr>
                        <a:defRPr sz="950">
                          <a:solidFill>
                            <a:srgbClr val="1C1C1C"/>
                          </a:solidFill>
                          <a:latin typeface="Arial"/>
                        </a:defRPr>
                      </a:pPr>
                      <a:r>
                        <a:t>Biến trực tiếp / Hàng đợi bất đồng bộ</a:t>
                      </a:r>
                    </a:p>
                  </a:txBody>
                  <a:tcPr/>
                </a:tc>
              </a:tr>
              <a:tr h="374072">
                <a:tc>
                  <a:txBody>
                    <a:bodyPr/>
                    <a:lstStyle/>
                    <a:p>
                      <a:pPr>
                        <a:defRPr sz="950" b="1">
                          <a:solidFill>
                            <a:srgbClr val="1C1C1C"/>
                          </a:solidFill>
                          <a:latin typeface="Arial"/>
                        </a:defRPr>
                      </a:pPr>
                      <a:r>
                        <a:t>Rủi ro tiềm ẩn</a:t>
                      </a:r>
                    </a:p>
                  </a:txBody>
                  <a:tcPr/>
                </a:tc>
                <a:tc>
                  <a:txBody>
                    <a:bodyPr/>
                    <a:lstStyle/>
                    <a:p>
                      <a:pPr>
                        <a:defRPr sz="950">
                          <a:solidFill>
                            <a:srgbClr val="1C1C1C"/>
                          </a:solidFill>
                          <a:latin typeface="Arial"/>
                        </a:defRPr>
                      </a:pPr>
                      <a:r>
                        <a:t>Bế tắc giao tiếp, cạn kiệt RAM</a:t>
                      </a:r>
                    </a:p>
                  </a:txBody>
                  <a:tcPr/>
                </a:tc>
                <a:tc>
                  <a:txBody>
                    <a:bodyPr/>
                    <a:lstStyle/>
                    <a:p>
                      <a:pPr>
                        <a:defRPr sz="950">
                          <a:solidFill>
                            <a:srgbClr val="1C1C1C"/>
                          </a:solidFill>
                          <a:latin typeface="Arial"/>
                        </a:defRPr>
                      </a:pPr>
                      <a:r>
                        <a:t>Tranh chấp dữ liệu, Bế tắc khóa</a:t>
                      </a:r>
                    </a:p>
                  </a:txBody>
                  <a:tcPr/>
                </a:tc>
                <a:tc>
                  <a:txBody>
                    <a:bodyPr/>
                    <a:lstStyle/>
                    <a:p>
                      <a:pPr>
                        <a:defRPr sz="950">
                          <a:solidFill>
                            <a:srgbClr val="1C1C1C"/>
                          </a:solidFill>
                          <a:latin typeface="Arial"/>
                        </a:defRPr>
                      </a:pPr>
                      <a:r>
                        <a:t>Đóng băng vòng lặp nếu gọi hàm chặn</a:t>
                      </a:r>
                    </a:p>
                  </a:txBody>
                  <a:tcPr/>
                </a:tc>
              </a:tr>
              <a:tr h="374080">
                <a:tc>
                  <a:txBody>
                    <a:bodyPr/>
                    <a:lstStyle/>
                    <a:p>
                      <a:pPr>
                        <a:defRPr sz="950" b="1">
                          <a:solidFill>
                            <a:srgbClr val="1C1C1C"/>
                          </a:solidFill>
                          <a:latin typeface="Arial"/>
                        </a:defRPr>
                      </a:pPr>
                      <a:r>
                        <a:t>Miền tối ưu nhất</a:t>
                      </a:r>
                    </a:p>
                  </a:txBody>
                  <a:tcPr/>
                </a:tc>
                <a:tc>
                  <a:txBody>
                    <a:bodyPr/>
                    <a:lstStyle/>
                    <a:p>
                      <a:pPr>
                        <a:defRPr sz="950">
                          <a:solidFill>
                            <a:srgbClr val="1C1C1C"/>
                          </a:solidFill>
                          <a:latin typeface="Arial"/>
                        </a:defRPr>
                      </a:pPr>
                      <a:r>
                        <a:t>Tính toán nặng CPU thuần Python</a:t>
                      </a:r>
                    </a:p>
                  </a:txBody>
                  <a:tcPr/>
                </a:tc>
                <a:tc>
                  <a:txBody>
                    <a:bodyPr/>
                    <a:lstStyle/>
                    <a:p>
                      <a:pPr>
                        <a:defRPr sz="950">
                          <a:solidFill>
                            <a:srgbClr val="1C1C1C"/>
                          </a:solidFill>
                          <a:latin typeface="Arial"/>
                        </a:defRPr>
                      </a:pPr>
                      <a:r>
                        <a:t>Chờ Vào/Ra khi thư viện chặn</a:t>
                      </a:r>
                    </a:p>
                  </a:txBody>
                  <a:tcPr/>
                </a:tc>
                <a:tc>
                  <a:txBody>
                    <a:bodyPr/>
                    <a:lstStyle/>
                    <a:p>
                      <a:pPr>
                        <a:defRPr sz="950">
                          <a:solidFill>
                            <a:srgbClr val="1C1C1C"/>
                          </a:solidFill>
                          <a:latin typeface="Arial"/>
                        </a:defRPr>
                      </a:pPr>
                      <a:r>
                        <a:t>Vào/Ra quy mô lớn (Hàng vạn kết nối)</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17</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Kiến trúc Vào/Ra — Ma trận Phân loại Hai Chiều</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Ma trận Phân loại Kiến trúc Vào/Ra: Đồng bộ vs Bất đồng bộ</a:t>
            </a:r>
          </a:p>
        </p:txBody>
      </p:sp>
      <p:graphicFrame>
        <p:nvGraphicFramePr>
          <p:cNvPr id="6" name="Table 5"/>
          <p:cNvGraphicFramePr>
            <a:graphicFrameLocks noGrp="1"/>
          </p:cNvGraphicFramePr>
          <p:nvPr/>
        </p:nvGraphicFramePr>
        <p:xfrm>
          <a:off x="365760" y="1874519"/>
          <a:ext cx="8412480" cy="4114800"/>
        </p:xfrm>
        <a:graphic>
          <a:graphicData uri="http://schemas.openxmlformats.org/drawingml/2006/table">
            <a:tbl>
              <a:tblPr firstRow="1" bandRow="1">
                <a:tableStyleId>{5C22544A-7EE6-4342-B048-85BDC9FD1C3A}</a:tableStyleId>
              </a:tblPr>
              <a:tblGrid>
                <a:gridCol w="1828800"/>
                <a:gridCol w="2194560"/>
                <a:gridCol w="2194560"/>
                <a:gridCol w="2194560"/>
              </a:tblGrid>
              <a:tr h="822960">
                <a:tc>
                  <a:txBody>
                    <a:bodyPr/>
                    <a:lstStyle/>
                    <a:p>
                      <a:pPr>
                        <a:defRPr sz="1100" b="1">
                          <a:solidFill>
                            <a:srgbClr val="FFFFFF"/>
                          </a:solidFill>
                          <a:latin typeface="Arial"/>
                        </a:defRPr>
                      </a:pPr>
                      <a:r>
                        <a:t>Mô hình Kết hợp</a:t>
                      </a:r>
                    </a:p>
                  </a:txBody>
                  <a:tcPr>
                    <a:solidFill>
                      <a:srgbClr val="E74C3C"/>
                    </a:solidFill>
                  </a:tcPr>
                </a:tc>
                <a:tc>
                  <a:txBody>
                    <a:bodyPr/>
                    <a:lstStyle/>
                    <a:p>
                      <a:pPr>
                        <a:defRPr sz="1100" b="1">
                          <a:solidFill>
                            <a:srgbClr val="FFFFFF"/>
                          </a:solidFill>
                          <a:latin typeface="Arial"/>
                        </a:defRPr>
                      </a:pPr>
                      <a:r>
                        <a:t>Cơ chế Hoạt động</a:t>
                      </a:r>
                    </a:p>
                  </a:txBody>
                  <a:tcPr>
                    <a:solidFill>
                      <a:srgbClr val="E74C3C"/>
                    </a:solidFill>
                  </a:tcPr>
                </a:tc>
                <a:tc>
                  <a:txBody>
                    <a:bodyPr/>
                    <a:lstStyle/>
                    <a:p>
                      <a:pPr>
                        <a:defRPr sz="1100" b="1">
                          <a:solidFill>
                            <a:srgbClr val="FFFFFF"/>
                          </a:solidFill>
                          <a:latin typeface="Arial"/>
                        </a:defRPr>
                      </a:pPr>
                      <a:r>
                        <a:t>Tác động Hiệu năng</a:t>
                      </a:r>
                    </a:p>
                  </a:txBody>
                  <a:tcPr>
                    <a:solidFill>
                      <a:srgbClr val="E74C3C"/>
                    </a:solidFill>
                  </a:tcPr>
                </a:tc>
                <a:tc>
                  <a:txBody>
                    <a:bodyPr/>
                    <a:lstStyle/>
                    <a:p>
                      <a:pPr>
                        <a:defRPr sz="1100" b="1">
                          <a:solidFill>
                            <a:srgbClr val="FFFFFF"/>
                          </a:solidFill>
                          <a:latin typeface="Arial"/>
                        </a:defRPr>
                      </a:pPr>
                      <a:r>
                        <a:t>Minh họa Cú pháp Python</a:t>
                      </a:r>
                    </a:p>
                  </a:txBody>
                  <a:tcPr>
                    <a:solidFill>
                      <a:srgbClr val="E74C3C"/>
                    </a:solidFill>
                  </a:tcPr>
                </a:tc>
              </a:tr>
              <a:tr h="822960">
                <a:tc>
                  <a:txBody>
                    <a:bodyPr/>
                    <a:lstStyle/>
                    <a:p>
                      <a:pPr>
                        <a:defRPr sz="1000" b="1">
                          <a:solidFill>
                            <a:srgbClr val="1C1C1C"/>
                          </a:solidFill>
                          <a:latin typeface="Arial"/>
                        </a:defRPr>
                      </a:pPr>
                      <a:r>
                        <a:t>1. Đồng bộ + Phong tỏa</a:t>
                      </a:r>
                      <a:br/>
                      <a:r>
                        <a:t>(Sync Blocking)</a:t>
                      </a:r>
                    </a:p>
                  </a:txBody>
                  <a:tcPr/>
                </a:tc>
                <a:tc>
                  <a:txBody>
                    <a:bodyPr/>
                    <a:lstStyle/>
                    <a:p>
                      <a:pPr>
                        <a:defRPr sz="1000">
                          <a:solidFill>
                            <a:srgbClr val="1C1C1C"/>
                          </a:solidFill>
                          <a:latin typeface="Arial"/>
                        </a:defRPr>
                      </a:pPr>
                      <a:r>
                        <a:t>Bên gọi chờ kết quả; luồng bị hệ điều hành đưa vào trạng thái ngủ.</a:t>
                      </a:r>
                    </a:p>
                  </a:txBody>
                  <a:tcPr/>
                </a:tc>
                <a:tc>
                  <a:txBody>
                    <a:bodyPr/>
                    <a:lstStyle/>
                    <a:p>
                      <a:pPr>
                        <a:defRPr sz="1000">
                          <a:solidFill>
                            <a:srgbClr val="1C1C1C"/>
                          </a:solidFill>
                          <a:latin typeface="Arial"/>
                        </a:defRPr>
                      </a:pPr>
                      <a:r>
                        <a:t>Đơn giản nhưng lãng phí nghiêm trọng chu kỳ vi xử lý khi có trễ Vào/Ra.</a:t>
                      </a:r>
                    </a:p>
                  </a:txBody>
                  <a:tcPr/>
                </a:tc>
                <a:tc>
                  <a:txBody>
                    <a:bodyPr/>
                    <a:lstStyle/>
                    <a:p>
                      <a:pPr>
                        <a:defRPr sz="950">
                          <a:solidFill>
                            <a:srgbClr val="1C1C1C"/>
                          </a:solidFill>
                          <a:latin typeface="Consolas"/>
                        </a:defRPr>
                      </a:pPr>
                      <a:r>
                        <a:t>import requests</a:t>
                      </a:r>
                      <a:br/>
                      <a:r>
                        <a:t>resp = requests.get(url)</a:t>
                      </a:r>
                      <a:br/>
                      <a:r>
                        <a:t># Chặn cứng luồng thực thi</a:t>
                      </a:r>
                    </a:p>
                  </a:txBody>
                  <a:tcPr/>
                </a:tc>
              </a:tr>
              <a:tr h="822960">
                <a:tc>
                  <a:txBody>
                    <a:bodyPr/>
                    <a:lstStyle/>
                    <a:p>
                      <a:pPr>
                        <a:defRPr sz="1000" b="1">
                          <a:solidFill>
                            <a:srgbClr val="1C1C1C"/>
                          </a:solidFill>
                          <a:latin typeface="Arial"/>
                        </a:defRPr>
                      </a:pPr>
                      <a:r>
                        <a:t>2. Đồng bộ + Phi phong tỏa</a:t>
                      </a:r>
                      <a:br/>
                      <a:r>
                        <a:t>(Sync Non-blocking)</a:t>
                      </a:r>
                    </a:p>
                  </a:txBody>
                  <a:tcPr/>
                </a:tc>
                <a:tc>
                  <a:txBody>
                    <a:bodyPr/>
                    <a:lstStyle/>
                    <a:p>
                      <a:pPr>
                        <a:defRPr sz="1000">
                          <a:solidFill>
                            <a:srgbClr val="1C1C1C"/>
                          </a:solidFill>
                          <a:latin typeface="Arial"/>
                        </a:defRPr>
                      </a:pPr>
                      <a:r>
                        <a:t>Bên gọi nhận tín hiệu ngay; lặp lại việc thăm dò trạng thái liên tục.</a:t>
                      </a:r>
                    </a:p>
                  </a:txBody>
                  <a:tcPr/>
                </a:tc>
                <a:tc>
                  <a:txBody>
                    <a:bodyPr/>
                    <a:lstStyle/>
                    <a:p>
                      <a:pPr>
                        <a:defRPr sz="1000">
                          <a:solidFill>
                            <a:srgbClr val="1C1C1C"/>
                          </a:solidFill>
                          <a:latin typeface="Arial"/>
                        </a:defRPr>
                      </a:pPr>
                      <a:r>
                        <a:t>Tạo tải ảo, làm vi xử lý tăng 100% chỉ để thăm dò kết quả sẵn sàng.</a:t>
                      </a:r>
                    </a:p>
                  </a:txBody>
                  <a:tcPr/>
                </a:tc>
                <a:tc>
                  <a:txBody>
                    <a:bodyPr/>
                    <a:lstStyle/>
                    <a:p>
                      <a:pPr>
                        <a:defRPr sz="950">
                          <a:solidFill>
                            <a:srgbClr val="1C1C1C"/>
                          </a:solidFill>
                          <a:latin typeface="Consolas"/>
                        </a:defRPr>
                      </a:pPr>
                      <a:r>
                        <a:t>sock.setblocking(False)</a:t>
                      </a:r>
                      <a:br/>
                      <a:r>
                        <a:t>while True:</a:t>
                      </a:r>
                      <a:br/>
                      <a:r>
                        <a:t>  try: data=recv(); break</a:t>
                      </a:r>
                      <a:br/>
                      <a:r>
                        <a:t>  except: pass</a:t>
                      </a:r>
                    </a:p>
                  </a:txBody>
                  <a:tcPr/>
                </a:tc>
              </a:tr>
              <a:tr h="822960">
                <a:tc>
                  <a:txBody>
                    <a:bodyPr/>
                    <a:lstStyle/>
                    <a:p>
                      <a:pPr>
                        <a:defRPr sz="1000" b="1">
                          <a:solidFill>
                            <a:srgbClr val="B91C1C"/>
                          </a:solidFill>
                          <a:latin typeface="Arial"/>
                        </a:defRPr>
                      </a:pPr>
                      <a:r>
                        <a:t>3. Bất đồng bộ + Phong tỏa</a:t>
                      </a:r>
                      <a:br/>
                      <a:r>
                        <a:t>(Phản mẫu Thiết kế)</a:t>
                      </a:r>
                    </a:p>
                  </a:txBody>
                  <a:tcPr/>
                </a:tc>
                <a:tc>
                  <a:txBody>
                    <a:bodyPr/>
                    <a:lstStyle/>
                    <a:p>
                      <a:pPr>
                        <a:defRPr sz="1000">
                          <a:solidFill>
                            <a:srgbClr val="1C1C1C"/>
                          </a:solidFill>
                          <a:latin typeface="Arial"/>
                        </a:defRPr>
                      </a:pPr>
                      <a:r>
                        <a:t>Khai báo hàm async nhưng bên trong gọi lời gọi hàm phong tỏa.</a:t>
                      </a:r>
                    </a:p>
                  </a:txBody>
                  <a:tcPr/>
                </a:tc>
                <a:tc>
                  <a:txBody>
                    <a:bodyPr/>
                    <a:lstStyle/>
                    <a:p>
                      <a:pPr>
                        <a:defRPr sz="1000">
                          <a:solidFill>
                            <a:srgbClr val="1C1C1C"/>
                          </a:solidFill>
                          <a:latin typeface="Arial"/>
                        </a:defRPr>
                      </a:pPr>
                      <a:r>
                        <a:t>LỖI CHÍ MẠNG: Đóng băng toàn bộ Vòng lặp Sự kiện, tê liệt hệ thống!</a:t>
                      </a:r>
                    </a:p>
                  </a:txBody>
                  <a:tcPr/>
                </a:tc>
                <a:tc>
                  <a:txBody>
                    <a:bodyPr/>
                    <a:lstStyle/>
                    <a:p>
                      <a:pPr>
                        <a:defRPr sz="950">
                          <a:solidFill>
                            <a:srgbClr val="1C1C1C"/>
                          </a:solidFill>
                          <a:latin typeface="Consolas"/>
                        </a:defRPr>
                      </a:pPr>
                      <a:r>
                        <a:t>async def get():</a:t>
                      </a:r>
                      <a:br/>
                      <a:r>
                        <a:t>  time.sleep(2) # ĐÓNG BĂNG!</a:t>
                      </a:r>
                      <a:br/>
                      <a:r>
                        <a:t>  return 'ok'</a:t>
                      </a:r>
                    </a:p>
                  </a:txBody>
                  <a:tcPr/>
                </a:tc>
              </a:tr>
              <a:tr h="822960">
                <a:tc>
                  <a:txBody>
                    <a:bodyPr/>
                    <a:lstStyle/>
                    <a:p>
                      <a:pPr>
                        <a:defRPr sz="1000" b="1">
                          <a:solidFill>
                            <a:srgbClr val="1C1C1C"/>
                          </a:solidFill>
                          <a:latin typeface="Arial"/>
                        </a:defRPr>
                      </a:pPr>
                      <a:r>
                        <a:t>4. Bất đồng bộ + Phi phong tỏa</a:t>
                      </a:r>
                      <a:br/>
                      <a:r>
                        <a:t>(Kiến trúc Chuẩn mực)</a:t>
                      </a:r>
                    </a:p>
                  </a:txBody>
                  <a:tcPr/>
                </a:tc>
                <a:tc>
                  <a:txBody>
                    <a:bodyPr/>
                    <a:lstStyle/>
                    <a:p>
                      <a:pPr>
                        <a:defRPr sz="1000">
                          <a:solidFill>
                            <a:srgbClr val="1C1C1C"/>
                          </a:solidFill>
                          <a:latin typeface="Arial"/>
                        </a:defRPr>
                      </a:pPr>
                      <a:r>
                        <a:t>Bên gọi nhận đối tượng tương lai ngay; luồng tự do phục vụ tiếp.</a:t>
                      </a:r>
                    </a:p>
                  </a:txBody>
                  <a:tcPr/>
                </a:tc>
                <a:tc>
                  <a:txBody>
                    <a:bodyPr/>
                    <a:lstStyle/>
                    <a:p>
                      <a:pPr>
                        <a:defRPr sz="1000">
                          <a:solidFill>
                            <a:srgbClr val="1C1C1C"/>
                          </a:solidFill>
                          <a:latin typeface="Arial"/>
                        </a:defRPr>
                      </a:pPr>
                      <a:r>
                        <a:t>Hiệu năng tối đa: 1 luồng phục vụ hàng vạn kết nối đồng thời mượt mà.</a:t>
                      </a:r>
                    </a:p>
                  </a:txBody>
                  <a:tcPr/>
                </a:tc>
                <a:tc>
                  <a:txBody>
                    <a:bodyPr/>
                    <a:lstStyle/>
                    <a:p>
                      <a:pPr>
                        <a:defRPr sz="950">
                          <a:solidFill>
                            <a:srgbClr val="1C1C1C"/>
                          </a:solidFill>
                          <a:latin typeface="Consolas"/>
                        </a:defRPr>
                      </a:pPr>
                      <a:r>
                        <a:t>async def get():</a:t>
                      </a:r>
                      <a:br/>
                      <a:r>
                        <a:t>  await asyncio.sleep(2)</a:t>
                      </a:r>
                      <a:br/>
                      <a:r>
                        <a:t>  return 'ok'</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18</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Lý thuyết Thực thi — Bốn Ngộ nhận Phổ biến</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Bốn Ngộ nhận Phổ biến trong Lập trình Đồng thời và Bất đồng bộ</a:t>
            </a:r>
          </a:p>
        </p:txBody>
      </p:sp>
      <p:graphicFrame>
        <p:nvGraphicFramePr>
          <p:cNvPr id="6" name="Table 5"/>
          <p:cNvGraphicFramePr>
            <a:graphicFrameLocks noGrp="1"/>
          </p:cNvGraphicFramePr>
          <p:nvPr/>
        </p:nvGraphicFramePr>
        <p:xfrm>
          <a:off x="365760" y="1874519"/>
          <a:ext cx="8412480" cy="4114800"/>
        </p:xfrm>
        <a:graphic>
          <a:graphicData uri="http://schemas.openxmlformats.org/drawingml/2006/table">
            <a:tbl>
              <a:tblPr firstRow="1" bandRow="1">
                <a:tableStyleId>{5C22544A-7EE6-4342-B048-85BDC9FD1C3A}</a:tableStyleId>
              </a:tblPr>
              <a:tblGrid>
                <a:gridCol w="2560320"/>
                <a:gridCol w="2926080"/>
                <a:gridCol w="2926080"/>
              </a:tblGrid>
              <a:tr h="822960">
                <a:tc>
                  <a:txBody>
                    <a:bodyPr/>
                    <a:lstStyle/>
                    <a:p>
                      <a:pPr>
                        <a:defRPr sz="1100" b="1">
                          <a:solidFill>
                            <a:srgbClr val="FFFFFF"/>
                          </a:solidFill>
                          <a:latin typeface="Arial"/>
                        </a:defRPr>
                      </a:pPr>
                      <a:r>
                        <a:t>Ngộ nhận Phổ biến</a:t>
                      </a:r>
                    </a:p>
                  </a:txBody>
                  <a:tcPr>
                    <a:solidFill>
                      <a:srgbClr val="E74C3C"/>
                    </a:solidFill>
                  </a:tcPr>
                </a:tc>
                <a:tc>
                  <a:txBody>
                    <a:bodyPr/>
                    <a:lstStyle/>
                    <a:p>
                      <a:pPr>
                        <a:defRPr sz="1100" b="1">
                          <a:solidFill>
                            <a:srgbClr val="FFFFFF"/>
                          </a:solidFill>
                          <a:latin typeface="Arial"/>
                        </a:defRPr>
                      </a:pPr>
                      <a:r>
                        <a:t>Sự thật Kỹ thuật</a:t>
                      </a:r>
                    </a:p>
                  </a:txBody>
                  <a:tcPr>
                    <a:solidFill>
                      <a:srgbClr val="E74C3C"/>
                    </a:solidFill>
                  </a:tcPr>
                </a:tc>
                <a:tc>
                  <a:txBody>
                    <a:bodyPr/>
                    <a:lstStyle/>
                    <a:p>
                      <a:pPr>
                        <a:defRPr sz="1100" b="1">
                          <a:solidFill>
                            <a:srgbClr val="FFFFFF"/>
                          </a:solidFill>
                          <a:latin typeface="Arial"/>
                        </a:defRPr>
                      </a:pPr>
                      <a:r>
                        <a:t>Bản chất Cơ chế</a:t>
                      </a:r>
                    </a:p>
                  </a:txBody>
                  <a:tcPr>
                    <a:solidFill>
                      <a:srgbClr val="E74C3C"/>
                    </a:solidFill>
                  </a:tcPr>
                </a:tc>
              </a:tr>
              <a:tr h="822960">
                <a:tc>
                  <a:txBody>
                    <a:bodyPr/>
                    <a:lstStyle/>
                    <a:p>
                      <a:pPr>
                        <a:defRPr sz="1000" b="1">
                          <a:solidFill>
                            <a:srgbClr val="1C1C1C"/>
                          </a:solidFill>
                          <a:latin typeface="Arial"/>
                        </a:defRPr>
                      </a:pPr>
                      <a:r>
                        <a:t>Ngộ nhận 1: Chuyển sang bất đồng bộ chắc chắn giúp chương trình tính toán nhanh hơn.</a:t>
                      </a:r>
                    </a:p>
                  </a:txBody>
                  <a:tcPr/>
                </a:tc>
                <a:tc>
                  <a:txBody>
                    <a:bodyPr/>
                    <a:lstStyle/>
                    <a:p>
                      <a:pPr>
                        <a:defRPr sz="1000">
                          <a:solidFill>
                            <a:srgbClr val="1C1C1C"/>
                          </a:solidFill>
                          <a:latin typeface="Arial"/>
                        </a:defRPr>
                      </a:pPr>
                      <a:r>
                        <a:t>SAI. Bất đồng bộ không làm một phép tính nhanh hơn; chỉ giải phóng thời gian chờ Vào/Ra.</a:t>
                      </a:r>
                    </a:p>
                  </a:txBody>
                  <a:tcPr/>
                </a:tc>
                <a:tc>
                  <a:txBody>
                    <a:bodyPr/>
                    <a:lstStyle/>
                    <a:p>
                      <a:pPr>
                        <a:defRPr sz="1000">
                          <a:solidFill>
                            <a:srgbClr val="1C1C1C"/>
                          </a:solidFill>
                          <a:latin typeface="Arial"/>
                        </a:defRPr>
                      </a:pPr>
                      <a:r>
                        <a:t>Với tác vụ nặng tính toán (CPU-bound), chi phí điều phối của vòng lặp sự kiện làm chậm hơn tuần tự.</a:t>
                      </a:r>
                    </a:p>
                  </a:txBody>
                  <a:tcPr/>
                </a:tc>
              </a:tr>
              <a:tr h="822960">
                <a:tc>
                  <a:txBody>
                    <a:bodyPr/>
                    <a:lstStyle/>
                    <a:p>
                      <a:pPr>
                        <a:defRPr sz="1000" b="1">
                          <a:solidFill>
                            <a:srgbClr val="1C1C1C"/>
                          </a:solidFill>
                          <a:latin typeface="Arial"/>
                        </a:defRPr>
                      </a:pPr>
                      <a:r>
                        <a:t>Ngộ nhận 2: Càng tăng nhiều đơn vị thực thi trong nhóm luồng thì tốc độ càng tăng.</a:t>
                      </a:r>
                    </a:p>
                  </a:txBody>
                  <a:tcPr/>
                </a:tc>
                <a:tc>
                  <a:txBody>
                    <a:bodyPr/>
                    <a:lstStyle/>
                    <a:p>
                      <a:pPr>
                        <a:defRPr sz="1000">
                          <a:solidFill>
                            <a:srgbClr val="1C1C1C"/>
                          </a:solidFill>
                          <a:latin typeface="Arial"/>
                        </a:defRPr>
                      </a:pPr>
                      <a:r>
                        <a:t>SAI. Vượt quá số nhân vật lý của vi xử lý sẽ gây suy thoái hiệu năng nghiêm trọng.</a:t>
                      </a:r>
                    </a:p>
                  </a:txBody>
                  <a:tcPr/>
                </a:tc>
                <a:tc>
                  <a:txBody>
                    <a:bodyPr/>
                    <a:lstStyle/>
                    <a:p>
                      <a:pPr>
                        <a:defRPr sz="1000">
                          <a:solidFill>
                            <a:srgbClr val="1C1C1C"/>
                          </a:solidFill>
                          <a:latin typeface="Arial"/>
                        </a:defRPr>
                      </a:pPr>
                      <a:r>
                        <a:t>Hiện tượng cấp phát vượt ngưỡng: Hệ điều hành mất phần lớn thời gian cho việc hoán đổi ngữ cảnh.</a:t>
                      </a:r>
                    </a:p>
                  </a:txBody>
                  <a:tcPr/>
                </a:tc>
              </a:tr>
              <a:tr h="822960">
                <a:tc>
                  <a:txBody>
                    <a:bodyPr/>
                    <a:lstStyle/>
                    <a:p>
                      <a:pPr>
                        <a:defRPr sz="1000" b="1">
                          <a:solidFill>
                            <a:srgbClr val="1C1C1C"/>
                          </a:solidFill>
                          <a:latin typeface="Arial"/>
                        </a:defRPr>
                      </a:pPr>
                      <a:r>
                        <a:t>Ngộ nhận 3: Bất đồng bộ chạy trên một luồng nên hoàn toàn không xảy ra tranh chấp dữ liệu.</a:t>
                      </a:r>
                    </a:p>
                  </a:txBody>
                  <a:tcPr/>
                </a:tc>
                <a:tc>
                  <a:txBody>
                    <a:bodyPr/>
                    <a:lstStyle/>
                    <a:p>
                      <a:pPr>
                        <a:defRPr sz="1000">
                          <a:solidFill>
                            <a:srgbClr val="1C1C1C"/>
                          </a:solidFill>
                          <a:latin typeface="Arial"/>
                        </a:defRPr>
                      </a:pPr>
                      <a:r>
                        <a:t>SAI HOÀN TOÀN. Hiện tượng tranh chấp dữ liệu vẫn xảy ra ở tầng ứng dụng tại các điểm await.</a:t>
                      </a:r>
                    </a:p>
                  </a:txBody>
                  <a:tcPr/>
                </a:tc>
                <a:tc>
                  <a:txBody>
                    <a:bodyPr/>
                    <a:lstStyle/>
                    <a:p>
                      <a:pPr>
                        <a:defRPr sz="1000">
                          <a:solidFill>
                            <a:srgbClr val="1C1C1C"/>
                          </a:solidFill>
                          <a:latin typeface="Arial"/>
                        </a:defRPr>
                      </a:pPr>
                      <a:r>
                        <a:t>Hai hàm đồng quy cùng đọc trạng thái, cùng nhường quyền tại await và cùng ghi đè làm sai lệch dữ liệu.</a:t>
                      </a:r>
                    </a:p>
                  </a:txBody>
                  <a:tcPr/>
                </a:tc>
              </a:tr>
              <a:tr h="822960">
                <a:tc>
                  <a:txBody>
                    <a:bodyPr/>
                    <a:lstStyle/>
                    <a:p>
                      <a:pPr>
                        <a:defRPr sz="1000" b="1">
                          <a:solidFill>
                            <a:srgbClr val="1C1C1C"/>
                          </a:solidFill>
                          <a:latin typeface="Arial"/>
                        </a:defRPr>
                      </a:pPr>
                      <a:r>
                        <a:t>Ngộ nhận 4: Bất đồng bộ trên một máy tính tương đương với một hệ thống phân tán.</a:t>
                      </a:r>
                    </a:p>
                  </a:txBody>
                  <a:tcPr/>
                </a:tc>
                <a:tc>
                  <a:txBody>
                    <a:bodyPr/>
                    <a:lstStyle/>
                    <a:p>
                      <a:pPr>
                        <a:defRPr sz="1000">
                          <a:solidFill>
                            <a:srgbClr val="1C1C1C"/>
                          </a:solidFill>
                          <a:latin typeface="Arial"/>
                        </a:defRPr>
                      </a:pPr>
                      <a:r>
                        <a:t>SAI VỀ BẢN CHẤT KIẾN TRÚC. Đây là hai mô hình tính toán hoàn toàn khác biệt.</a:t>
                      </a:r>
                    </a:p>
                  </a:txBody>
                  <a:tcPr/>
                </a:tc>
                <a:tc>
                  <a:txBody>
                    <a:bodyPr/>
                    <a:lstStyle/>
                    <a:p>
                      <a:pPr>
                        <a:defRPr sz="1000">
                          <a:solidFill>
                            <a:srgbClr val="1C1C1C"/>
                          </a:solidFill>
                          <a:latin typeface="Arial"/>
                        </a:defRPr>
                      </a:pPr>
                      <a:r>
                        <a:t>Trên một máy tính luôn dùng chung một không gian bộ nhớ vật lý, không có độ trễ phân mảnh đường truyền mạng.</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82880" y="182880"/>
            <a:ext cx="731520" cy="548640"/>
          </a:xfrm>
          <a:prstGeom prst="rect">
            <a:avLst/>
          </a:prstGeom>
          <a:noFill/>
        </p:spPr>
        <p:txBody>
          <a:bodyPr wrap="square">
            <a:spAutoFit/>
          </a:bodyPr>
          <a:lstStyle/>
          <a:p>
            <a:pPr>
              <a:defRPr sz="1800" b="1">
                <a:solidFill>
                  <a:srgbClr val="FFFFFF"/>
                </a:solidFill>
                <a:latin typeface="Arial"/>
              </a:defRPr>
            </a:pPr>
            <a:r>
              <a:t>19</a:t>
            </a:r>
          </a:p>
        </p:txBody>
      </p:sp>
      <p:sp>
        <p:nvSpPr>
          <p:cNvPr id="4" name="TextBox 3"/>
          <p:cNvSpPr txBox="1"/>
          <p:nvPr/>
        </p:nvSpPr>
        <p:spPr>
          <a:xfrm>
            <a:off x="960120" y="6217920"/>
            <a:ext cx="6858000" cy="457200"/>
          </a:xfrm>
          <a:prstGeom prst="rect">
            <a:avLst/>
          </a:prstGeom>
          <a:noFill/>
        </p:spPr>
        <p:txBody>
          <a:bodyPr wrap="square">
            <a:spAutoFit/>
          </a:bodyPr>
          <a:lstStyle/>
          <a:p>
            <a:pPr>
              <a:defRPr sz="1400" b="1">
                <a:solidFill>
                  <a:srgbClr val="1C1C1C"/>
                </a:solidFill>
                <a:latin typeface="Arial"/>
              </a:defRPr>
            </a:pPr>
            <a:r>
              <a:t>Tổng kết Lý thuyết &amp; Định hướng Thực hành với Python</a:t>
            </a:r>
          </a:p>
        </p:txBody>
      </p:sp>
      <p:sp>
        <p:nvSpPr>
          <p:cNvPr id="5" name="TextBox 4"/>
          <p:cNvSpPr txBox="1"/>
          <p:nvPr/>
        </p:nvSpPr>
        <p:spPr>
          <a:xfrm>
            <a:off x="365760" y="1234440"/>
            <a:ext cx="8412480" cy="502920"/>
          </a:xfrm>
          <a:prstGeom prst="rect">
            <a:avLst/>
          </a:prstGeom>
          <a:noFill/>
        </p:spPr>
        <p:txBody>
          <a:bodyPr wrap="square" tIns="0" bIns="0">
            <a:spAutoFit/>
          </a:bodyPr>
          <a:lstStyle/>
          <a:p>
            <a:pPr>
              <a:defRPr sz="1850" b="1">
                <a:solidFill>
                  <a:srgbClr val="1C1C1C"/>
                </a:solidFill>
                <a:latin typeface="Arial"/>
              </a:defRPr>
            </a:pPr>
            <a:r>
              <a:t>Tổng kết Khung Kiến trúc Tính toán &amp; Cầu nối Thực hành Python</a:t>
            </a:r>
          </a:p>
        </p:txBody>
      </p:sp>
      <p:sp>
        <p:nvSpPr>
          <p:cNvPr id="6" name="TextBox 5"/>
          <p:cNvSpPr txBox="1"/>
          <p:nvPr/>
        </p:nvSpPr>
        <p:spPr>
          <a:xfrm>
            <a:off x="365760" y="1874519"/>
            <a:ext cx="8412480" cy="4114800"/>
          </a:xfrm>
          <a:prstGeom prst="rect">
            <a:avLst/>
          </a:prstGeom>
          <a:noFill/>
        </p:spPr>
        <p:txBody>
          <a:bodyPr wrap="square">
            <a:spAutoFit/>
          </a:bodyPr>
          <a:lstStyle/>
          <a:p>
            <a:pPr>
              <a:spcAft>
                <a:spcPts val="600"/>
              </a:spcAft>
              <a:defRPr sz="1400" b="1">
                <a:solidFill>
                  <a:srgbClr val="E74C3C"/>
                </a:solidFill>
                <a:latin typeface="Arial"/>
              </a:defRPr>
            </a:pPr>
            <a:r>
              <a:t>• Khái quát Khung Lý thuyết &amp; Kim chỉ nam Thiết kế Hệ thống:</a:t>
            </a:r>
          </a:p>
          <a:p>
            <a:pPr>
              <a:spcAft>
                <a:spcPts val="1000"/>
              </a:spcAft>
              <a:defRPr sz="1300">
                <a:solidFill>
                  <a:srgbClr val="1C1C1C"/>
                </a:solidFill>
                <a:latin typeface="Arial"/>
              </a:defRPr>
            </a:pPr>
            <a:r>
              <a:t>• Phân định rõ ràng bốn mô hình: Tuần tự (đơn tuyến tính), Đồng thời (phân chia lát cắt thời gian), Song song (đa nhân vật lý thực thụ) và Bất đồng bộ (hướng sự kiện phi phong tỏa).</a:t>
            </a:r>
          </a:p>
          <a:p>
            <a:pPr>
              <a:spcAft>
                <a:spcPts val="1000"/>
              </a:spcAft>
              <a:defRPr sz="1300">
                <a:solidFill>
                  <a:srgbClr val="1C1C1C"/>
                </a:solidFill>
                <a:latin typeface="Arial"/>
              </a:defRPr>
            </a:pPr>
            <a:r>
              <a:t>• Xác định đúng trọng tâm bài toán kỹ thuật: Tác vụ nghẽn vi xử lý (CPU-bound) cần giải phóng qua Đa tiến trình (Multiprocessing); Tác vụ nghẽn đường truyền mạng hoặc ổ đĩa (I/O-bound) cần tối ưu qua Hàm đồng quy và Vòng lặp sự kiện (Asyncio).</a:t>
            </a:r>
          </a:p>
          <a:p>
            <a:pPr>
              <a:spcAft>
                <a:spcPts val="1000"/>
              </a:spcAft>
              <a:defRPr sz="1300">
                <a:solidFill>
                  <a:srgbClr val="1C1C1C"/>
                </a:solidFill>
                <a:latin typeface="Arial"/>
              </a:defRPr>
            </a:pPr>
            <a:r>
              <a:t>• Phân biệt tầng kiến trúc: Ranh giới bản chất giữa Lập lịch ưu tiên của Nhân hệ điều hành (Kernel Preemption) và Lập lịch hợp tác ở Không gian người dùng (User-space Cooperative Scheduling).</a:t>
            </a:r>
          </a:p>
          <a:p>
            <a:pPr>
              <a:spcAft>
                <a:spcPts val="1000"/>
              </a:spcAft>
              <a:defRPr sz="1300">
                <a:solidFill>
                  <a:srgbClr val="1C1C1C"/>
                </a:solidFill>
                <a:latin typeface="Arial"/>
              </a:defRPr>
            </a:pPr>
            <a:r>
              <a:t>• Cầu nối sang kỹ thuật thực thi: Nền tảng lý thuyết này mở đường trực tiếp sang triển khai thực tế trên Python thông qua module concurrent.futures (ThreadPoolExecutor, ProcessPoolExecutor) và thư viện chuẩn asyncio.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