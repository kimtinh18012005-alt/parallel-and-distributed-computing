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template_clean.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365760" y="2926080"/>
            <a:ext cx="8412480" cy="1371600"/>
          </a:xfrm>
          <a:prstGeom prst="rect">
            <a:avLst/>
          </a:prstGeom>
          <a:noFill/>
        </p:spPr>
        <p:txBody>
          <a:bodyPr wrap="square">
            <a:spAutoFit/>
          </a:bodyPr>
          <a:lstStyle/>
          <a:p>
            <a:pPr>
              <a:spcAft>
                <a:spcPts val="400"/>
              </a:spcAft>
              <a:defRPr sz="3200" b="1">
                <a:solidFill>
                  <a:srgbClr val="FFFFFF"/>
                </a:solidFill>
                <a:latin typeface="Arial"/>
              </a:defRPr>
            </a:pPr>
            <a:r>
              <a:t>CHƯƠNG  4:</a:t>
            </a:r>
          </a:p>
          <a:p>
            <a:pPr>
              <a:defRPr sz="2800" b="1">
                <a:solidFill>
                  <a:srgbClr val="FFFFFF"/>
                </a:solidFill>
                <a:latin typeface="Arial"/>
              </a:defRPr>
            </a:pPr>
            <a:r>
              <a:t>TÍNH TOÁN BẤT ĐỒNG BỘ TRONG PYTHON</a:t>
            </a:r>
          </a:p>
        </p:txBody>
      </p:sp>
      <p:sp>
        <p:nvSpPr>
          <p:cNvPr id="4" name="TextBox 3"/>
          <p:cNvSpPr txBox="1"/>
          <p:nvPr/>
        </p:nvSpPr>
        <p:spPr>
          <a:xfrm>
            <a:off x="365760" y="5120640"/>
            <a:ext cx="8412480" cy="1280160"/>
          </a:xfrm>
          <a:prstGeom prst="rect">
            <a:avLst/>
          </a:prstGeom>
          <a:noFill/>
        </p:spPr>
        <p:txBody>
          <a:bodyPr wrap="square">
            <a:spAutoFit/>
          </a:bodyPr>
          <a:lstStyle/>
          <a:p>
            <a:pPr>
              <a:defRPr sz="1350">
                <a:solidFill>
                  <a:srgbClr val="1C1C1C"/>
                </a:solidFill>
                <a:latin typeface="Arial"/>
              </a:defRPr>
            </a:pPr>
            <a:r>
              <a:t>Phần I: Tổng quan các Mô hình Tính toán Nền tảng</a:t>
            </a:r>
            <a:br/>
            <a:r>
              <a:t>(Tuần tự • Đồng thời • Song song • Bất đồng bộ)</a:t>
            </a:r>
            <a:br/>
            <a:r>
              <a:t>Giảng viên hướng dẫn: ThS. Lê Anh Nhã Uyên (lanuyen@ctuet.edu.vn)</a:t>
            </a:r>
            <a:br/>
            <a:r>
              <a:t>Khoa Công nghệ Thông tin — Trường Đại học Kỹ thuật - Công nghệ Cần Thơ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ster_template_clean.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164592" y="6217920"/>
            <a:ext cx="484632" cy="484632"/>
          </a:xfrm>
          <a:prstGeom prst="rect">
            <a:avLst/>
          </a:prstGeom>
          <a:noFill/>
        </p:spPr>
        <p:txBody>
          <a:bodyPr wrap="none" lIns="0" rIns="0" tIns="73152" bIns="0">
            <a:spAutoFit/>
          </a:bodyPr>
          <a:lstStyle/>
          <a:p>
            <a:pPr algn="ctr">
              <a:defRPr sz="1800" b="1">
                <a:solidFill>
                  <a:srgbClr val="FFFFFF"/>
                </a:solidFill>
                <a:latin typeface="Arial"/>
              </a:defRPr>
            </a:pPr>
            <a:r>
              <a:t>2</a:t>
            </a:r>
          </a:p>
        </p:txBody>
      </p:sp>
      <p:sp>
        <p:nvSpPr>
          <p:cNvPr id="4" name="TextBox 3"/>
          <p:cNvSpPr txBox="1"/>
          <p:nvPr/>
        </p:nvSpPr>
        <p:spPr>
          <a:xfrm>
            <a:off x="960120" y="6217920"/>
            <a:ext cx="5669280" cy="457200"/>
          </a:xfrm>
          <a:prstGeom prst="rect">
            <a:avLst/>
          </a:prstGeom>
          <a:noFill/>
        </p:spPr>
        <p:txBody>
          <a:bodyPr wrap="none" lIns="0" tIns="73152">
            <a:spAutoFit/>
          </a:bodyPr>
          <a:lstStyle/>
          <a:p>
            <a:pPr>
              <a:defRPr sz="1600" b="1">
                <a:solidFill>
                  <a:srgbClr val="1C1C1C"/>
                </a:solidFill>
                <a:latin typeface="Arial"/>
              </a:defRPr>
            </a:pPr>
            <a:r>
              <a:t>Sequential - Tuần tự</a:t>
            </a:r>
          </a:p>
        </p:txBody>
      </p:sp>
      <p:sp>
        <p:nvSpPr>
          <p:cNvPr id="5" name="TextBox 4"/>
          <p:cNvSpPr txBox="1"/>
          <p:nvPr/>
        </p:nvSpPr>
        <p:spPr>
          <a:xfrm>
            <a:off x="365760" y="1463040"/>
            <a:ext cx="8412480" cy="1828800"/>
          </a:xfrm>
          <a:prstGeom prst="rect">
            <a:avLst/>
          </a:prstGeom>
          <a:noFill/>
        </p:spPr>
        <p:txBody>
          <a:bodyPr wrap="square">
            <a:spAutoFit/>
          </a:bodyPr>
          <a:lstStyle/>
          <a:p>
            <a:pPr>
              <a:spcAft>
                <a:spcPts val="800"/>
              </a:spcAft>
              <a:defRPr sz="2100" b="1">
                <a:solidFill>
                  <a:srgbClr val="1C1C1C"/>
                </a:solidFill>
                <a:latin typeface="Arial"/>
              </a:defRPr>
            </a:pPr>
            <a:r>
              <a:t>➢ Xử lý tuần tự</a:t>
            </a:r>
          </a:p>
          <a:p>
            <a:pPr>
              <a:spcAft>
                <a:spcPts val="600"/>
              </a:spcAft>
              <a:defRPr sz="1700">
                <a:solidFill>
                  <a:srgbClr val="1C1C1C"/>
                </a:solidFill>
                <a:latin typeface="Arial"/>
              </a:defRPr>
            </a:pPr>
            <a:r>
              <a:t>□ Xử lý 1 tác vụ (task) trong một khoảng thời gian;</a:t>
            </a:r>
          </a:p>
          <a:p>
            <a:pPr>
              <a:spcAft>
                <a:spcPts val="600"/>
              </a:spcAft>
              <a:defRPr sz="1700">
                <a:solidFill>
                  <a:srgbClr val="1C1C1C"/>
                </a:solidFill>
                <a:latin typeface="Arial"/>
              </a:defRPr>
            </a:pPr>
            <a:r>
              <a:t>□ Các task sẽ được thực thi theo thứ tự (nối tiếp nhau);</a:t>
            </a:r>
          </a:p>
          <a:p>
            <a:pPr>
              <a:defRPr sz="1700">
                <a:solidFill>
                  <a:srgbClr val="1C1C1C"/>
                </a:solidFill>
                <a:latin typeface="Arial"/>
              </a:defRPr>
            </a:pPr>
            <a:r>
              <a:t>□ Các chỉ thị lệnh được thực thi trên cùng 1 CPU; tại một thời điểm chỉ có 1 chỉ thị lệnh được thực thi.</a:t>
            </a:r>
          </a:p>
        </p:txBody>
      </p:sp>
      <p:pic>
        <p:nvPicPr>
          <p:cNvPr id="6" name="Picture 5" descr="slide_2_img_2_31.png"/>
          <p:cNvPicPr>
            <a:picLocks noChangeAspect="1"/>
          </p:cNvPicPr>
          <p:nvPr/>
        </p:nvPicPr>
        <p:blipFill>
          <a:blip r:embed="rId3"/>
          <a:stretch>
            <a:fillRect/>
          </a:stretch>
        </p:blipFill>
        <p:spPr>
          <a:xfrm>
            <a:off x="365760" y="3931920"/>
            <a:ext cx="3931920" cy="1920240"/>
          </a:xfrm>
          <a:prstGeom prst="rect">
            <a:avLst/>
          </a:prstGeom>
        </p:spPr>
      </p:pic>
      <p:pic>
        <p:nvPicPr>
          <p:cNvPr id="7" name="Picture 6" descr="slide_2_img_1_30.png"/>
          <p:cNvPicPr>
            <a:picLocks noChangeAspect="1"/>
          </p:cNvPicPr>
          <p:nvPr/>
        </p:nvPicPr>
        <p:blipFill>
          <a:blip r:embed="rId4"/>
          <a:stretch>
            <a:fillRect/>
          </a:stretch>
        </p:blipFill>
        <p:spPr>
          <a:xfrm>
            <a:off x="4663440" y="4023360"/>
            <a:ext cx="4114800" cy="1645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ster_template_clean.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164592" y="6217920"/>
            <a:ext cx="484632" cy="484632"/>
          </a:xfrm>
          <a:prstGeom prst="rect">
            <a:avLst/>
          </a:prstGeom>
          <a:noFill/>
        </p:spPr>
        <p:txBody>
          <a:bodyPr wrap="none" lIns="0" rIns="0" tIns="73152" bIns="0">
            <a:spAutoFit/>
          </a:bodyPr>
          <a:lstStyle/>
          <a:p>
            <a:pPr algn="ctr">
              <a:defRPr sz="1800" b="1">
                <a:solidFill>
                  <a:srgbClr val="FFFFFF"/>
                </a:solidFill>
                <a:latin typeface="Arial"/>
              </a:defRPr>
            </a:pPr>
            <a:r>
              <a:t>3</a:t>
            </a:r>
          </a:p>
        </p:txBody>
      </p:sp>
      <p:sp>
        <p:nvSpPr>
          <p:cNvPr id="4" name="TextBox 3"/>
          <p:cNvSpPr txBox="1"/>
          <p:nvPr/>
        </p:nvSpPr>
        <p:spPr>
          <a:xfrm>
            <a:off x="960120" y="6217920"/>
            <a:ext cx="5669280" cy="457200"/>
          </a:xfrm>
          <a:prstGeom prst="rect">
            <a:avLst/>
          </a:prstGeom>
          <a:noFill/>
        </p:spPr>
        <p:txBody>
          <a:bodyPr wrap="none" lIns="0" tIns="73152">
            <a:spAutoFit/>
          </a:bodyPr>
          <a:lstStyle/>
          <a:p>
            <a:pPr>
              <a:defRPr sz="1600" b="1">
                <a:solidFill>
                  <a:srgbClr val="1C1C1C"/>
                </a:solidFill>
                <a:latin typeface="Arial"/>
              </a:defRPr>
            </a:pPr>
            <a:r>
              <a:t>Concurrency - Đồng thời</a:t>
            </a:r>
          </a:p>
        </p:txBody>
      </p:sp>
      <p:sp>
        <p:nvSpPr>
          <p:cNvPr id="5" name="TextBox 4"/>
          <p:cNvSpPr txBox="1"/>
          <p:nvPr/>
        </p:nvSpPr>
        <p:spPr>
          <a:xfrm>
            <a:off x="365760" y="1463040"/>
            <a:ext cx="8412480" cy="2377440"/>
          </a:xfrm>
          <a:prstGeom prst="rect">
            <a:avLst/>
          </a:prstGeom>
          <a:noFill/>
        </p:spPr>
        <p:txBody>
          <a:bodyPr wrap="square">
            <a:spAutoFit/>
          </a:bodyPr>
          <a:lstStyle/>
          <a:p>
            <a:pPr>
              <a:spcAft>
                <a:spcPts val="800"/>
              </a:spcAft>
              <a:defRPr sz="2100" b="1">
                <a:solidFill>
                  <a:srgbClr val="1C1C1C"/>
                </a:solidFill>
                <a:latin typeface="Arial"/>
              </a:defRPr>
            </a:pPr>
            <a:r>
              <a:t>➢ Xử lý đồng thời</a:t>
            </a:r>
          </a:p>
          <a:p>
            <a:pPr>
              <a:spcAft>
                <a:spcPts val="600"/>
              </a:spcAft>
              <a:defRPr sz="1700">
                <a:solidFill>
                  <a:srgbClr val="1C1C1C"/>
                </a:solidFill>
                <a:latin typeface="Arial"/>
              </a:defRPr>
            </a:pPr>
            <a:r>
              <a:t>□ HĐH quản lý chương trình, mỗi chương trình ~ process (tiến trình) → cấp process id (PID) để HĐH quản lý.</a:t>
            </a:r>
          </a:p>
          <a:p>
            <a:pPr>
              <a:spcAft>
                <a:spcPts val="600"/>
              </a:spcAft>
              <a:defRPr sz="1700">
                <a:solidFill>
                  <a:srgbClr val="1C1C1C"/>
                </a:solidFill>
                <a:latin typeface="Arial"/>
              </a:defRPr>
            </a:pPr>
            <a:r>
              <a:t>□ CPU core chia các task của process thành các task nhỏ hơn + sắp xếp xen kẽ nhau → tận dụng thời gian rảnh của task này đi thực hiện task khác.</a:t>
            </a:r>
          </a:p>
          <a:p>
            <a:pPr>
              <a:defRPr sz="1700">
                <a:solidFill>
                  <a:srgbClr val="1C1C1C"/>
                </a:solidFill>
                <a:latin typeface="Arial"/>
              </a:defRPr>
            </a:pPr>
            <a:r>
              <a:t>□ → Máy tính xử lý nhiều việc cùng lúc tại cùng thời điểm, tuy nhiên, bên dưới CPU core chỉ có thể thực thi một task nhỏ trong task lớn tại thời điểm đó.</a:t>
            </a:r>
          </a:p>
        </p:txBody>
      </p:sp>
      <p:pic>
        <p:nvPicPr>
          <p:cNvPr id="6" name="Picture 5" descr="slide_3_img_1_34.png"/>
          <p:cNvPicPr>
            <a:picLocks noChangeAspect="1"/>
          </p:cNvPicPr>
          <p:nvPr/>
        </p:nvPicPr>
        <p:blipFill>
          <a:blip r:embed="rId3"/>
          <a:stretch>
            <a:fillRect/>
          </a:stretch>
        </p:blipFill>
        <p:spPr>
          <a:xfrm>
            <a:off x="457200" y="4114800"/>
            <a:ext cx="8229600" cy="1645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ster_template_clean.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164592" y="6217920"/>
            <a:ext cx="484632" cy="484632"/>
          </a:xfrm>
          <a:prstGeom prst="rect">
            <a:avLst/>
          </a:prstGeom>
          <a:noFill/>
        </p:spPr>
        <p:txBody>
          <a:bodyPr wrap="none" lIns="0" rIns="0" tIns="73152" bIns="0">
            <a:spAutoFit/>
          </a:bodyPr>
          <a:lstStyle/>
          <a:p>
            <a:pPr algn="ctr">
              <a:defRPr sz="1800" b="1">
                <a:solidFill>
                  <a:srgbClr val="FFFFFF"/>
                </a:solidFill>
                <a:latin typeface="Arial"/>
              </a:defRPr>
            </a:pPr>
            <a:r>
              <a:t>4</a:t>
            </a:r>
          </a:p>
        </p:txBody>
      </p:sp>
      <p:sp>
        <p:nvSpPr>
          <p:cNvPr id="4" name="TextBox 3"/>
          <p:cNvSpPr txBox="1"/>
          <p:nvPr/>
        </p:nvSpPr>
        <p:spPr>
          <a:xfrm>
            <a:off x="960120" y="6217920"/>
            <a:ext cx="5669280" cy="457200"/>
          </a:xfrm>
          <a:prstGeom prst="rect">
            <a:avLst/>
          </a:prstGeom>
          <a:noFill/>
        </p:spPr>
        <p:txBody>
          <a:bodyPr wrap="none" lIns="0" tIns="73152">
            <a:spAutoFit/>
          </a:bodyPr>
          <a:lstStyle/>
          <a:p>
            <a:pPr>
              <a:defRPr sz="1600" b="1">
                <a:solidFill>
                  <a:srgbClr val="1C1C1C"/>
                </a:solidFill>
                <a:latin typeface="Arial"/>
              </a:defRPr>
            </a:pPr>
            <a:r>
              <a:t>Concurrency - Đồng thời</a:t>
            </a:r>
          </a:p>
        </p:txBody>
      </p:sp>
      <p:sp>
        <p:nvSpPr>
          <p:cNvPr id="5" name="TextBox 4"/>
          <p:cNvSpPr txBox="1"/>
          <p:nvPr/>
        </p:nvSpPr>
        <p:spPr>
          <a:xfrm>
            <a:off x="365760" y="1463040"/>
            <a:ext cx="8412480" cy="2103120"/>
          </a:xfrm>
          <a:prstGeom prst="rect">
            <a:avLst/>
          </a:prstGeom>
          <a:noFill/>
        </p:spPr>
        <p:txBody>
          <a:bodyPr wrap="square">
            <a:spAutoFit/>
          </a:bodyPr>
          <a:lstStyle/>
          <a:p>
            <a:pPr>
              <a:spcAft>
                <a:spcPts val="800"/>
              </a:spcAft>
              <a:defRPr sz="2100" b="1">
                <a:solidFill>
                  <a:srgbClr val="1C1C1C"/>
                </a:solidFill>
                <a:latin typeface="Arial"/>
              </a:defRPr>
            </a:pPr>
            <a:r>
              <a:t>➢ Xử lý đồng thời (tiếp theo)</a:t>
            </a:r>
          </a:p>
          <a:p>
            <a:pPr>
              <a:spcAft>
                <a:spcPts val="600"/>
              </a:spcAft>
              <a:defRPr sz="1700">
                <a:solidFill>
                  <a:srgbClr val="1C1C1C"/>
                </a:solidFill>
                <a:latin typeface="Arial"/>
              </a:defRPr>
            </a:pPr>
            <a:r>
              <a:t>□ Phân chia, điều phối nhiều tác vụ (task) khác nhau trong cùng một khoảng thời gian.</a:t>
            </a:r>
          </a:p>
          <a:p>
            <a:pPr>
              <a:spcAft>
                <a:spcPts val="600"/>
              </a:spcAft>
              <a:defRPr sz="1700">
                <a:solidFill>
                  <a:srgbClr val="1C1C1C"/>
                </a:solidFill>
                <a:latin typeface="Arial"/>
              </a:defRPr>
            </a:pPr>
            <a:r>
              <a:t>□ Tại 1 thời điểm, chỉ xử lý 1 task.</a:t>
            </a:r>
          </a:p>
          <a:p>
            <a:pPr>
              <a:defRPr sz="1700">
                <a:solidFill>
                  <a:srgbClr val="1C1C1C"/>
                </a:solidFill>
                <a:latin typeface="Arial"/>
              </a:defRPr>
            </a:pPr>
            <a:r>
              <a:t>□ Tối ưu hóa cấu trúc chương trình, giúp hệ thống luôn phản hồi và không bị treo khi chờ đợi.</a:t>
            </a:r>
          </a:p>
        </p:txBody>
      </p:sp>
      <p:pic>
        <p:nvPicPr>
          <p:cNvPr id="6" name="Picture 5" descr="diag_s4.png"/>
          <p:cNvPicPr>
            <a:picLocks noChangeAspect="1"/>
          </p:cNvPicPr>
          <p:nvPr/>
        </p:nvPicPr>
        <p:blipFill>
          <a:blip r:embed="rId3"/>
          <a:stretch>
            <a:fillRect/>
          </a:stretch>
        </p:blipFill>
        <p:spPr>
          <a:xfrm>
            <a:off x="365760" y="3931920"/>
            <a:ext cx="8412480" cy="1874519"/>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ster_template_clean.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164592" y="6217920"/>
            <a:ext cx="484632" cy="484632"/>
          </a:xfrm>
          <a:prstGeom prst="rect">
            <a:avLst/>
          </a:prstGeom>
          <a:noFill/>
        </p:spPr>
        <p:txBody>
          <a:bodyPr wrap="none" lIns="0" rIns="0" tIns="73152" bIns="0">
            <a:spAutoFit/>
          </a:bodyPr>
          <a:lstStyle/>
          <a:p>
            <a:pPr algn="ctr">
              <a:defRPr sz="1800" b="1">
                <a:solidFill>
                  <a:srgbClr val="FFFFFF"/>
                </a:solidFill>
                <a:latin typeface="Arial"/>
              </a:defRPr>
            </a:pPr>
            <a:r>
              <a:t>5</a:t>
            </a:r>
          </a:p>
        </p:txBody>
      </p:sp>
      <p:sp>
        <p:nvSpPr>
          <p:cNvPr id="4" name="TextBox 3"/>
          <p:cNvSpPr txBox="1"/>
          <p:nvPr/>
        </p:nvSpPr>
        <p:spPr>
          <a:xfrm>
            <a:off x="960120" y="6217920"/>
            <a:ext cx="5669280" cy="457200"/>
          </a:xfrm>
          <a:prstGeom prst="rect">
            <a:avLst/>
          </a:prstGeom>
          <a:noFill/>
        </p:spPr>
        <p:txBody>
          <a:bodyPr wrap="none" lIns="0" tIns="73152">
            <a:spAutoFit/>
          </a:bodyPr>
          <a:lstStyle/>
          <a:p>
            <a:pPr>
              <a:defRPr sz="1600" b="1">
                <a:solidFill>
                  <a:srgbClr val="1C1C1C"/>
                </a:solidFill>
                <a:latin typeface="Arial"/>
              </a:defRPr>
            </a:pPr>
            <a:r>
              <a:t>Parallel - Song song</a:t>
            </a:r>
          </a:p>
        </p:txBody>
      </p:sp>
      <p:sp>
        <p:nvSpPr>
          <p:cNvPr id="5" name="TextBox 4"/>
          <p:cNvSpPr txBox="1"/>
          <p:nvPr/>
        </p:nvSpPr>
        <p:spPr>
          <a:xfrm>
            <a:off x="365760" y="1463040"/>
            <a:ext cx="8412480" cy="1828800"/>
          </a:xfrm>
          <a:prstGeom prst="rect">
            <a:avLst/>
          </a:prstGeom>
          <a:noFill/>
        </p:spPr>
        <p:txBody>
          <a:bodyPr wrap="square">
            <a:spAutoFit/>
          </a:bodyPr>
          <a:lstStyle/>
          <a:p>
            <a:pPr>
              <a:spcAft>
                <a:spcPts val="800"/>
              </a:spcAft>
              <a:defRPr sz="2100" b="1">
                <a:solidFill>
                  <a:srgbClr val="1C1C1C"/>
                </a:solidFill>
                <a:latin typeface="Arial"/>
              </a:defRPr>
            </a:pPr>
            <a:r>
              <a:t>➢ Xử lý song song</a:t>
            </a:r>
          </a:p>
          <a:p>
            <a:pPr>
              <a:spcAft>
                <a:spcPts val="600"/>
              </a:spcAft>
              <a:defRPr sz="1700">
                <a:solidFill>
                  <a:srgbClr val="1C1C1C"/>
                </a:solidFill>
                <a:latin typeface="Arial"/>
              </a:defRPr>
            </a:pPr>
            <a:r>
              <a:t>□ Nhiều task khác nhau được xử lý trong cùng 1 thời điểm;</a:t>
            </a:r>
          </a:p>
          <a:p>
            <a:pPr>
              <a:spcAft>
                <a:spcPts val="600"/>
              </a:spcAft>
              <a:defRPr sz="1700">
                <a:solidFill>
                  <a:srgbClr val="1C1C1C"/>
                </a:solidFill>
                <a:latin typeface="Arial"/>
              </a:defRPr>
            </a:pPr>
            <a:r>
              <a:t>□ Các task hoàn toàn độc lập nhau.</a:t>
            </a:r>
          </a:p>
          <a:p>
            <a:pPr>
              <a:defRPr sz="1700">
                <a:solidFill>
                  <a:srgbClr val="1C1C1C"/>
                </a:solidFill>
                <a:latin typeface="Arial"/>
              </a:defRPr>
            </a:pPr>
            <a:r>
              <a:t>□ Chỉ có thể thực hiện trên máy có số nhân (core) lớn hơn 1.</a:t>
            </a:r>
          </a:p>
        </p:txBody>
      </p:sp>
      <p:pic>
        <p:nvPicPr>
          <p:cNvPr id="6" name="Picture 5" descr="slide_5_img_1_40.png"/>
          <p:cNvPicPr>
            <a:picLocks noChangeAspect="1"/>
          </p:cNvPicPr>
          <p:nvPr/>
        </p:nvPicPr>
        <p:blipFill>
          <a:blip r:embed="rId3"/>
          <a:stretch>
            <a:fillRect/>
          </a:stretch>
        </p:blipFill>
        <p:spPr>
          <a:xfrm>
            <a:off x="1645920" y="3931920"/>
            <a:ext cx="5852160" cy="1828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ster_template_clean.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164592" y="6217920"/>
            <a:ext cx="484632" cy="484632"/>
          </a:xfrm>
          <a:prstGeom prst="rect">
            <a:avLst/>
          </a:prstGeom>
          <a:noFill/>
        </p:spPr>
        <p:txBody>
          <a:bodyPr wrap="none" lIns="0" rIns="0" tIns="73152" bIns="0">
            <a:spAutoFit/>
          </a:bodyPr>
          <a:lstStyle/>
          <a:p>
            <a:pPr algn="ctr">
              <a:defRPr sz="1800" b="1">
                <a:solidFill>
                  <a:srgbClr val="FFFFFF"/>
                </a:solidFill>
                <a:latin typeface="Arial"/>
              </a:defRPr>
            </a:pPr>
            <a:r>
              <a:t>6</a:t>
            </a:r>
          </a:p>
        </p:txBody>
      </p:sp>
      <p:sp>
        <p:nvSpPr>
          <p:cNvPr id="4" name="TextBox 3"/>
          <p:cNvSpPr txBox="1"/>
          <p:nvPr/>
        </p:nvSpPr>
        <p:spPr>
          <a:xfrm>
            <a:off x="960120" y="6217920"/>
            <a:ext cx="5669280" cy="457200"/>
          </a:xfrm>
          <a:prstGeom prst="rect">
            <a:avLst/>
          </a:prstGeom>
          <a:noFill/>
        </p:spPr>
        <p:txBody>
          <a:bodyPr wrap="none" lIns="0" tIns="73152">
            <a:spAutoFit/>
          </a:bodyPr>
          <a:lstStyle/>
          <a:p>
            <a:pPr>
              <a:defRPr sz="1600" b="1">
                <a:solidFill>
                  <a:srgbClr val="1C1C1C"/>
                </a:solidFill>
                <a:latin typeface="Arial"/>
              </a:defRPr>
            </a:pPr>
            <a:r>
              <a:t>Parallel - Song song</a:t>
            </a:r>
          </a:p>
        </p:txBody>
      </p:sp>
      <p:sp>
        <p:nvSpPr>
          <p:cNvPr id="5" name="TextBox 4"/>
          <p:cNvSpPr txBox="1"/>
          <p:nvPr/>
        </p:nvSpPr>
        <p:spPr>
          <a:xfrm>
            <a:off x="365760" y="1463040"/>
            <a:ext cx="8412480" cy="2011680"/>
          </a:xfrm>
          <a:prstGeom prst="rect">
            <a:avLst/>
          </a:prstGeom>
          <a:noFill/>
        </p:spPr>
        <p:txBody>
          <a:bodyPr wrap="square">
            <a:spAutoFit/>
          </a:bodyPr>
          <a:lstStyle/>
          <a:p>
            <a:pPr>
              <a:spcAft>
                <a:spcPts val="800"/>
              </a:spcAft>
              <a:defRPr sz="2100" b="1">
                <a:solidFill>
                  <a:srgbClr val="1C1C1C"/>
                </a:solidFill>
                <a:latin typeface="Arial"/>
              </a:defRPr>
            </a:pPr>
            <a:r>
              <a:t>➢ Đồng thời và song song</a:t>
            </a:r>
          </a:p>
          <a:p>
            <a:pPr>
              <a:spcAft>
                <a:spcPts val="600"/>
              </a:spcAft>
              <a:defRPr sz="1700">
                <a:solidFill>
                  <a:srgbClr val="1C1C1C"/>
                </a:solidFill>
                <a:latin typeface="Arial"/>
              </a:defRPr>
            </a:pPr>
            <a:r>
              <a:t>□ Trên thực tế, trên mỗi nhân của CPU vẫn xảy ra quá trình xử lý đồng thời, với điều kiện là tại một thời điểm không xảy ra việc xử lý cùng một task trên hai nhân CPU khác nhau.</a:t>
            </a:r>
          </a:p>
          <a:p>
            <a:pPr>
              <a:spcAft>
                <a:spcPts val="400"/>
              </a:spcAft>
              <a:defRPr sz="1650">
                <a:solidFill>
                  <a:srgbClr val="1C1C1C"/>
                </a:solidFill>
                <a:latin typeface="Arial"/>
              </a:defRPr>
            </a:pPr>
            <a:r>
              <a:t>□ Đơn nhân (Single-core): Điều phối xen kẽ thời gian giữa các tác vụ (Concurrency).</a:t>
            </a:r>
          </a:p>
          <a:p>
            <a:pPr>
              <a:defRPr sz="1650">
                <a:solidFill>
                  <a:srgbClr val="1C1C1C"/>
                </a:solidFill>
                <a:latin typeface="Arial"/>
              </a:defRPr>
            </a:pPr>
            <a:r>
              <a:t>□ Đa nhân (Multi-core): Thực thi song song thực sự trên các nhân phần cứng độc lập (Parallelism).</a:t>
            </a:r>
          </a:p>
        </p:txBody>
      </p:sp>
      <p:pic>
        <p:nvPicPr>
          <p:cNvPr id="6" name="Picture 5" descr="slide_6_img_1_44.png"/>
          <p:cNvPicPr>
            <a:picLocks noChangeAspect="1"/>
          </p:cNvPicPr>
          <p:nvPr/>
        </p:nvPicPr>
        <p:blipFill>
          <a:blip r:embed="rId3"/>
          <a:stretch>
            <a:fillRect/>
          </a:stretch>
        </p:blipFill>
        <p:spPr>
          <a:xfrm>
            <a:off x="1645920" y="3931920"/>
            <a:ext cx="5852160" cy="1828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ster_template_clean.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164592" y="6217920"/>
            <a:ext cx="484632" cy="484632"/>
          </a:xfrm>
          <a:prstGeom prst="rect">
            <a:avLst/>
          </a:prstGeom>
          <a:noFill/>
        </p:spPr>
        <p:txBody>
          <a:bodyPr wrap="none" lIns="0" rIns="0" tIns="73152" bIns="0">
            <a:spAutoFit/>
          </a:bodyPr>
          <a:lstStyle/>
          <a:p>
            <a:pPr algn="ctr">
              <a:defRPr sz="1800" b="1">
                <a:solidFill>
                  <a:srgbClr val="FFFFFF"/>
                </a:solidFill>
                <a:latin typeface="Arial"/>
              </a:defRPr>
            </a:pPr>
            <a:r>
              <a:t>7</a:t>
            </a:r>
          </a:p>
        </p:txBody>
      </p:sp>
      <p:sp>
        <p:nvSpPr>
          <p:cNvPr id="4" name="TextBox 3"/>
          <p:cNvSpPr txBox="1"/>
          <p:nvPr/>
        </p:nvSpPr>
        <p:spPr>
          <a:xfrm>
            <a:off x="960120" y="6217920"/>
            <a:ext cx="5669280" cy="457200"/>
          </a:xfrm>
          <a:prstGeom prst="rect">
            <a:avLst/>
          </a:prstGeom>
          <a:noFill/>
        </p:spPr>
        <p:txBody>
          <a:bodyPr wrap="none" lIns="0" tIns="73152">
            <a:spAutoFit/>
          </a:bodyPr>
          <a:lstStyle/>
          <a:p>
            <a:pPr>
              <a:defRPr sz="1600" b="1">
                <a:solidFill>
                  <a:srgbClr val="1C1C1C"/>
                </a:solidFill>
                <a:latin typeface="Arial"/>
              </a:defRPr>
            </a:pPr>
            <a:r>
              <a:t>Asynchronous - Bất đồng bộ</a:t>
            </a:r>
          </a:p>
        </p:txBody>
      </p:sp>
      <p:sp>
        <p:nvSpPr>
          <p:cNvPr id="5" name="TextBox 4"/>
          <p:cNvSpPr txBox="1"/>
          <p:nvPr/>
        </p:nvSpPr>
        <p:spPr>
          <a:xfrm>
            <a:off x="365760" y="1463040"/>
            <a:ext cx="4389120" cy="4389120"/>
          </a:xfrm>
          <a:prstGeom prst="rect">
            <a:avLst/>
          </a:prstGeom>
          <a:noFill/>
        </p:spPr>
        <p:txBody>
          <a:bodyPr wrap="square">
            <a:spAutoFit/>
          </a:bodyPr>
          <a:lstStyle/>
          <a:p>
            <a:pPr>
              <a:spcAft>
                <a:spcPts val="800"/>
              </a:spcAft>
              <a:defRPr sz="2100" b="1">
                <a:solidFill>
                  <a:srgbClr val="1C1C1C"/>
                </a:solidFill>
                <a:latin typeface="Arial"/>
              </a:defRPr>
            </a:pPr>
            <a:r>
              <a:t>➢ Bất đồng bộ</a:t>
            </a:r>
          </a:p>
          <a:p>
            <a:pPr>
              <a:spcAft>
                <a:spcPts val="800"/>
              </a:spcAft>
              <a:defRPr sz="1550">
                <a:solidFill>
                  <a:srgbClr val="1C1C1C"/>
                </a:solidFill>
                <a:latin typeface="Arial"/>
              </a:defRPr>
            </a:pPr>
            <a:r>
              <a:t>□ Cho phép các task được xử lý không theo thứ tự (có thể chuyển sang task khác trước khi task trước đó hoàn thành).</a:t>
            </a:r>
          </a:p>
          <a:p>
            <a:pPr>
              <a:spcAft>
                <a:spcPts val="800"/>
              </a:spcAft>
              <a:defRPr sz="1550">
                <a:solidFill>
                  <a:srgbClr val="1C1C1C"/>
                </a:solidFill>
                <a:latin typeface="Arial"/>
              </a:defRPr>
            </a:pPr>
            <a:r>
              <a:t>□ Có thể giải quyết nhiều yêu cầu đồng thời.</a:t>
            </a:r>
          </a:p>
          <a:p>
            <a:pPr>
              <a:spcAft>
                <a:spcPts val="800"/>
              </a:spcAft>
              <a:defRPr sz="1550">
                <a:solidFill>
                  <a:srgbClr val="1C1C1C"/>
                </a:solidFill>
                <a:latin typeface="Arial"/>
              </a:defRPr>
            </a:pPr>
            <a:r>
              <a:t>□ Hoàn thành trong khoảng thời gian ngắn hơn.</a:t>
            </a:r>
          </a:p>
          <a:p>
            <a:pPr>
              <a:defRPr sz="1550">
                <a:solidFill>
                  <a:srgbClr val="1C1C1C"/>
                </a:solidFill>
                <a:latin typeface="Arial"/>
              </a:defRPr>
            </a:pPr>
            <a:r>
              <a:t>□ Ví dụ minh họa trong bài giảng: Đi thi trắc nghiệm, Bãi giữ xe...</a:t>
            </a:r>
          </a:p>
        </p:txBody>
      </p:sp>
      <p:pic>
        <p:nvPicPr>
          <p:cNvPr id="6" name="Picture 5" descr="slide_7_img_1_48.jpeg"/>
          <p:cNvPicPr>
            <a:picLocks noChangeAspect="1"/>
          </p:cNvPicPr>
          <p:nvPr/>
        </p:nvPicPr>
        <p:blipFill>
          <a:blip r:embed="rId3"/>
          <a:stretch>
            <a:fillRect/>
          </a:stretch>
        </p:blipFill>
        <p:spPr>
          <a:xfrm>
            <a:off x="4846320" y="1645920"/>
            <a:ext cx="3931920" cy="4114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ster_template_clean.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164592" y="6217920"/>
            <a:ext cx="484632" cy="484632"/>
          </a:xfrm>
          <a:prstGeom prst="rect">
            <a:avLst/>
          </a:prstGeom>
          <a:noFill/>
        </p:spPr>
        <p:txBody>
          <a:bodyPr wrap="none" lIns="0" rIns="0" tIns="73152" bIns="0">
            <a:spAutoFit/>
          </a:bodyPr>
          <a:lstStyle/>
          <a:p>
            <a:pPr algn="ctr">
              <a:defRPr sz="1800" b="1">
                <a:solidFill>
                  <a:srgbClr val="FFFFFF"/>
                </a:solidFill>
                <a:latin typeface="Arial"/>
              </a:defRPr>
            </a:pPr>
            <a:r>
              <a:t>8</a:t>
            </a:r>
          </a:p>
        </p:txBody>
      </p:sp>
      <p:sp>
        <p:nvSpPr>
          <p:cNvPr id="4" name="TextBox 3"/>
          <p:cNvSpPr txBox="1"/>
          <p:nvPr/>
        </p:nvSpPr>
        <p:spPr>
          <a:xfrm>
            <a:off x="960120" y="6217920"/>
            <a:ext cx="5669280" cy="457200"/>
          </a:xfrm>
          <a:prstGeom prst="rect">
            <a:avLst/>
          </a:prstGeom>
          <a:noFill/>
        </p:spPr>
        <p:txBody>
          <a:bodyPr wrap="none" lIns="0" tIns="73152">
            <a:spAutoFit/>
          </a:bodyPr>
          <a:lstStyle/>
          <a:p>
            <a:pPr>
              <a:defRPr sz="1600" b="1">
                <a:solidFill>
                  <a:srgbClr val="1C1C1C"/>
                </a:solidFill>
                <a:latin typeface="Arial"/>
              </a:defRPr>
            </a:pPr>
            <a:r>
              <a:t>Asynchronous - Bất đồng bộ</a:t>
            </a:r>
          </a:p>
        </p:txBody>
      </p:sp>
      <p:sp>
        <p:nvSpPr>
          <p:cNvPr id="5" name="TextBox 4"/>
          <p:cNvSpPr txBox="1"/>
          <p:nvPr/>
        </p:nvSpPr>
        <p:spPr>
          <a:xfrm>
            <a:off x="365760" y="1463040"/>
            <a:ext cx="8412480" cy="2194560"/>
          </a:xfrm>
          <a:prstGeom prst="rect">
            <a:avLst/>
          </a:prstGeom>
          <a:noFill/>
        </p:spPr>
        <p:txBody>
          <a:bodyPr wrap="square">
            <a:spAutoFit/>
          </a:bodyPr>
          <a:lstStyle/>
          <a:p>
            <a:pPr>
              <a:spcAft>
                <a:spcPts val="800"/>
              </a:spcAft>
              <a:defRPr sz="2100" b="1">
                <a:solidFill>
                  <a:srgbClr val="1C1C1C"/>
                </a:solidFill>
                <a:latin typeface="Arial"/>
              </a:defRPr>
            </a:pPr>
            <a:r>
              <a:t>➢ Mô hình bất đồng bộ thực thi đồng thời</a:t>
            </a:r>
          </a:p>
          <a:p>
            <a:pPr>
              <a:spcAft>
                <a:spcPts val="600"/>
              </a:spcAft>
              <a:defRPr sz="1650">
                <a:solidFill>
                  <a:srgbClr val="1C1C1C"/>
                </a:solidFill>
                <a:latin typeface="Arial"/>
              </a:defRPr>
            </a:pPr>
            <a:r>
              <a:t>□ Trong một khoảng thời gian, các task thực hiện xen kẽ nhau;</a:t>
            </a:r>
          </a:p>
          <a:p>
            <a:pPr>
              <a:spcAft>
                <a:spcPts val="600"/>
              </a:spcAft>
              <a:defRPr sz="1650">
                <a:solidFill>
                  <a:srgbClr val="1C1C1C"/>
                </a:solidFill>
                <a:latin typeface="Arial"/>
              </a:defRPr>
            </a:pPr>
            <a:r>
              <a:t>□ Nằm trong một luồng điều khiển duy nhất → khi 1 task đang thực thi thì các task khác không thực thi (việc thực thi của 1 task có thể bị tạm dừng và sau đó tiếp tục lại);</a:t>
            </a:r>
          </a:p>
          <a:p>
            <a:pPr>
              <a:defRPr sz="1650">
                <a:solidFill>
                  <a:srgbClr val="1C1C1C"/>
                </a:solidFill>
                <a:latin typeface="Arial"/>
              </a:defRPr>
            </a:pPr>
            <a:r>
              <a:t>□ Sử dụng một luồng điều khiển chính duy nhất, cả trong hệ thống đơn bộ xử lý (uniprocessor systems) và hệ thống đa bộ xử lý (multiprocessor systems).</a:t>
            </a:r>
          </a:p>
        </p:txBody>
      </p:sp>
      <p:pic>
        <p:nvPicPr>
          <p:cNvPr id="6" name="Picture 5" descr="slide_8_img_1_51.png"/>
          <p:cNvPicPr>
            <a:picLocks noChangeAspect="1"/>
          </p:cNvPicPr>
          <p:nvPr/>
        </p:nvPicPr>
        <p:blipFill>
          <a:blip r:embed="rId3"/>
          <a:stretch>
            <a:fillRect/>
          </a:stretch>
        </p:blipFill>
        <p:spPr>
          <a:xfrm>
            <a:off x="914400" y="3931920"/>
            <a:ext cx="7315200" cy="20116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ster_template_clean.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164592" y="6217920"/>
            <a:ext cx="484632" cy="484632"/>
          </a:xfrm>
          <a:prstGeom prst="rect">
            <a:avLst/>
          </a:prstGeom>
          <a:noFill/>
        </p:spPr>
        <p:txBody>
          <a:bodyPr wrap="none" lIns="0" rIns="0" tIns="73152" bIns="0">
            <a:spAutoFit/>
          </a:bodyPr>
          <a:lstStyle/>
          <a:p>
            <a:pPr algn="ctr">
              <a:defRPr sz="1800" b="1">
                <a:solidFill>
                  <a:srgbClr val="FFFFFF"/>
                </a:solidFill>
                <a:latin typeface="Arial"/>
              </a:defRPr>
            </a:pPr>
            <a:r>
              <a:t>9</a:t>
            </a:r>
          </a:p>
        </p:txBody>
      </p:sp>
      <p:sp>
        <p:nvSpPr>
          <p:cNvPr id="4" name="TextBox 3"/>
          <p:cNvSpPr txBox="1"/>
          <p:nvPr/>
        </p:nvSpPr>
        <p:spPr>
          <a:xfrm>
            <a:off x="960120" y="6217920"/>
            <a:ext cx="5669280" cy="457200"/>
          </a:xfrm>
          <a:prstGeom prst="rect">
            <a:avLst/>
          </a:prstGeom>
          <a:noFill/>
        </p:spPr>
        <p:txBody>
          <a:bodyPr wrap="none" lIns="0" tIns="73152">
            <a:spAutoFit/>
          </a:bodyPr>
          <a:lstStyle/>
          <a:p>
            <a:pPr>
              <a:defRPr sz="1600" b="1">
                <a:solidFill>
                  <a:srgbClr val="1C1C1C"/>
                </a:solidFill>
                <a:latin typeface="Arial"/>
              </a:defRPr>
            </a:pPr>
            <a:r>
              <a:t>Ví dụ thực tế — Bãi giữ xe &amp; Đi thi</a:t>
            </a:r>
          </a:p>
        </p:txBody>
      </p:sp>
      <p:sp>
        <p:nvSpPr>
          <p:cNvPr id="5" name="TextBox 4"/>
          <p:cNvSpPr txBox="1"/>
          <p:nvPr/>
        </p:nvSpPr>
        <p:spPr>
          <a:xfrm>
            <a:off x="365760" y="1280160"/>
            <a:ext cx="8412480" cy="548640"/>
          </a:xfrm>
          <a:prstGeom prst="rect">
            <a:avLst/>
          </a:prstGeom>
          <a:noFill/>
        </p:spPr>
        <p:txBody>
          <a:bodyPr wrap="none">
            <a:spAutoFit/>
          </a:bodyPr>
          <a:lstStyle/>
          <a:p>
            <a:pPr>
              <a:defRPr sz="2100" b="1">
                <a:solidFill>
                  <a:srgbClr val="1C1C1C"/>
                </a:solidFill>
                <a:latin typeface="Arial"/>
              </a:defRPr>
            </a:pPr>
            <a:r>
              <a:t>➢ Phân tích 2 ví dụ thực tế trong bài giảng gốc</a:t>
            </a:r>
          </a:p>
        </p:txBody>
      </p:sp>
      <p:sp>
        <p:nvSpPr>
          <p:cNvPr id="6" name="Rectangle 5"/>
          <p:cNvSpPr/>
          <p:nvPr/>
        </p:nvSpPr>
        <p:spPr>
          <a:xfrm>
            <a:off x="365760" y="1920240"/>
            <a:ext cx="4069080" cy="4023360"/>
          </a:xfrm>
          <a:prstGeom prst="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b="1" sz="1400">
                <a:solidFill>
                  <a:srgbClr val="E04B3B"/>
                </a:solidFill>
              </a:defRPr>
            </a:pPr>
            <a:r>
              <a:t>🅿️ VÍ DỤ 1: BÃI GIỮ XE THÔNG MINH</a:t>
            </a:r>
          </a:p>
          <a:p>
            <a:pPr>
              <a:spcAft>
                <a:spcPts val="600"/>
              </a:spcAft>
              <a:defRPr sz="1200">
                <a:solidFill>
                  <a:srgbClr val="1C1C1C"/>
                </a:solidFill>
              </a:defRPr>
            </a:pPr>
            <a:r>
              <a:t>• Tuần tự (Blocking): Bảo vệ phát thẻ xe cho Xe 1 → Đứng chờ Xe 1 chạy vào bãi tìm chỗ đỗ xong xuôi → Mới phát thẻ cho Xe 2.</a:t>
            </a:r>
          </a:p>
          <a:p>
            <a:pPr>
              <a:spcAft>
                <a:spcPts val="800"/>
              </a:spcAft>
              <a:defRPr sz="1150" i="1">
                <a:solidFill>
                  <a:srgbClr val="B4281E"/>
                </a:solidFill>
              </a:defRPr>
            </a:pPr>
            <a:r>
              <a:t>→ Hậu quả: Cổng giữ xe bị ùn tắc nghiêm trọng! Thời gian chờ là tổng thời gian tìm chỗ đỗ của từng xe.</a:t>
            </a:r>
          </a:p>
          <a:p>
            <a:pPr>
              <a:spcAft>
                <a:spcPts val="600"/>
              </a:spcAft>
              <a:defRPr sz="1200">
                <a:solidFill>
                  <a:srgbClr val="1C1C1C"/>
                </a:solidFill>
              </a:defRPr>
            </a:pPr>
            <a:r>
              <a:t>• Bất đồng bộ (Non-blocking): Bảo vệ quẹt thẻ trao vé trong 2 giây → Xe 1 tự vào bãi tìm chỗ (I/O chờ) → Bảo vệ đón ngay Xe 2!</a:t>
            </a:r>
          </a:p>
          <a:p>
            <a:pPr>
              <a:defRPr sz="1150" b="1">
                <a:solidFill>
                  <a:srgbClr val="10783C"/>
                </a:solidFill>
              </a:defRPr>
            </a:pPr>
            <a:r>
              <a:t>→ Bản chất: Luồng bảo vệ không bị chặn. Nhiều người tìm chỗ đỗ đồng thời, cổng ra vào thông suốt liên tục.</a:t>
            </a:r>
          </a:p>
        </p:txBody>
      </p:sp>
      <p:sp>
        <p:nvSpPr>
          <p:cNvPr id="7" name="Rectangle 6"/>
          <p:cNvSpPr/>
          <p:nvPr/>
        </p:nvSpPr>
        <p:spPr>
          <a:xfrm>
            <a:off x="4709160" y="1920240"/>
            <a:ext cx="4069080" cy="4023360"/>
          </a:xfrm>
          <a:prstGeom prst="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b="1" sz="1400">
                <a:solidFill>
                  <a:srgbClr val="0284C7"/>
                </a:solidFill>
              </a:defRPr>
            </a:pPr>
            <a:r>
              <a:t>📝 VÍ DỤ 2: ĐI THI (LÀM BÀI TRẮC NGHIỆM)</a:t>
            </a:r>
          </a:p>
          <a:p>
            <a:pPr>
              <a:spcAft>
                <a:spcPts val="600"/>
              </a:spcAft>
              <a:defRPr sz="1200">
                <a:solidFill>
                  <a:srgbClr val="1C1C1C"/>
                </a:solidFill>
              </a:defRPr>
            </a:pPr>
            <a:r>
              <a:t>• Tuần tự (Blocking): Thí sinh làm từ Câu 1 → Câu 2 → Gặp Câu 3 quá khó → Ngồi nghĩ 30 phút → Hết giờ mà chưa kịp đọc các câu sau.</a:t>
            </a:r>
          </a:p>
          <a:p>
            <a:pPr>
              <a:spcAft>
                <a:spcPts val="800"/>
              </a:spcAft>
              <a:defRPr sz="1150" i="1">
                <a:solidFill>
                  <a:srgbClr val="B4281E"/>
                </a:solidFill>
              </a:defRPr>
            </a:pPr>
            <a:r>
              <a:t>→ Hậu quả: Bị nghẽn toàn bộ bài thi! Điểm số thấp vì thời gian bị chôn chân tại câu khó.</a:t>
            </a:r>
          </a:p>
          <a:p>
            <a:pPr>
              <a:spcAft>
                <a:spcPts val="600"/>
              </a:spcAft>
              <a:defRPr sz="1200">
                <a:solidFill>
                  <a:srgbClr val="1C1C1C"/>
                </a:solidFill>
              </a:defRPr>
            </a:pPr>
            <a:r>
              <a:t>• Bất đồng bộ (Async): Gặp Câu 3 khó (chờ xử lý) → Đánh dấu tạm gác lại (Yield) → Chuyển sang làm ngay Câu 4, 5, 6 dễ!</a:t>
            </a:r>
          </a:p>
          <a:p>
            <a:pPr>
              <a:defRPr sz="1150" b="1">
                <a:solidFill>
                  <a:srgbClr val="10783C"/>
                </a:solidFill>
              </a:defRPr>
            </a:pPr>
            <a:r>
              <a:t>→ Bản chất: Không để thời gian chờ làm tắc nghẽn công việc. Khi làm hết câu dễ, quay lại tiếp tục giải câu 3 (Resume).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ster_template_clean.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164592" y="6217920"/>
            <a:ext cx="484632" cy="484632"/>
          </a:xfrm>
          <a:prstGeom prst="rect">
            <a:avLst/>
          </a:prstGeom>
          <a:noFill/>
        </p:spPr>
        <p:txBody>
          <a:bodyPr wrap="none" lIns="0" rIns="0" tIns="73152" bIns="0">
            <a:spAutoFit/>
          </a:bodyPr>
          <a:lstStyle/>
          <a:p>
            <a:pPr algn="ctr">
              <a:defRPr sz="1800" b="1">
                <a:solidFill>
                  <a:srgbClr val="FFFFFF"/>
                </a:solidFill>
                <a:latin typeface="Arial"/>
              </a:defRPr>
            </a:pPr>
            <a:r>
              <a:t>10</a:t>
            </a:r>
          </a:p>
        </p:txBody>
      </p:sp>
      <p:sp>
        <p:nvSpPr>
          <p:cNvPr id="4" name="TextBox 3"/>
          <p:cNvSpPr txBox="1"/>
          <p:nvPr/>
        </p:nvSpPr>
        <p:spPr>
          <a:xfrm>
            <a:off x="960120" y="6217920"/>
            <a:ext cx="5669280" cy="457200"/>
          </a:xfrm>
          <a:prstGeom prst="rect">
            <a:avLst/>
          </a:prstGeom>
          <a:noFill/>
        </p:spPr>
        <p:txBody>
          <a:bodyPr wrap="none" lIns="0" tIns="73152">
            <a:spAutoFit/>
          </a:bodyPr>
          <a:lstStyle/>
          <a:p>
            <a:pPr>
              <a:defRPr sz="1600" b="1">
                <a:solidFill>
                  <a:srgbClr val="1C1C1C"/>
                </a:solidFill>
                <a:latin typeface="Arial"/>
              </a:defRPr>
            </a:pPr>
            <a:r>
              <a:t>Mô phỏng trực quan — 4 Mô hình Tính toán</a:t>
            </a:r>
          </a:p>
        </p:txBody>
      </p:sp>
      <p:sp>
        <p:nvSpPr>
          <p:cNvPr id="5" name="TextBox 4"/>
          <p:cNvSpPr txBox="1"/>
          <p:nvPr/>
        </p:nvSpPr>
        <p:spPr>
          <a:xfrm>
            <a:off x="365760" y="1234440"/>
            <a:ext cx="8412480" cy="502920"/>
          </a:xfrm>
          <a:prstGeom prst="rect">
            <a:avLst/>
          </a:prstGeom>
          <a:noFill/>
        </p:spPr>
        <p:txBody>
          <a:bodyPr wrap="none">
            <a:spAutoFit/>
          </a:bodyPr>
          <a:lstStyle/>
          <a:p>
            <a:pPr>
              <a:defRPr sz="2100" b="1">
                <a:solidFill>
                  <a:srgbClr val="1C1C1C"/>
                </a:solidFill>
                <a:latin typeface="Arial"/>
              </a:defRPr>
            </a:pPr>
            <a:r>
              <a:t>➢ Mô phỏng trực quan: So sánh 4 mô hình tính toán</a:t>
            </a:r>
          </a:p>
        </p:txBody>
      </p:sp>
      <p:pic>
        <p:nvPicPr>
          <p:cNvPr id="6" name="video_giai_thich_4_mo_hinh.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365760" y="1783080"/>
            <a:ext cx="5120640" cy="2926080"/>
          </a:xfrm>
          <a:prstGeom prst="rect">
            <a:avLst/>
          </a:prstGeom>
        </p:spPr>
      </p:pic>
      <p:sp>
        <p:nvSpPr>
          <p:cNvPr id="7" name="TextBox 6"/>
          <p:cNvSpPr txBox="1"/>
          <p:nvPr/>
        </p:nvSpPr>
        <p:spPr>
          <a:xfrm>
            <a:off x="5623560" y="1783080"/>
            <a:ext cx="3154680" cy="3017520"/>
          </a:xfrm>
          <a:prstGeom prst="rect">
            <a:avLst/>
          </a:prstGeom>
          <a:noFill/>
        </p:spPr>
        <p:txBody>
          <a:bodyPr wrap="square">
            <a:spAutoFit/>
          </a:bodyPr>
          <a:lstStyle/>
          <a:p>
            <a:pPr>
              <a:spcAft>
                <a:spcPts val="600"/>
              </a:spcAft>
              <a:defRPr sz="1400" b="1">
                <a:solidFill>
                  <a:srgbClr val="E04B3B"/>
                </a:solidFill>
                <a:latin typeface="Arial"/>
              </a:defRPr>
            </a:pPr>
            <a:r>
              <a:t>Bản chất 4 mô hình qua mô phỏng:</a:t>
            </a:r>
          </a:p>
          <a:p>
            <a:pPr>
              <a:spcAft>
                <a:spcPts val="500"/>
              </a:spcAft>
              <a:defRPr sz="1150">
                <a:solidFill>
                  <a:srgbClr val="1C1C1C"/>
                </a:solidFill>
                <a:latin typeface="Arial"/>
              </a:defRPr>
            </a:pPr>
            <a:r>
              <a:t>• Tuần tự: Tác vụ sau phải chờ tác vụ trước, vi xử lý bị nghẽn (Blocking), mất 6.0 giây.</a:t>
            </a:r>
          </a:p>
          <a:p>
            <a:pPr>
              <a:spcAft>
                <a:spcPts val="500"/>
              </a:spcAft>
              <a:defRPr sz="1150">
                <a:solidFill>
                  <a:srgbClr val="1C1C1C"/>
                </a:solidFill>
                <a:latin typeface="Arial"/>
              </a:defRPr>
            </a:pPr>
            <a:r>
              <a:t>• Đồng thời: 1 CPU chia sẻ thời gian (Time-slicing), chuyển đổi linh hoạt giữa các tác vụ.</a:t>
            </a:r>
          </a:p>
          <a:p>
            <a:pPr>
              <a:spcAft>
                <a:spcPts val="500"/>
              </a:spcAft>
              <a:defRPr sz="1150">
                <a:solidFill>
                  <a:srgbClr val="1C1C1C"/>
                </a:solidFill>
                <a:latin typeface="Arial"/>
              </a:defRPr>
            </a:pPr>
            <a:r>
              <a:t>• Song song: 3 Core độc lập chạy cùng lúc, hoàn thành sớm gấp 3 lần (chỉ 2.0 giây).</a:t>
            </a:r>
          </a:p>
          <a:p>
            <a:pPr>
              <a:spcAft>
                <a:spcPts val="500"/>
              </a:spcAft>
              <a:defRPr sz="1150">
                <a:solidFill>
                  <a:srgbClr val="1C1C1C"/>
                </a:solidFill>
                <a:latin typeface="Arial"/>
              </a:defRPr>
            </a:pPr>
            <a:r>
              <a:t>• Bất đồng bộ: 1 Luồng + Event Loop, giải phóng CPU khi chờ I/O, hoàn thành nhanh (2.4 giây).</a:t>
            </a:r>
          </a:p>
        </p:txBody>
      </p:sp>
      <p:sp>
        <p:nvSpPr>
          <p:cNvPr id="8" name="TextBox 7"/>
          <p:cNvSpPr txBox="1"/>
          <p:nvPr/>
        </p:nvSpPr>
        <p:spPr>
          <a:xfrm>
            <a:off x="365760" y="4800600"/>
            <a:ext cx="8412480" cy="1188720"/>
          </a:xfrm>
          <a:prstGeom prst="rect">
            <a:avLst/>
          </a:prstGeom>
          <a:noFill/>
        </p:spPr>
        <p:txBody>
          <a:bodyPr wrap="square">
            <a:spAutoFit/>
          </a:bodyPr>
          <a:lstStyle/>
          <a:p>
            <a:pPr>
              <a:defRPr sz="1200" b="1">
                <a:solidFill>
                  <a:srgbClr val="1C1C1C"/>
                </a:solidFill>
                <a:latin typeface="Arial"/>
              </a:defRPr>
            </a:pPr>
            <a:r>
              <a:t>• Giá trị cốt lõi: Mô phỏng trực quan giúp người học nắm vững bản chất kỹ thuật và sự khác biệt về tốc độ thực thi giữa các mô hình trước khi bước sang thực hành lập trình trong Python.</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ster_template_clean.pn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164592" y="6217920"/>
            <a:ext cx="484632" cy="484632"/>
          </a:xfrm>
          <a:prstGeom prst="rect">
            <a:avLst/>
          </a:prstGeom>
          <a:noFill/>
        </p:spPr>
        <p:txBody>
          <a:bodyPr wrap="none" lIns="0" rIns="0" tIns="73152" bIns="0">
            <a:spAutoFit/>
          </a:bodyPr>
          <a:lstStyle/>
          <a:p>
            <a:pPr algn="ctr">
              <a:defRPr sz="1800" b="1">
                <a:solidFill>
                  <a:srgbClr val="FFFFFF"/>
                </a:solidFill>
                <a:latin typeface="Arial"/>
              </a:defRPr>
            </a:pPr>
            <a:r>
              <a:t>11</a:t>
            </a:r>
          </a:p>
        </p:txBody>
      </p:sp>
      <p:sp>
        <p:nvSpPr>
          <p:cNvPr id="4" name="TextBox 3"/>
          <p:cNvSpPr txBox="1"/>
          <p:nvPr/>
        </p:nvSpPr>
        <p:spPr>
          <a:xfrm>
            <a:off x="960120" y="6217920"/>
            <a:ext cx="5669280" cy="457200"/>
          </a:xfrm>
          <a:prstGeom prst="rect">
            <a:avLst/>
          </a:prstGeom>
          <a:noFill/>
        </p:spPr>
        <p:txBody>
          <a:bodyPr wrap="none" lIns="0" tIns="73152">
            <a:spAutoFit/>
          </a:bodyPr>
          <a:lstStyle/>
          <a:p>
            <a:pPr>
              <a:defRPr sz="1600" b="1">
                <a:solidFill>
                  <a:srgbClr val="1C1C1C"/>
                </a:solidFill>
                <a:latin typeface="Arial"/>
              </a:defRPr>
            </a:pPr>
            <a:r>
              <a:t>Tổng kết Nền tảng &amp; Ma trận Đối chiếu</a:t>
            </a:r>
          </a:p>
        </p:txBody>
      </p:sp>
      <p:sp>
        <p:nvSpPr>
          <p:cNvPr id="5" name="TextBox 4"/>
          <p:cNvSpPr txBox="1"/>
          <p:nvPr/>
        </p:nvSpPr>
        <p:spPr>
          <a:xfrm>
            <a:off x="365760" y="1234440"/>
            <a:ext cx="8412480" cy="502920"/>
          </a:xfrm>
          <a:prstGeom prst="rect">
            <a:avLst/>
          </a:prstGeom>
          <a:noFill/>
        </p:spPr>
        <p:txBody>
          <a:bodyPr wrap="none">
            <a:spAutoFit/>
          </a:bodyPr>
          <a:lstStyle/>
          <a:p>
            <a:pPr>
              <a:defRPr sz="2100" b="1">
                <a:solidFill>
                  <a:srgbClr val="1C1C1C"/>
                </a:solidFill>
                <a:latin typeface="Arial"/>
              </a:defRPr>
            </a:pPr>
            <a:r>
              <a:t>➢ Ma trận đối chiếu 4 mô hình tính toán nền tảng</a:t>
            </a:r>
          </a:p>
        </p:txBody>
      </p:sp>
      <p:graphicFrame>
        <p:nvGraphicFramePr>
          <p:cNvPr id="6" name="Table 5"/>
          <p:cNvGraphicFramePr>
            <a:graphicFrameLocks noGrp="1"/>
          </p:cNvGraphicFramePr>
          <p:nvPr/>
        </p:nvGraphicFramePr>
        <p:xfrm>
          <a:off x="365760" y="1874519"/>
          <a:ext cx="8412480" cy="3931920"/>
        </p:xfrm>
        <a:graphic>
          <a:graphicData uri="http://schemas.openxmlformats.org/drawingml/2006/table">
            <a:tbl>
              <a:tblPr firstRow="1" bandRow="1">
                <a:tableStyleId>{5C22544A-7EE6-4342-B048-85BDC9FD1C3A}</a:tableStyleId>
              </a:tblPr>
              <a:tblGrid>
                <a:gridCol w="1828800"/>
                <a:gridCol w="1554480"/>
                <a:gridCol w="1645920"/>
                <a:gridCol w="1691640"/>
                <a:gridCol w="1691640"/>
              </a:tblGrid>
              <a:tr h="786384">
                <a:tc>
                  <a:txBody>
                    <a:bodyPr/>
                    <a:lstStyle/>
                    <a:p>
                      <a:pPr algn="ctr">
                        <a:defRPr sz="1200" b="1">
                          <a:solidFill>
                            <a:srgbClr val="FFFFFF"/>
                          </a:solidFill>
                          <a:latin typeface="Arial"/>
                        </a:defRPr>
                      </a:pPr>
                      <a:r>
                        <a:t>Tiêu chí đối chiếu</a:t>
                      </a:r>
                    </a:p>
                  </a:txBody>
                  <a:tcPr>
                    <a:solidFill>
                      <a:srgbClr val="E04B3B"/>
                    </a:solidFill>
                  </a:tcPr>
                </a:tc>
                <a:tc>
                  <a:txBody>
                    <a:bodyPr/>
                    <a:lstStyle/>
                    <a:p>
                      <a:pPr algn="ctr">
                        <a:defRPr sz="1200" b="1">
                          <a:solidFill>
                            <a:srgbClr val="FFFFFF"/>
                          </a:solidFill>
                          <a:latin typeface="Arial"/>
                        </a:defRPr>
                      </a:pPr>
                      <a:r>
                        <a:t>Tuần tự</a:t>
                      </a:r>
                      <a:br/>
                      <a:r>
                        <a:t>(Sequential)</a:t>
                      </a:r>
                    </a:p>
                  </a:txBody>
                  <a:tcPr>
                    <a:solidFill>
                      <a:srgbClr val="E04B3B"/>
                    </a:solidFill>
                  </a:tcPr>
                </a:tc>
                <a:tc>
                  <a:txBody>
                    <a:bodyPr/>
                    <a:lstStyle/>
                    <a:p>
                      <a:pPr algn="ctr">
                        <a:defRPr sz="1200" b="1">
                          <a:solidFill>
                            <a:srgbClr val="FFFFFF"/>
                          </a:solidFill>
                          <a:latin typeface="Arial"/>
                        </a:defRPr>
                      </a:pPr>
                      <a:r>
                        <a:t>Đồng thời</a:t>
                      </a:r>
                      <a:br/>
                      <a:r>
                        <a:t>(Concurrency)</a:t>
                      </a:r>
                    </a:p>
                  </a:txBody>
                  <a:tcPr>
                    <a:solidFill>
                      <a:srgbClr val="E04B3B"/>
                    </a:solidFill>
                  </a:tcPr>
                </a:tc>
                <a:tc>
                  <a:txBody>
                    <a:bodyPr/>
                    <a:lstStyle/>
                    <a:p>
                      <a:pPr algn="ctr">
                        <a:defRPr sz="1200" b="1">
                          <a:solidFill>
                            <a:srgbClr val="FFFFFF"/>
                          </a:solidFill>
                          <a:latin typeface="Arial"/>
                        </a:defRPr>
                      </a:pPr>
                      <a:r>
                        <a:t>Song song</a:t>
                      </a:r>
                      <a:br/>
                      <a:r>
                        <a:t>(Parallelism)</a:t>
                      </a:r>
                    </a:p>
                  </a:txBody>
                  <a:tcPr>
                    <a:solidFill>
                      <a:srgbClr val="E04B3B"/>
                    </a:solidFill>
                  </a:tcPr>
                </a:tc>
                <a:tc>
                  <a:txBody>
                    <a:bodyPr/>
                    <a:lstStyle/>
                    <a:p>
                      <a:pPr algn="ctr">
                        <a:defRPr sz="1200" b="1">
                          <a:solidFill>
                            <a:srgbClr val="FFFFFF"/>
                          </a:solidFill>
                          <a:latin typeface="Arial"/>
                        </a:defRPr>
                      </a:pPr>
                      <a:r>
                        <a:t>Bất đồng bộ</a:t>
                      </a:r>
                      <a:br/>
                      <a:r>
                        <a:t>(Asynchronous)</a:t>
                      </a:r>
                    </a:p>
                  </a:txBody>
                  <a:tcPr>
                    <a:solidFill>
                      <a:srgbClr val="E04B3B"/>
                    </a:solidFill>
                  </a:tcPr>
                </a:tc>
              </a:tr>
              <a:tr h="786384">
                <a:tc>
                  <a:txBody>
                    <a:bodyPr/>
                    <a:lstStyle/>
                    <a:p>
                      <a:pPr algn="l">
                        <a:defRPr sz="1100" b="1">
                          <a:solidFill>
                            <a:srgbClr val="1C1C1C"/>
                          </a:solidFill>
                          <a:latin typeface="Arial"/>
                        </a:defRPr>
                      </a:pPr>
                      <a:r>
                        <a:t>Đơn vị điều phối</a:t>
                      </a:r>
                    </a:p>
                  </a:txBody>
                  <a:tcPr>
                    <a:solidFill>
                      <a:srgbClr val="FFFFFF"/>
                    </a:solidFill>
                  </a:tcPr>
                </a:tc>
                <a:tc>
                  <a:txBody>
                    <a:bodyPr/>
                    <a:lstStyle/>
                    <a:p>
                      <a:pPr algn="ctr">
                        <a:defRPr sz="1100" b="0">
                          <a:solidFill>
                            <a:srgbClr val="1C1C1C"/>
                          </a:solidFill>
                          <a:latin typeface="Arial"/>
                        </a:defRPr>
                      </a:pPr>
                      <a:r>
                        <a:t>Chỉ thị lệnh (Instruction)</a:t>
                      </a:r>
                    </a:p>
                  </a:txBody>
                  <a:tcPr>
                    <a:solidFill>
                      <a:srgbClr val="FFFFFF"/>
                    </a:solidFill>
                  </a:tcPr>
                </a:tc>
                <a:tc>
                  <a:txBody>
                    <a:bodyPr/>
                    <a:lstStyle/>
                    <a:p>
                      <a:pPr algn="ctr">
                        <a:defRPr sz="1100" b="0">
                          <a:solidFill>
                            <a:srgbClr val="1C1C1C"/>
                          </a:solidFill>
                          <a:latin typeface="Arial"/>
                        </a:defRPr>
                      </a:pPr>
                      <a:r>
                        <a:t>Process / Thread</a:t>
                      </a:r>
                    </a:p>
                  </a:txBody>
                  <a:tcPr>
                    <a:solidFill>
                      <a:srgbClr val="FFFFFF"/>
                    </a:solidFill>
                  </a:tcPr>
                </a:tc>
                <a:tc>
                  <a:txBody>
                    <a:bodyPr/>
                    <a:lstStyle/>
                    <a:p>
                      <a:pPr algn="ctr">
                        <a:defRPr sz="1100" b="0">
                          <a:solidFill>
                            <a:srgbClr val="1C1C1C"/>
                          </a:solidFill>
                          <a:latin typeface="Arial"/>
                        </a:defRPr>
                      </a:pPr>
                      <a:r>
                        <a:t>CPU Core vật lý</a:t>
                      </a:r>
                    </a:p>
                  </a:txBody>
                  <a:tcPr>
                    <a:solidFill>
                      <a:srgbClr val="FFFFFF"/>
                    </a:solidFill>
                  </a:tcPr>
                </a:tc>
                <a:tc>
                  <a:txBody>
                    <a:bodyPr/>
                    <a:lstStyle/>
                    <a:p>
                      <a:pPr algn="ctr">
                        <a:defRPr sz="1100" b="0">
                          <a:solidFill>
                            <a:srgbClr val="1C1C1C"/>
                          </a:solidFill>
                          <a:latin typeface="Arial"/>
                        </a:defRPr>
                      </a:pPr>
                      <a:r>
                        <a:t>Coroutine / Task</a:t>
                      </a:r>
                    </a:p>
                  </a:txBody>
                  <a:tcPr>
                    <a:solidFill>
                      <a:srgbClr val="FFFFFF"/>
                    </a:solidFill>
                  </a:tcPr>
                </a:tc>
              </a:tr>
              <a:tr h="786384">
                <a:tc>
                  <a:txBody>
                    <a:bodyPr/>
                    <a:lstStyle/>
                    <a:p>
                      <a:pPr algn="l">
                        <a:defRPr sz="1100" b="1">
                          <a:solidFill>
                            <a:srgbClr val="1C1C1C"/>
                          </a:solidFill>
                          <a:latin typeface="Arial"/>
                        </a:defRPr>
                      </a:pPr>
                      <a:r>
                        <a:t>Yêu cầu phần cứng</a:t>
                      </a:r>
                    </a:p>
                  </a:txBody>
                  <a:tcPr>
                    <a:solidFill>
                      <a:srgbClr val="F5F7FA"/>
                    </a:solidFill>
                  </a:tcPr>
                </a:tc>
                <a:tc>
                  <a:txBody>
                    <a:bodyPr/>
                    <a:lstStyle/>
                    <a:p>
                      <a:pPr algn="ctr">
                        <a:defRPr sz="1100" b="0">
                          <a:solidFill>
                            <a:srgbClr val="1C1C1C"/>
                          </a:solidFill>
                          <a:latin typeface="Arial"/>
                        </a:defRPr>
                      </a:pPr>
                      <a:r>
                        <a:t>≥ 1 Core bất kỳ</a:t>
                      </a:r>
                    </a:p>
                  </a:txBody>
                  <a:tcPr>
                    <a:solidFill>
                      <a:srgbClr val="F5F7FA"/>
                    </a:solidFill>
                  </a:tcPr>
                </a:tc>
                <a:tc>
                  <a:txBody>
                    <a:bodyPr/>
                    <a:lstStyle/>
                    <a:p>
                      <a:pPr algn="ctr">
                        <a:defRPr sz="1100" b="0">
                          <a:solidFill>
                            <a:srgbClr val="1C1C1C"/>
                          </a:solidFill>
                          <a:latin typeface="Arial"/>
                        </a:defRPr>
                      </a:pPr>
                      <a:r>
                        <a:t>≥ 1 Core (Time-slicing)</a:t>
                      </a:r>
                    </a:p>
                  </a:txBody>
                  <a:tcPr>
                    <a:solidFill>
                      <a:srgbClr val="F5F7FA"/>
                    </a:solidFill>
                  </a:tcPr>
                </a:tc>
                <a:tc>
                  <a:txBody>
                    <a:bodyPr/>
                    <a:lstStyle/>
                    <a:p>
                      <a:pPr algn="ctr">
                        <a:defRPr sz="1100" b="0">
                          <a:solidFill>
                            <a:srgbClr val="1C1C1C"/>
                          </a:solidFill>
                          <a:latin typeface="Arial"/>
                        </a:defRPr>
                      </a:pPr>
                      <a:r>
                        <a:t>Đa nhân (Multi-core &gt; 1)</a:t>
                      </a:r>
                    </a:p>
                  </a:txBody>
                  <a:tcPr>
                    <a:solidFill>
                      <a:srgbClr val="F5F7FA"/>
                    </a:solidFill>
                  </a:tcPr>
                </a:tc>
                <a:tc>
                  <a:txBody>
                    <a:bodyPr/>
                    <a:lstStyle/>
                    <a:p>
                      <a:pPr algn="ctr">
                        <a:defRPr sz="1100" b="0">
                          <a:solidFill>
                            <a:srgbClr val="1C1C1C"/>
                          </a:solidFill>
                          <a:latin typeface="Arial"/>
                        </a:defRPr>
                      </a:pPr>
                      <a:r>
                        <a:t>≥ 1 Core (Single-thread)</a:t>
                      </a:r>
                    </a:p>
                  </a:txBody>
                  <a:tcPr>
                    <a:solidFill>
                      <a:srgbClr val="F5F7FA"/>
                    </a:solidFill>
                  </a:tcPr>
                </a:tc>
              </a:tr>
              <a:tr h="786384">
                <a:tc>
                  <a:txBody>
                    <a:bodyPr/>
                    <a:lstStyle/>
                    <a:p>
                      <a:pPr algn="l">
                        <a:defRPr sz="1100" b="1">
                          <a:solidFill>
                            <a:srgbClr val="1C1C1C"/>
                          </a:solidFill>
                          <a:latin typeface="Arial"/>
                        </a:defRPr>
                      </a:pPr>
                      <a:r>
                        <a:t>Khi gặp I/O chờ</a:t>
                      </a:r>
                    </a:p>
                  </a:txBody>
                  <a:tcPr>
                    <a:solidFill>
                      <a:srgbClr val="FFFFFF"/>
                    </a:solidFill>
                  </a:tcPr>
                </a:tc>
                <a:tc>
                  <a:txBody>
                    <a:bodyPr/>
                    <a:lstStyle/>
                    <a:p>
                      <a:pPr algn="ctr">
                        <a:defRPr sz="1100" b="0">
                          <a:solidFill>
                            <a:srgbClr val="1C1C1C"/>
                          </a:solidFill>
                          <a:latin typeface="Arial"/>
                        </a:defRPr>
                      </a:pPr>
                      <a:r>
                        <a:t>Nghẽn hoàn toàn (Block)</a:t>
                      </a:r>
                    </a:p>
                  </a:txBody>
                  <a:tcPr>
                    <a:solidFill>
                      <a:srgbClr val="FFFFFF"/>
                    </a:solidFill>
                  </a:tcPr>
                </a:tc>
                <a:tc>
                  <a:txBody>
                    <a:bodyPr/>
                    <a:lstStyle/>
                    <a:p>
                      <a:pPr algn="ctr">
                        <a:defRPr sz="1100" b="0">
                          <a:solidFill>
                            <a:srgbClr val="1C1C1C"/>
                          </a:solidFill>
                          <a:latin typeface="Arial"/>
                        </a:defRPr>
                      </a:pPr>
                      <a:r>
                        <a:t>HĐH chuyển ngữ cảnh</a:t>
                      </a:r>
                    </a:p>
                  </a:txBody>
                  <a:tcPr>
                    <a:solidFill>
                      <a:srgbClr val="FFFFFF"/>
                    </a:solidFill>
                  </a:tcPr>
                </a:tc>
                <a:tc>
                  <a:txBody>
                    <a:bodyPr/>
                    <a:lstStyle/>
                    <a:p>
                      <a:pPr algn="ctr">
                        <a:defRPr sz="1100" b="0">
                          <a:solidFill>
                            <a:srgbClr val="1C1C1C"/>
                          </a:solidFill>
                          <a:latin typeface="Arial"/>
                        </a:defRPr>
                      </a:pPr>
                      <a:r>
                        <a:t>Core khác vẫn chạy</a:t>
                      </a:r>
                    </a:p>
                  </a:txBody>
                  <a:tcPr>
                    <a:solidFill>
                      <a:srgbClr val="FFFFFF"/>
                    </a:solidFill>
                  </a:tcPr>
                </a:tc>
                <a:tc>
                  <a:txBody>
                    <a:bodyPr/>
                    <a:lstStyle/>
                    <a:p>
                      <a:pPr algn="ctr">
                        <a:defRPr sz="1100" b="0">
                          <a:solidFill>
                            <a:srgbClr val="1C1C1C"/>
                          </a:solidFill>
                          <a:latin typeface="Arial"/>
                        </a:defRPr>
                      </a:pPr>
                      <a:r>
                        <a:t>Tạm nhường quyền (Yield)</a:t>
                      </a:r>
                    </a:p>
                  </a:txBody>
                  <a:tcPr>
                    <a:solidFill>
                      <a:srgbClr val="FFFFFF"/>
                    </a:solidFill>
                  </a:tcPr>
                </a:tc>
              </a:tr>
              <a:tr h="786384">
                <a:tc>
                  <a:txBody>
                    <a:bodyPr/>
                    <a:lstStyle/>
                    <a:p>
                      <a:pPr algn="l">
                        <a:defRPr sz="1100" b="1">
                          <a:solidFill>
                            <a:srgbClr val="1C1C1C"/>
                          </a:solidFill>
                          <a:latin typeface="Arial"/>
                        </a:defRPr>
                      </a:pPr>
                      <a:r>
                        <a:t>Phù hợp bài toán</a:t>
                      </a:r>
                    </a:p>
                  </a:txBody>
                  <a:tcPr>
                    <a:solidFill>
                      <a:srgbClr val="F5F7FA"/>
                    </a:solidFill>
                  </a:tcPr>
                </a:tc>
                <a:tc>
                  <a:txBody>
                    <a:bodyPr/>
                    <a:lstStyle/>
                    <a:p>
                      <a:pPr algn="ctr">
                        <a:defRPr sz="1100" b="0">
                          <a:solidFill>
                            <a:srgbClr val="1C1C1C"/>
                          </a:solidFill>
                          <a:latin typeface="Arial"/>
                        </a:defRPr>
                      </a:pPr>
                      <a:r>
                        <a:t>Tuần tự, đơn giản</a:t>
                      </a:r>
                    </a:p>
                  </a:txBody>
                  <a:tcPr>
                    <a:solidFill>
                      <a:srgbClr val="F5F7FA"/>
                    </a:solidFill>
                  </a:tcPr>
                </a:tc>
                <a:tc>
                  <a:txBody>
                    <a:bodyPr/>
                    <a:lstStyle/>
                    <a:p>
                      <a:pPr algn="ctr">
                        <a:defRPr sz="1100" b="0">
                          <a:solidFill>
                            <a:srgbClr val="1C1C1C"/>
                          </a:solidFill>
                          <a:latin typeface="Arial"/>
                        </a:defRPr>
                      </a:pPr>
                      <a:r>
                        <a:t>I/O blocking đa luồng</a:t>
                      </a:r>
                    </a:p>
                  </a:txBody>
                  <a:tcPr>
                    <a:solidFill>
                      <a:srgbClr val="F5F7FA"/>
                    </a:solidFill>
                  </a:tcPr>
                </a:tc>
                <a:tc>
                  <a:txBody>
                    <a:bodyPr/>
                    <a:lstStyle/>
                    <a:p>
                      <a:pPr algn="ctr">
                        <a:defRPr sz="1100" b="0">
                          <a:solidFill>
                            <a:srgbClr val="1C1C1C"/>
                          </a:solidFill>
                          <a:latin typeface="Arial"/>
                        </a:defRPr>
                      </a:pPr>
                      <a:r>
                        <a:t>CPU-bound nặng</a:t>
                      </a:r>
                    </a:p>
                  </a:txBody>
                  <a:tcPr>
                    <a:solidFill>
                      <a:srgbClr val="F5F7FA"/>
                    </a:solidFill>
                  </a:tcPr>
                </a:tc>
                <a:tc>
                  <a:txBody>
                    <a:bodyPr/>
                    <a:lstStyle/>
                    <a:p>
                      <a:pPr algn="ctr">
                        <a:defRPr sz="1100" b="0">
                          <a:solidFill>
                            <a:srgbClr val="1C1C1C"/>
                          </a:solidFill>
                          <a:latin typeface="Arial"/>
                        </a:defRPr>
                      </a:pPr>
                      <a:r>
                        <a:t>I/O-bound nhiều kết nối</a:t>
                      </a:r>
                    </a:p>
                  </a:txBody>
                  <a:tcPr>
                    <a:solidFill>
                      <a:srgbClr val="F5F7FA"/>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